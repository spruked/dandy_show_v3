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image" Target="../media/image-11-8.png"/><Relationship Id="rId9" Type="http://schemas.openxmlformats.org/officeDocument/2006/relationships/image" Target="../media/image-11-9.sv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sv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sv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sv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sv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sv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sv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sv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sv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sv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sv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490" y="205680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11561" y="462855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29200" y="720030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66471" y="308521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046690" y="977205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440061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03890" y="1697236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2761" y="2160240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778180" y="2983111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05780" y="3446115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97961" y="3754636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474690" y="4166146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52071" y="4526161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37271" y="4783336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40761" y="4989165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0361" y="617190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462980" y="2468761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92180" y="2674590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017490" y="1131540"/>
            <a:ext cx="13841" cy="13841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389090" y="3960465"/>
            <a:ext cx="7590" cy="7590"/>
          </a:xfrm>
          <a:prstGeom prst="ellipse">
            <a:avLst/>
          </a:prstGeom>
          <a:solidFill>
            <a:srgbClr val="FFFFFF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372070" y="4824859"/>
            <a:ext cx="220109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spc="112" kern="0" dirty="0">
                <a:solidFill>
                  <a:srgbClr val="9090B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DECK </a:t>
            </a:r>
            <a:pPr algn="l" indent="0" marL="0">
              <a:lnSpc>
                <a:spcPts val="930"/>
              </a:lnSpc>
              <a:buNone/>
            </a:pPr>
            <a:r>
              <a:rPr lang="en-US" sz="620" spc="112" kern="0" dirty="0">
                <a:solidFill>
                  <a:srgbClr val="9090B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algn="l" indent="0" marL="0">
              <a:lnSpc>
                <a:spcPts val="930"/>
              </a:lnSpc>
              <a:buNone/>
            </a:pPr>
            <a:r>
              <a:rPr lang="en-US" sz="620" spc="112" kern="0" dirty="0">
                <a:solidFill>
                  <a:srgbClr val="9090B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JUL 25, 2026</a:t>
            </a:r>
            <a:endParaRPr lang="en-US" sz="620" dirty="0"/>
          </a:p>
        </p:txBody>
      </p:sp>
      <p:sp>
        <p:nvSpPr>
          <p:cNvPr id="24" name="Text 21"/>
          <p:cNvSpPr/>
          <p:nvPr/>
        </p:nvSpPr>
        <p:spPr>
          <a:xfrm>
            <a:off x="4826987" y="4824859"/>
            <a:ext cx="394494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30"/>
              </a:lnSpc>
              <a:buNone/>
            </a:pPr>
            <a:r>
              <a:rPr lang="en-US" sz="620" spc="112" kern="0" dirty="0">
                <a:solidFill>
                  <a:srgbClr val="9090B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INTELLIGENCE </a:t>
            </a:r>
            <a:pPr algn="r" indent="0" marL="0">
              <a:lnSpc>
                <a:spcPts val="930"/>
              </a:lnSpc>
              <a:buNone/>
            </a:pPr>
            <a:r>
              <a:rPr lang="en-US" sz="620" spc="112" kern="0" dirty="0">
                <a:solidFill>
                  <a:srgbClr val="9090B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algn="r" indent="0" marL="0">
              <a:lnSpc>
                <a:spcPts val="930"/>
              </a:lnSpc>
              <a:buNone/>
            </a:pPr>
            <a:r>
              <a:rPr lang="en-US" sz="620" spc="112" kern="0" dirty="0">
                <a:solidFill>
                  <a:srgbClr val="9090B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KNOWLEDGE COMPILATION </a:t>
            </a:r>
            <a:pPr algn="r" indent="0" marL="0">
              <a:lnSpc>
                <a:spcPts val="930"/>
              </a:lnSpc>
              <a:buNone/>
            </a:pPr>
            <a:r>
              <a:rPr lang="en-US" sz="620" spc="112" kern="0" dirty="0">
                <a:solidFill>
                  <a:srgbClr val="9090B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algn="r" indent="0" marL="0">
              <a:lnSpc>
                <a:spcPts val="930"/>
              </a:lnSpc>
              <a:buNone/>
            </a:pPr>
            <a:r>
              <a:rPr lang="en-US" sz="620" spc="112" kern="0" dirty="0">
                <a:solidFill>
                  <a:srgbClr val="9090B8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DEPLOYMENT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7000"/>
                </a:srgbClr>
              </a:gs>
              <a:gs pos="45000">
                <a:srgbClr val="000000">
                  <a:alpha val="0"/>
                </a:srgbClr>
              </a:gs>
            </a:gsLst>
            <a:path path="circle">
              <a:fillToRect l="5000" t="90000" r="95000" b="1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5000"/>
                </a:srgbClr>
              </a:gs>
              <a:gs pos="40000">
                <a:srgbClr val="000000">
                  <a:alpha val="0"/>
                </a:srgbClr>
              </a:gs>
            </a:gsLst>
            <a:path path="circle">
              <a:fillToRect l="95000" t="10000" r="5000" b="9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35421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50000">
                <a:srgbClr val="A78BFA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0235" y="1004887"/>
            <a:ext cx="2341512" cy="21580"/>
          </a:xfrm>
          <a:custGeom>
            <a:avLst/>
            <a:gdLst/>
            <a:ahLst/>
            <a:cxnLst/>
            <a:rect l="l" t="t" r="r" b="b"/>
            <a:pathLst>
              <a:path w="2341512" h="21580">
                <a:moveTo>
                  <a:pt x="0" y="0"/>
                </a:moveTo>
                <a:lnTo>
                  <a:pt x="2341512" y="0"/>
                </a:lnTo>
                <a:lnTo>
                  <a:pt x="2341512" y="-6976872000"/>
                </a:lnTo>
                <a:lnTo>
                  <a:pt x="2341512" y="0"/>
                </a:lnTo>
                <a:lnTo>
                  <a:pt x="2340950" y="0"/>
                </a:lnTo>
                <a:lnTo>
                  <a:pt x="2339288" y="3548"/>
                </a:lnTo>
                <a:lnTo>
                  <a:pt x="2336589" y="8598"/>
                </a:lnTo>
                <a:lnTo>
                  <a:pt x="2332956" y="13025"/>
                </a:lnTo>
                <a:lnTo>
                  <a:pt x="2328530" y="16657"/>
                </a:lnTo>
                <a:lnTo>
                  <a:pt x="2323480" y="19357"/>
                </a:lnTo>
                <a:lnTo>
                  <a:pt x="2318000" y="21019"/>
                </a:lnTo>
                <a:lnTo>
                  <a:pt x="2312302" y="21580"/>
                </a:lnTo>
                <a:lnTo>
                  <a:pt x="29210" y="21580"/>
                </a:lnTo>
                <a:lnTo>
                  <a:pt x="0" y="0"/>
                </a:lnTo>
                <a:lnTo>
                  <a:pt x="561" y="0"/>
                </a:lnTo>
                <a:lnTo>
                  <a:pt x="2223" y="3548"/>
                </a:lnTo>
                <a:lnTo>
                  <a:pt x="4923" y="8598"/>
                </a:lnTo>
                <a:lnTo>
                  <a:pt x="8555" y="13025"/>
                </a:lnTo>
                <a:lnTo>
                  <a:pt x="12982" y="16657"/>
                </a:lnTo>
                <a:lnTo>
                  <a:pt x="18032" y="19357"/>
                </a:lnTo>
                <a:lnTo>
                  <a:pt x="23511" y="21019"/>
                </a:lnTo>
                <a:lnTo>
                  <a:pt x="29210" y="21580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401209" y="1004887"/>
            <a:ext cx="2341664" cy="21580"/>
          </a:xfrm>
          <a:custGeom>
            <a:avLst/>
            <a:gdLst/>
            <a:ahLst/>
            <a:cxnLst/>
            <a:rect l="l" t="t" r="r" b="b"/>
            <a:pathLst>
              <a:path w="2341664" h="21580">
                <a:moveTo>
                  <a:pt x="0" y="0"/>
                </a:moveTo>
                <a:lnTo>
                  <a:pt x="2341664" y="0"/>
                </a:lnTo>
                <a:lnTo>
                  <a:pt x="2341664" y="-6976872000"/>
                </a:lnTo>
                <a:lnTo>
                  <a:pt x="2341664" y="0"/>
                </a:lnTo>
                <a:lnTo>
                  <a:pt x="2341103" y="0"/>
                </a:lnTo>
                <a:lnTo>
                  <a:pt x="2339441" y="3548"/>
                </a:lnTo>
                <a:lnTo>
                  <a:pt x="2336741" y="8598"/>
                </a:lnTo>
                <a:lnTo>
                  <a:pt x="2333109" y="13025"/>
                </a:lnTo>
                <a:lnTo>
                  <a:pt x="2328682" y="16657"/>
                </a:lnTo>
                <a:lnTo>
                  <a:pt x="2323632" y="19357"/>
                </a:lnTo>
                <a:lnTo>
                  <a:pt x="2318153" y="21019"/>
                </a:lnTo>
                <a:lnTo>
                  <a:pt x="2312454" y="21580"/>
                </a:lnTo>
                <a:lnTo>
                  <a:pt x="29210" y="21580"/>
                </a:lnTo>
                <a:lnTo>
                  <a:pt x="0" y="0"/>
                </a:lnTo>
                <a:lnTo>
                  <a:pt x="561" y="0"/>
                </a:lnTo>
                <a:lnTo>
                  <a:pt x="2223" y="3548"/>
                </a:lnTo>
                <a:lnTo>
                  <a:pt x="4923" y="8598"/>
                </a:lnTo>
                <a:lnTo>
                  <a:pt x="8555" y="13025"/>
                </a:lnTo>
                <a:lnTo>
                  <a:pt x="12982" y="16657"/>
                </a:lnTo>
                <a:lnTo>
                  <a:pt x="18032" y="19357"/>
                </a:lnTo>
                <a:lnTo>
                  <a:pt x="23511" y="21019"/>
                </a:lnTo>
                <a:lnTo>
                  <a:pt x="29210" y="21580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2332" y="1004887"/>
            <a:ext cx="2341512" cy="21580"/>
          </a:xfrm>
          <a:custGeom>
            <a:avLst/>
            <a:gdLst/>
            <a:ahLst/>
            <a:cxnLst/>
            <a:rect l="l" t="t" r="r" b="b"/>
            <a:pathLst>
              <a:path w="2341512" h="21580">
                <a:moveTo>
                  <a:pt x="0" y="0"/>
                </a:moveTo>
                <a:lnTo>
                  <a:pt x="2341512" y="0"/>
                </a:lnTo>
                <a:lnTo>
                  <a:pt x="2341512" y="-6976872000"/>
                </a:lnTo>
                <a:lnTo>
                  <a:pt x="2341512" y="0"/>
                </a:lnTo>
                <a:lnTo>
                  <a:pt x="2340950" y="0"/>
                </a:lnTo>
                <a:lnTo>
                  <a:pt x="2339288" y="3548"/>
                </a:lnTo>
                <a:lnTo>
                  <a:pt x="2336589" y="8598"/>
                </a:lnTo>
                <a:lnTo>
                  <a:pt x="2332956" y="13025"/>
                </a:lnTo>
                <a:lnTo>
                  <a:pt x="2328530" y="16657"/>
                </a:lnTo>
                <a:lnTo>
                  <a:pt x="2323480" y="19357"/>
                </a:lnTo>
                <a:lnTo>
                  <a:pt x="2318000" y="21019"/>
                </a:lnTo>
                <a:lnTo>
                  <a:pt x="2312302" y="21580"/>
                </a:lnTo>
                <a:lnTo>
                  <a:pt x="29210" y="21580"/>
                </a:lnTo>
                <a:lnTo>
                  <a:pt x="0" y="0"/>
                </a:lnTo>
                <a:lnTo>
                  <a:pt x="561" y="0"/>
                </a:lnTo>
                <a:lnTo>
                  <a:pt x="2223" y="3548"/>
                </a:lnTo>
                <a:lnTo>
                  <a:pt x="4923" y="8598"/>
                </a:lnTo>
                <a:lnTo>
                  <a:pt x="8555" y="13025"/>
                </a:lnTo>
                <a:lnTo>
                  <a:pt x="12982" y="16657"/>
                </a:lnTo>
                <a:lnTo>
                  <a:pt x="18032" y="19357"/>
                </a:lnTo>
                <a:lnTo>
                  <a:pt x="23511" y="21019"/>
                </a:lnTo>
                <a:lnTo>
                  <a:pt x="29210" y="21580"/>
                </a:lnTo>
                <a:close/>
              </a:path>
            </a:pathLst>
          </a:custGeom>
          <a:gradFill rotWithShape="1">
            <a:gsLst>
              <a:gs pos="0">
                <a:srgbClr val="7C3AED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314920"/>
            <a:ext cx="8805672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61"/>
              </a:lnSpc>
              <a:spcAft>
                <a:spcPts val="110"/>
              </a:spcAft>
              <a:buNone/>
            </a:pPr>
            <a:r>
              <a:rPr lang="en-US" sz="2140" spc="-30" kern="0" dirty="0">
                <a:solidFill>
                  <a:srgbClr val="1A153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Agents Are Navigating Websites </a:t>
            </a:r>
            <a:pPr algn="l" indent="0" marL="0">
              <a:lnSpc>
                <a:spcPts val="2461"/>
              </a:lnSpc>
              <a:spcAft>
                <a:spcPts val="110"/>
              </a:spcAft>
              <a:buNone/>
            </a:pPr>
            <a:r>
              <a:rPr lang="en-US" sz="2140" b="1" spc="-30" kern="0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Blind.</a:t>
            </a:r>
            <a:endParaRPr lang="en-US" sz="2140" dirty="0"/>
          </a:p>
        </p:txBody>
      </p:sp>
      <p:sp>
        <p:nvSpPr>
          <p:cNvPr id="9" name="Text 7"/>
          <p:cNvSpPr/>
          <p:nvPr/>
        </p:nvSpPr>
        <p:spPr>
          <a:xfrm>
            <a:off x="457200" y="641152"/>
            <a:ext cx="9052560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1350"/>
              </a:spcAft>
              <a:buNone/>
            </a:pPr>
            <a:r>
              <a:rPr lang="en-US" sz="960" spc="10" kern="0" dirty="0">
                <a:solidFill>
                  <a:srgbClr val="5C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was built for humans. AI agents have no native map.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457200" y="995363"/>
            <a:ext cx="2647504" cy="1508075"/>
          </a:xfrm>
          <a:prstGeom prst="roundRect">
            <a:avLst>
              <a:gd name="adj" fmla="val 6653"/>
            </a:avLst>
          </a:prstGeom>
          <a:solidFill>
            <a:srgbClr val="FFFFFF"/>
          </a:solidFill>
          <a:ln w="9525">
            <a:solidFill>
              <a:srgbClr val="C4B5FD"/>
            </a:solidFill>
          </a:ln>
          <a:effectLst>
            <a:outerShdw sx="100000" sy="100000" kx="0" ky="0" algn="bl" rotWithShape="0" blurRad="128270" dist="13970" dir="5400000">
              <a:srgbClr val="7c3aed">
                <a:alpha val="7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4185" y="1176338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EDE9F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913" y="1287066"/>
            <a:ext cx="150465" cy="15046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24185" y="1648718"/>
            <a:ext cx="2544887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spcAft>
                <a:spcPts val="450"/>
              </a:spcAft>
              <a:buNone/>
            </a:pPr>
            <a:r>
              <a:rPr lang="en-US" sz="960" b="1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Structural Intelligence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624185" y="1852017"/>
            <a:ext cx="2359804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5C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have no pre-compiled knowledge of site routes, elements, controls, or workflows. Every session starts from zero.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3248174" y="995363"/>
            <a:ext cx="2647652" cy="1508075"/>
          </a:xfrm>
          <a:prstGeom prst="roundRect">
            <a:avLst>
              <a:gd name="adj" fmla="val 6653"/>
            </a:avLst>
          </a:prstGeom>
          <a:solidFill>
            <a:srgbClr val="FFFFFF"/>
          </a:solidFill>
          <a:ln w="9525">
            <a:solidFill>
              <a:srgbClr val="C4B5FD"/>
            </a:solidFill>
          </a:ln>
          <a:effectLst>
            <a:outerShdw sx="100000" sy="100000" kx="0" ky="0" algn="bl" rotWithShape="0" blurRad="128270" dist="13970" dir="5400000">
              <a:srgbClr val="7c3aed">
                <a:alpha val="7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415159" y="1176338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EDE9F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5887" y="1287066"/>
            <a:ext cx="150465" cy="15046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15159" y="1648718"/>
            <a:ext cx="2545050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spcAft>
                <a:spcPts val="450"/>
              </a:spcAft>
              <a:buNone/>
            </a:pPr>
            <a:r>
              <a:rPr lang="en-US" sz="960" b="1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Zero Interaction Precision</a:t>
            </a:r>
            <a:endParaRPr lang="en-US" sz="960" dirty="0"/>
          </a:p>
        </p:txBody>
      </p:sp>
      <p:sp>
        <p:nvSpPr>
          <p:cNvPr id="19" name="Text 15"/>
          <p:cNvSpPr/>
          <p:nvPr/>
        </p:nvSpPr>
        <p:spPr>
          <a:xfrm>
            <a:off x="3415159" y="1852017"/>
            <a:ext cx="2359956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5C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pointer map, AI guesses at buttons, forms, and CTAs — causing failures, retries, and costly errors.</a:t>
            </a:r>
            <a:endParaRPr lang="en-US" sz="820" dirty="0"/>
          </a:p>
        </p:txBody>
      </p:sp>
      <p:sp>
        <p:nvSpPr>
          <p:cNvPr id="20" name="Text 16"/>
          <p:cNvSpPr/>
          <p:nvPr/>
        </p:nvSpPr>
        <p:spPr>
          <a:xfrm>
            <a:off x="6039296" y="995363"/>
            <a:ext cx="2647504" cy="1508075"/>
          </a:xfrm>
          <a:prstGeom prst="roundRect">
            <a:avLst>
              <a:gd name="adj" fmla="val 6653"/>
            </a:avLst>
          </a:prstGeom>
          <a:solidFill>
            <a:srgbClr val="FFFFFF"/>
          </a:solidFill>
          <a:ln w="9525">
            <a:solidFill>
              <a:srgbClr val="C4B5FD"/>
            </a:solidFill>
          </a:ln>
          <a:effectLst>
            <a:outerShdw sx="100000" sy="100000" kx="0" ky="0" algn="bl" rotWithShape="0" blurRad="128270" dist="13970" dir="5400000">
              <a:srgbClr val="7c3aed">
                <a:alpha val="7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206282" y="1176338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EDE9F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7010" y="1287066"/>
            <a:ext cx="150465" cy="15046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06282" y="1648718"/>
            <a:ext cx="2544887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2"/>
              </a:lnSpc>
              <a:spcAft>
                <a:spcPts val="450"/>
              </a:spcAft>
              <a:buNone/>
            </a:pPr>
            <a:r>
              <a:rPr lang="en-US" sz="960" b="1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Perpetually Brittle</a:t>
            </a:r>
            <a:endParaRPr lang="en-US" sz="960" dirty="0"/>
          </a:p>
        </p:txBody>
      </p:sp>
      <p:sp>
        <p:nvSpPr>
          <p:cNvPr id="24" name="Text 19"/>
          <p:cNvSpPr/>
          <p:nvPr/>
        </p:nvSpPr>
        <p:spPr>
          <a:xfrm>
            <a:off x="6206282" y="1852017"/>
            <a:ext cx="2359804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5C56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coded site knowledge breaks every time a page changes, a form moves, or a workflow updates. There is no automated fix.</a:t>
            </a:r>
            <a:endParaRPr lang="en-US" sz="820" dirty="0"/>
          </a:p>
        </p:txBody>
      </p:sp>
      <p:sp>
        <p:nvSpPr>
          <p:cNvPr id="25" name="Text 20"/>
          <p:cNvSpPr/>
          <p:nvPr/>
        </p:nvSpPr>
        <p:spPr>
          <a:xfrm>
            <a:off x="457200" y="2646908"/>
            <a:ext cx="8229600" cy="501551"/>
          </a:xfrm>
          <a:prstGeom prst="roundRect">
            <a:avLst>
              <a:gd name="adj" fmla="val 17219"/>
            </a:avLst>
          </a:prstGeom>
          <a:gradFill rotWithShape="1">
            <a:gsLst>
              <a:gs pos="0">
                <a:srgbClr val="6D28D9"/>
              </a:gs>
              <a:gs pos="40000">
                <a:srgbClr val="7C3AED"/>
              </a:gs>
              <a:gs pos="100000">
                <a:srgbClr val="8B5CF6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4970" y="2768798"/>
            <a:ext cx="193328" cy="19332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100882" y="2814935"/>
            <a:ext cx="7288575" cy="1653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930" spc="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system today that compiles complete, verified, </a:t>
            </a:r>
            <a:pPr algn="l" indent="0" marL="0">
              <a:lnSpc>
                <a:spcPts val="1302"/>
              </a:lnSpc>
              <a:buNone/>
            </a:pPr>
            <a:r>
              <a:rPr lang="en-US" sz="930" b="1" spc="10" kern="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ORB-ready</a:t>
            </a:r>
            <a:pPr algn="l" indent="0" marL="0">
              <a:lnSpc>
                <a:spcPts val="1302"/>
              </a:lnSpc>
              <a:buNone/>
            </a:pPr>
            <a:r>
              <a:rPr lang="en-US" sz="930" spc="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website intelligence automatically. </a:t>
            </a:r>
            <a:pPr algn="l" indent="0" marL="0">
              <a:lnSpc>
                <a:spcPts val="1302"/>
              </a:lnSpc>
              <a:buNone/>
            </a:pPr>
            <a:r>
              <a:rPr lang="en-US" sz="930" b="1" spc="10" kern="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now.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80000" t="50000" r="2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59E0B">
                  <a:alpha val="5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20000" t="70000" r="80000" b="3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EEEFF">
                  <a:alpha val="25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90000" t="85000" r="10000" b="15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EEE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75000" t="60000" r="25000" b="4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EEE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40000" t="90000" r="60000" b="1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EEEFF">
                  <a:alpha val="18000"/>
                </a:srgbClr>
              </a:gs>
              <a:gs pos="100000">
                <a:srgbClr val="000000">
                  <a:alpha val="0"/>
                </a:srgbClr>
              </a:gs>
            </a:gsLst>
            <a:path path="circle">
              <a:fillToRect l="20000" t="45000" r="80000" b="55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95275" y="4592092"/>
            <a:ext cx="8553450" cy="413742"/>
          </a:xfrm>
          <a:prstGeom prst="roundRect">
            <a:avLst>
              <a:gd name="adj" fmla="val 10436"/>
            </a:avLst>
          </a:prstGeom>
          <a:gradFill rotWithShape="1">
            <a:gsLst>
              <a:gs pos="0">
                <a:srgbClr val="F59E0B">
                  <a:alpha val="4000"/>
                </a:srgbClr>
              </a:gs>
              <a:gs pos="40000">
                <a:srgbClr val="000000">
                  <a:alpha val="0"/>
                </a:srgbClr>
              </a:gs>
              <a:gs pos="100000">
                <a:srgbClr val="8B5CF6">
                  <a:alpha val="6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-14288" y="200620"/>
            <a:ext cx="9172575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3"/>
              </a:lnSpc>
              <a:spcAft>
                <a:spcPts val="230"/>
              </a:spcAft>
              <a:buNone/>
            </a:pPr>
            <a:r>
              <a:rPr lang="en-US" sz="2030" spc="61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Second Talkie Revolution.</a:t>
            </a:r>
            <a:endParaRPr lang="en-US" sz="2030" dirty="0"/>
          </a:p>
        </p:txBody>
      </p:sp>
      <p:sp>
        <p:nvSpPr>
          <p:cNvPr id="10" name="Text 8"/>
          <p:cNvSpPr/>
          <p:nvPr/>
        </p:nvSpPr>
        <p:spPr>
          <a:xfrm>
            <a:off x="-142875" y="513308"/>
            <a:ext cx="9429750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40"/>
              </a:lnSpc>
              <a:buNone/>
            </a:pPr>
            <a:r>
              <a:rPr lang="en-US" sz="760" i="1" spc="3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does not repeat. It rhymes. And it runs on a 33-year clock.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285750" y="758428"/>
            <a:ext cx="85725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8B5CF6"/>
              </a:gs>
              <a:gs pos="66667">
                <a:srgbClr val="F59E0B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5750" y="852339"/>
            <a:ext cx="457310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spc="84" kern="0" dirty="0">
                <a:solidFill>
                  <a:srgbClr val="F59E0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1895 → 1927  |  CINEMA FINDS ITS VOICE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85750" y="1092101"/>
            <a:ext cx="457310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62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1895 — THE LUMIÈRE BROTHERS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285750" y="1231702"/>
            <a:ext cx="4240512" cy="280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4"/>
              </a:lnSpc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silent film is projected. Cinema is born — visual, kinetic, captivating. But </a:t>
            </a:r>
            <a:pPr algn="l" indent="0" marL="0">
              <a:lnSpc>
                <a:spcPts val="1054"/>
              </a:lnSpc>
              <a:buNone/>
            </a:pP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cannot speak.</a:t>
            </a:r>
            <a:pPr algn="l" indent="0" marL="0">
              <a:lnSpc>
                <a:spcPts val="1054"/>
              </a:lnSpc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Audiences watch in wonder as images move in silence.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285750" y="1548705"/>
            <a:ext cx="4157365" cy="531007"/>
          </a:xfrm>
          <a:prstGeom prst="rect">
            <a:avLst/>
          </a:prstGeom>
          <a:noFill/>
          <a:ln/>
        </p:spPr>
        <p:txBody>
          <a:bodyPr wrap="square" lIns="0" tIns="49530" rIns="0" bIns="49530" rtlCol="0" anchor="t"/>
          <a:lstStyle/>
          <a:p>
            <a:pPr algn="l" indent="0" marL="0">
              <a:buNone/>
            </a:pPr>
            <a:r>
              <a:rPr lang="en-US" sz="620" b="1" spc="62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YEARS OF THE SILENT ERA</a:t>
            </a:r>
            <a:endParaRPr lang="en-US" sz="62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Silent film grows into a global art form. Studios build empires. Stars become icons. Storytelling matures. And yet — something profound is missing. </a:t>
            </a:r>
            <a:pPr algn="l" indent="0" marL="0">
              <a:buNone/>
            </a:pP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sees everything. It can say nothing.</a:t>
            </a:r>
            <a:pPr algn="l" indent="0" marL="0">
              <a:buNone/>
            </a:pP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285750" y="1548705"/>
            <a:ext cx="4157365" cy="9525"/>
          </a:xfrm>
          <a:prstGeom prst="rect">
            <a:avLst/>
          </a:prstGeom>
          <a:solidFill>
            <a:srgbClr val="9090B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5750" y="2064246"/>
            <a:ext cx="4157365" cy="668817"/>
          </a:xfrm>
          <a:prstGeom prst="rect">
            <a:avLst/>
          </a:prstGeom>
          <a:noFill/>
          <a:ln/>
        </p:spPr>
        <p:txBody>
          <a:bodyPr wrap="square" lIns="0" tIns="49530" rIns="0" bIns="49530" rtlCol="0" anchor="t"/>
          <a:lstStyle/>
          <a:p>
            <a:pPr algn="l" indent="0" marL="0">
              <a:buNone/>
            </a:pPr>
            <a:r>
              <a:rPr lang="en-US" sz="620" b="1" spc="62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1927 — THE JAZZ SINGER</a:t>
            </a:r>
            <a:endParaRPr lang="en-US" sz="62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Warner Bros. releases The Jazz Singer. A voice comes out of the screen. The audience goes still — then erupts. Within 36 months, silent film is commercially extinct. </a:t>
            </a:r>
            <a:pPr algn="l" indent="0" marL="0">
              <a:buNone/>
            </a:pP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30-year industry vanishes almost overnight.</a:t>
            </a:r>
            <a:pPr algn="l" indent="0" marL="0"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talkie does not improve cinema. </a:t>
            </a:r>
            <a:pPr algn="l" indent="0" marL="0">
              <a:buNone/>
            </a:pP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redefines what cinema is.</a:t>
            </a:r>
            <a:pPr algn="l" indent="0" marL="0">
              <a:buNone/>
            </a:pP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285750" y="2064246"/>
            <a:ext cx="4157365" cy="9525"/>
          </a:xfrm>
          <a:prstGeom prst="rect">
            <a:avLst/>
          </a:prstGeom>
          <a:solidFill>
            <a:srgbClr val="9090B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5750" y="2713583"/>
            <a:ext cx="4240512" cy="246013"/>
          </a:xfrm>
          <a:prstGeom prst="rect">
            <a:avLst/>
          </a:prstGeom>
          <a:noFill/>
          <a:ln/>
        </p:spPr>
        <p:txBody>
          <a:bodyPr wrap="none" lIns="0" tIns="49530" rIns="0" bIns="4953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ain't heard nothin' yet." — First words spoken in a commercial sound film, 1927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85750" y="2713583"/>
            <a:ext cx="4157365" cy="9525"/>
          </a:xfrm>
          <a:prstGeom prst="rect">
            <a:avLst/>
          </a:prstGeom>
          <a:solidFill>
            <a:srgbClr val="9090B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566940" y="852339"/>
            <a:ext cx="10120" cy="3579168"/>
          </a:xfrm>
          <a:prstGeom prst="roundRect">
            <a:avLst>
              <a:gd name="adj" fmla="val 138044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20000">
                <a:srgbClr val="F59E0B"/>
              </a:gs>
              <a:gs pos="40000">
                <a:srgbClr val="FCD34D"/>
              </a:gs>
              <a:gs pos="60000">
                <a:srgbClr val="A78BFA"/>
              </a:gs>
              <a:gs pos="80000">
                <a:srgbClr val="8B5CF6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  <a:effectLst>
            <a:outerShdw sx="100000" sy="100000" kx="0" ky="0" algn="bl" rotWithShape="0" blurRad="43180" dist="50800" dir="16200000">
              <a:srgbClr val="f59e0b">
                <a:alpha val="5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36504" y="2606353"/>
            <a:ext cx="70991" cy="70991"/>
          </a:xfrm>
          <a:prstGeom prst="ellipse">
            <a:avLst/>
          </a:prstGeom>
          <a:gradFill rotWithShape="1">
            <a:gsLst>
              <a:gs pos="0">
                <a:srgbClr val="F59E0B"/>
              </a:gs>
              <a:gs pos="100000">
                <a:srgbClr val="8B5CF6"/>
              </a:gs>
            </a:gsLst>
            <a:lin ang="2700000" scaled="1"/>
          </a:gradFill>
          <a:ln/>
          <a:effectLst>
            <a:outerShdw sx="100000" sy="100000" kx="0" ky="0" algn="bl" rotWithShape="0" blurRad="71120" dist="50800" dir="16200000">
              <a:srgbClr val="f59e0b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00885" y="852339"/>
            <a:ext cx="4573101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spc="84" kern="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1993 → 2026  |  THE WEB FINDS ITS INTELLIGENCE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700885" y="1092101"/>
            <a:ext cx="457310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62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 — THE FIRST GRAPHICAL WEB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4700885" y="1231702"/>
            <a:ext cx="4240512" cy="280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4"/>
              </a:lnSpc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launches. The web is born — informational, hyperlinked, navigable. But pages cannot understand you. They cannot respond. They cannot guide. </a:t>
            </a:r>
            <a:pPr algn="l" indent="0" marL="0">
              <a:lnSpc>
                <a:spcPts val="1054"/>
              </a:lnSpc>
              <a:buNone/>
            </a:pP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web, like early cinema, is silent.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4700885" y="1548705"/>
            <a:ext cx="4157365" cy="668817"/>
          </a:xfrm>
          <a:prstGeom prst="rect">
            <a:avLst/>
          </a:prstGeom>
          <a:noFill/>
          <a:ln/>
        </p:spPr>
        <p:txBody>
          <a:bodyPr wrap="square" lIns="0" tIns="49530" rIns="0" bIns="49530" rtlCol="0" anchor="t"/>
          <a:lstStyle/>
          <a:p>
            <a:pPr algn="l" indent="0" marL="0">
              <a:buNone/>
            </a:pPr>
            <a:r>
              <a:rPr lang="en-US" sz="620" b="1" spc="62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YEARS OF THE SILENT WEB</a:t>
            </a:r>
            <a:endParaRPr lang="en-US" sz="62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web becomes civilization's infrastructure. Billions of pages. Trillions of links. Entire economies built upon it. And yet — a website in 2010 still cannot hold a conversation. It presents. It waits. </a:t>
            </a:r>
            <a:pPr algn="l" indent="0" marL="0">
              <a:buNone/>
            </a:pP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web has no voice.</a:t>
            </a:r>
            <a:pPr algn="l" indent="0" marL="0">
              <a:buNone/>
            </a:pPr>
            <a:endParaRPr lang="en-US" sz="620" dirty="0"/>
          </a:p>
        </p:txBody>
      </p:sp>
      <p:sp>
        <p:nvSpPr>
          <p:cNvPr id="27" name="Text 25"/>
          <p:cNvSpPr/>
          <p:nvPr/>
        </p:nvSpPr>
        <p:spPr>
          <a:xfrm>
            <a:off x="4700885" y="1548705"/>
            <a:ext cx="4157365" cy="9525"/>
          </a:xfrm>
          <a:prstGeom prst="rect">
            <a:avLst/>
          </a:prstGeom>
          <a:solidFill>
            <a:srgbClr val="9090B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00885" y="2198043"/>
            <a:ext cx="4157365" cy="668817"/>
          </a:xfrm>
          <a:prstGeom prst="rect">
            <a:avLst/>
          </a:prstGeom>
          <a:noFill/>
          <a:ln/>
        </p:spPr>
        <p:txBody>
          <a:bodyPr wrap="square" lIns="0" tIns="49530" rIns="0" bIns="49530" rtlCol="0" anchor="t"/>
          <a:lstStyle/>
          <a:p>
            <a:pPr algn="l" indent="0" marL="0">
              <a:buNone/>
            </a:pPr>
            <a:r>
              <a:rPr lang="en-US" sz="620" b="1" spc="62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— ORB WEAVER ARRIVES</a:t>
            </a:r>
            <a:endParaRPr lang="en-US" sz="620" dirty="0"/>
          </a:p>
          <a:p>
            <a:pPr algn="l" indent="0" marL="0"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first time, a website can be fully mapped, understood, and intelligently navigated by an AI that knows every route, every control, every workflow. </a:t>
            </a:r>
            <a:pPr algn="l" indent="0" marL="0">
              <a:buNone/>
            </a:pP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does not just display — it communicates. It responds. It guides.</a:t>
            </a:r>
            <a:pPr algn="l" indent="0" marL="0"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silent web ends. </a:t>
            </a:r>
            <a:pPr algn="l" indent="0" marL="0">
              <a:buNone/>
            </a:pPr>
            <a:r>
              <a:rPr lang="en-US" sz="68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web begins.</a:t>
            </a:r>
            <a:pPr algn="l" indent="0" marL="0">
              <a:buNone/>
            </a:pPr>
            <a:endParaRPr lang="en-US" sz="620" dirty="0"/>
          </a:p>
        </p:txBody>
      </p:sp>
      <p:sp>
        <p:nvSpPr>
          <p:cNvPr id="29" name="Text 27"/>
          <p:cNvSpPr/>
          <p:nvPr/>
        </p:nvSpPr>
        <p:spPr>
          <a:xfrm>
            <a:off x="4700885" y="2198043"/>
            <a:ext cx="4157365" cy="9525"/>
          </a:xfrm>
          <a:prstGeom prst="rect">
            <a:avLst/>
          </a:prstGeom>
          <a:solidFill>
            <a:srgbClr val="9090B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00885" y="2847380"/>
            <a:ext cx="4240512" cy="246013"/>
          </a:xfrm>
          <a:prstGeom prst="rect">
            <a:avLst/>
          </a:prstGeom>
          <a:noFill/>
          <a:ln/>
        </p:spPr>
        <p:txBody>
          <a:bodyPr wrap="none" lIns="0" tIns="49530" rIns="0" bIns="4953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talkie is not audio. It is agency. It is intent. It is the web that finally understands you.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700885" y="2847380"/>
            <a:ext cx="4157365" cy="9525"/>
          </a:xfrm>
          <a:prstGeom prst="rect">
            <a:avLst/>
          </a:prstGeom>
          <a:solidFill>
            <a:srgbClr val="9090B8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85750" y="4517827"/>
            <a:ext cx="8572500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85750" y="4582567"/>
            <a:ext cx="8572500" cy="445776"/>
          </a:xfrm>
          <a:prstGeom prst="roundRect">
            <a:avLst>
              <a:gd name="adj" fmla="val 9686"/>
            </a:avLst>
          </a:prstGeom>
          <a:gradFill rotWithShape="1">
            <a:gsLst>
              <a:gs pos="0">
                <a:srgbClr val="8B5CF6">
                  <a:alpha val="10000"/>
                </a:srgbClr>
              </a:gs>
              <a:gs pos="50000">
                <a:srgbClr val="13132B">
                  <a:alpha val="80000"/>
                </a:srgbClr>
              </a:gs>
              <a:gs pos="100000">
                <a:srgbClr val="8B5CF6">
                  <a:alpha val="7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</p:spPr>
        <p:txBody>
          <a:bodyPr wrap="none" lIns="143510" tIns="64770" rIns="143510" bIns="6477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1895 → 1927 = 32 years.</a:t>
            </a:r>
            <a:pPr algn="ctr" indent="0" marL="0"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ctr" indent="0" marL="0">
              <a:buNone/>
            </a:pPr>
            <a:r>
              <a:rPr lang="en-US" sz="7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1993 → 2026 = 33 years.</a:t>
            </a:r>
            <a:pPr algn="ctr" indent="0" marL="0"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generational arc. The same category-defining rupture. The same overnight extinction of what came before.</a:t>
            </a:r>
            <a:pPr algn="ctr" indent="0" marL="0"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/>
            <a:pPr algn="ctr" indent="0" marL="0"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ctr" indent="0" marL="0">
              <a:buNone/>
            </a:pPr>
            <a:r>
              <a:rPr lang="en-US" sz="70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is not a feature. It is the moment the web learns to speak.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562475" y="4582567"/>
            <a:ext cx="4295775" cy="7590"/>
          </a:xfrm>
          <a:custGeom>
            <a:avLst/>
            <a:gdLst/>
            <a:ahLst/>
            <a:cxnLst/>
            <a:rect l="l" t="t" r="r" b="b"/>
            <a:pathLst>
              <a:path w="4295775" h="7590">
                <a:moveTo>
                  <a:pt x="0" y="0"/>
                </a:moveTo>
                <a:lnTo>
                  <a:pt x="0" y="7590"/>
                </a:lnTo>
                <a:lnTo>
                  <a:pt x="4295775" y="7590"/>
                </a:lnTo>
                <a:lnTo>
                  <a:pt x="4276585" y="7277"/>
                </a:lnTo>
                <a:lnTo>
                  <a:pt x="4269119" y="3287"/>
                </a:lnTo>
                <a:lnTo>
                  <a:pt x="4261019" y="830"/>
                </a:lnTo>
                <a:lnTo>
                  <a:pt x="4252595" y="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857250"/>
            <a:ext cx="2857500" cy="3429000"/>
          </a:xfrm>
          <a:prstGeom prst="ellipse">
            <a:avLst/>
          </a:prstGeom>
          <a:gradFill rotWithShape="1">
            <a:gsLst>
              <a:gs pos="0">
                <a:srgbClr val="8B5CF6">
                  <a:alpha val="1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286500" y="3286720"/>
            <a:ext cx="2286000" cy="1856780"/>
          </a:xfrm>
          <a:prstGeom prst="ellipse">
            <a:avLst/>
          </a:prstGeom>
          <a:gradFill rotWithShape="1">
            <a:gsLst>
              <a:gs pos="0">
                <a:srgbClr val="8B5CF6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8B5CF6">
                  <a:alpha val="70000"/>
                </a:srgbClr>
              </a:gs>
              <a:gs pos="60000">
                <a:srgbClr val="C4B5FD">
                  <a:alpha val="70000"/>
                </a:srgbClr>
              </a:gs>
              <a:gs pos="80000">
                <a:srgbClr val="8B5CF6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4771430"/>
            <a:ext cx="9144000" cy="372070"/>
          </a:xfrm>
          <a:prstGeom prst="rect">
            <a:avLst/>
          </a:prstGeom>
          <a:gradFill rotWithShape="1">
            <a:gsLst>
              <a:gs pos="0">
                <a:srgbClr val="8B5CF6">
                  <a:alpha val="18000"/>
                </a:srgbClr>
              </a:gs>
              <a:gs pos="50000">
                <a:srgbClr val="8B5CF6">
                  <a:alpha val="10000"/>
                </a:srgbClr>
              </a:gs>
              <a:gs pos="100000">
                <a:srgbClr val="8B5CF6">
                  <a:alpha val="18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4771430"/>
            <a:ext cx="9144000" cy="9525"/>
          </a:xfrm>
          <a:prstGeom prst="rect">
            <a:avLst/>
          </a:prstGeom>
          <a:solidFill>
            <a:srgbClr val="8B5CF6">
              <a:alpha val="28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91085" y="4940647"/>
            <a:ext cx="43160" cy="4316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1124" y="4895933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20591" y="4876502"/>
            <a:ext cx="385293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D8D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blank website to fully ORB-ready in a single scan run.</a:t>
            </a:r>
            <a:endParaRPr lang="en-US" sz="9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alphaModFix amt="8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139" y="4895933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09606" y="4940647"/>
            <a:ext cx="43160" cy="4316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09575" y="1190476"/>
            <a:ext cx="2514152" cy="2269179"/>
          </a:xfrm>
          <a:prstGeom prst="roundRect">
            <a:avLst>
              <a:gd name="adj" fmla="val 5653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231654" y="1350318"/>
            <a:ext cx="66675" cy="762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3314849" y="1190476"/>
            <a:ext cx="2514305" cy="2269179"/>
          </a:xfrm>
          <a:prstGeom prst="roundRect">
            <a:avLst>
              <a:gd name="adj" fmla="val 5653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6137077" y="1350318"/>
            <a:ext cx="66675" cy="762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6220271" y="1190476"/>
            <a:ext cx="2514152" cy="2113807"/>
          </a:xfrm>
          <a:prstGeom prst="roundRect">
            <a:avLst>
              <a:gd name="adj" fmla="val 6068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00050" y="412998"/>
            <a:ext cx="29170" cy="257770"/>
          </a:xfrm>
          <a:prstGeom prst="roundRect">
            <a:avLst>
              <a:gd name="adj" fmla="val 47892"/>
            </a:avLst>
          </a:prstGeom>
          <a:solidFill>
            <a:srgbClr val="8B5CF6"/>
          </a:solidFill>
          <a:ln/>
          <a:effectLst>
            <a:outerShdw sx="100000" sy="100000" kx="0" ky="0" algn="bl" rotWithShape="0" blurRad="86360" dist="50800" dir="16200000">
              <a:srgbClr val="8b5cf6">
                <a:alpha val="5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515541" y="314920"/>
            <a:ext cx="349473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24" kern="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ORB WEAVER WORKS</a:t>
            </a:r>
            <a:endParaRPr lang="en-US" sz="620" dirty="0"/>
          </a:p>
        </p:txBody>
      </p:sp>
      <p:sp>
        <p:nvSpPr>
          <p:cNvPr id="21" name="Text 17"/>
          <p:cNvSpPr/>
          <p:nvPr/>
        </p:nvSpPr>
        <p:spPr>
          <a:xfrm>
            <a:off x="515541" y="454521"/>
            <a:ext cx="3399426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250" spc="45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Scan.</a:t>
            </a:r>
            <a:pPr algn="l" indent="0" marL="0">
              <a:lnSpc>
                <a:spcPts val="2475"/>
              </a:lnSpc>
              <a:buNone/>
            </a:pPr>
            <a:r>
              <a:rPr lang="en-US" sz="2250" spc="45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pPr algn="l" indent="0" marL="0">
              <a:lnSpc>
                <a:spcPts val="2475"/>
              </a:lnSpc>
              <a:buNone/>
            </a:pPr>
            <a:r>
              <a:rPr lang="en-US" sz="2250" spc="45" kern="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Compile.</a:t>
            </a:r>
            <a:pPr algn="l" indent="0" marL="0">
              <a:lnSpc>
                <a:spcPts val="2475"/>
              </a:lnSpc>
              <a:buNone/>
            </a:pPr>
            <a:r>
              <a:rPr lang="en-US" sz="2250" spc="45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pPr algn="l" indent="0" marL="0">
              <a:lnSpc>
                <a:spcPts val="2475"/>
              </a:lnSpc>
              <a:buNone/>
            </a:pPr>
            <a:r>
              <a:rPr lang="en-US" sz="2250" spc="45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Deploy.</a:t>
            </a:r>
            <a:endParaRPr lang="en-US" sz="2250" dirty="0"/>
          </a:p>
        </p:txBody>
      </p:sp>
      <p:sp>
        <p:nvSpPr>
          <p:cNvPr id="22" name="Text 18"/>
          <p:cNvSpPr/>
          <p:nvPr/>
        </p:nvSpPr>
        <p:spPr>
          <a:xfrm>
            <a:off x="772120" y="825847"/>
            <a:ext cx="8769013" cy="154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7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stages. One complete Site Intelligence package, ready for any ORB-powered AI agent.</a:t>
            </a:r>
            <a:endParaRPr lang="en-US" sz="870" dirty="0"/>
          </a:p>
        </p:txBody>
      </p:sp>
      <p:sp>
        <p:nvSpPr>
          <p:cNvPr id="23" name="Text 19"/>
          <p:cNvSpPr/>
          <p:nvPr/>
        </p:nvSpPr>
        <p:spPr>
          <a:xfrm>
            <a:off x="400050" y="1180951"/>
            <a:ext cx="2533204" cy="2288232"/>
          </a:xfrm>
          <a:prstGeom prst="roundRect">
            <a:avLst>
              <a:gd name="adj" fmla="val 5606"/>
            </a:avLst>
          </a:prstGeom>
          <a:solidFill>
            <a:srgbClr val="13132B"/>
          </a:solidFill>
          <a:ln w="9525">
            <a:solidFill>
              <a:srgbClr val="8B5CF6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94866" y="1090166"/>
            <a:ext cx="602665" cy="176361"/>
          </a:xfrm>
          <a:prstGeom prst="roundRect">
            <a:avLst>
              <a:gd name="adj" fmla="val 81373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14300" dist="50800" dir="16200000">
              <a:srgbClr val="8b5cf6">
                <a:alpha val="55000"/>
              </a:srgbClr>
            </a:outerShdw>
          </a:effectLst>
        </p:spPr>
        <p:txBody>
          <a:bodyPr wrap="none" lIns="100330" tIns="29210" rIns="100330" bIns="29210" rtlCol="0" anchor="t"/>
          <a:lstStyle/>
          <a:p>
            <a:pPr algn="l" indent="0" marL="0">
              <a:buNone/>
            </a:pPr>
            <a:r>
              <a:rPr lang="en-US" sz="620" b="1" spc="87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01</a:t>
            </a:r>
            <a:endParaRPr lang="en-US" sz="620" dirty="0"/>
          </a:p>
        </p:txBody>
      </p:sp>
      <p:sp>
        <p:nvSpPr>
          <p:cNvPr id="25" name="Text 21"/>
          <p:cNvSpPr/>
          <p:nvPr/>
        </p:nvSpPr>
        <p:spPr>
          <a:xfrm>
            <a:off x="594866" y="1391096"/>
            <a:ext cx="413891" cy="413891"/>
          </a:xfrm>
          <a:prstGeom prst="roundRect">
            <a:avLst>
              <a:gd name="adj" fmla="val 27616"/>
            </a:avLst>
          </a:prstGeom>
          <a:solidFill>
            <a:srgbClr val="8B5CF6">
              <a:alpha val="18000"/>
            </a:srgbClr>
          </a:solidFill>
          <a:ln w="9525">
            <a:solidFill>
              <a:srgbClr val="8B5CF6">
                <a:alpha val="35000"/>
              </a:srgbClr>
            </a:solidFill>
          </a:ln>
          <a:effectLst>
            <a:outerShdw sx="100000" sy="100000" kx="0" ky="0" algn="bl" rotWithShape="0" blurRad="143510" dist="50800" dir="16200000">
              <a:srgbClr val="8b5cf6">
                <a:alpha val="1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1370" y="1517600"/>
            <a:ext cx="160883" cy="16088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94866" y="1905298"/>
            <a:ext cx="2357929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b="1" spc="99" kern="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SCAN</a:t>
            </a:r>
            <a:endParaRPr lang="en-US" sz="1240" dirty="0"/>
          </a:p>
        </p:txBody>
      </p:sp>
      <p:sp>
        <p:nvSpPr>
          <p:cNvPr id="28" name="Text 23"/>
          <p:cNvSpPr/>
          <p:nvPr/>
        </p:nvSpPr>
        <p:spPr>
          <a:xfrm>
            <a:off x="594866" y="2241798"/>
            <a:ext cx="2186443" cy="97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dispatches </a:t>
            </a:r>
            <a:pPr algn="l" indent="0" marL="0">
              <a:lnSpc>
                <a:spcPts val="1225"/>
              </a:lnSpc>
              <a:buNone/>
            </a:pPr>
            <a:r>
              <a:rPr lang="en-US" sz="79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220+ scan types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every layer of a target website — structure, navigation, UI elements, accessibility, content, flows, brand, schema, and more. Nothing is left undiscovered. Every control, route, pointer target, and workflow is mapped.</a:t>
            </a:r>
            <a:endParaRPr lang="en-US" sz="790" dirty="0"/>
          </a:p>
        </p:txBody>
      </p:sp>
      <p:sp>
        <p:nvSpPr>
          <p:cNvPr id="29" name="Text 24"/>
          <p:cNvSpPr/>
          <p:nvPr/>
        </p:nvSpPr>
        <p:spPr>
          <a:xfrm>
            <a:off x="594866" y="3274368"/>
            <a:ext cx="2143571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8B5CF6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3090714" y="1324421"/>
            <a:ext cx="57150" cy="5715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1120" dist="50800" dir="16200000">
              <a:srgbClr val="8b5cf6">
                <a:alpha val="5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2947839" y="1381571"/>
            <a:ext cx="342900" cy="13841"/>
          </a:xfrm>
          <a:prstGeom prst="rect">
            <a:avLst/>
          </a:prstGeom>
          <a:gradFill rotWithShape="1">
            <a:gsLst>
              <a:gs pos="0">
                <a:srgbClr val="8B5CF6">
                  <a:alpha val="30000"/>
                </a:srgbClr>
              </a:gs>
              <a:gs pos="50000">
                <a:srgbClr val="8B5CF6"/>
              </a:gs>
              <a:gs pos="100000">
                <a:srgbClr val="8B5CF6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3090714" y="1395413"/>
            <a:ext cx="57150" cy="5715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1120" dist="50800" dir="16200000">
              <a:srgbClr val="8b5cf6">
                <a:alpha val="5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3305324" y="1180951"/>
            <a:ext cx="2533352" cy="2288232"/>
          </a:xfrm>
          <a:prstGeom prst="roundRect">
            <a:avLst>
              <a:gd name="adj" fmla="val 5606"/>
            </a:avLst>
          </a:prstGeom>
          <a:solidFill>
            <a:srgbClr val="13132B"/>
          </a:solidFill>
          <a:ln w="9525">
            <a:solidFill>
              <a:srgbClr val="8B5CF6">
                <a:alpha val="36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500140" y="1090166"/>
            <a:ext cx="602665" cy="176361"/>
          </a:xfrm>
          <a:prstGeom prst="roundRect">
            <a:avLst>
              <a:gd name="adj" fmla="val 81373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14300" dist="50800" dir="16200000">
              <a:srgbClr val="8b5cf6">
                <a:alpha val="55000"/>
              </a:srgbClr>
            </a:outerShdw>
          </a:effectLst>
        </p:spPr>
        <p:txBody>
          <a:bodyPr wrap="none" lIns="100330" tIns="29210" rIns="100330" bIns="29210" rtlCol="0" anchor="t"/>
          <a:lstStyle/>
          <a:p>
            <a:pPr algn="l" indent="0" marL="0">
              <a:buNone/>
            </a:pPr>
            <a:r>
              <a:rPr lang="en-US" sz="620" b="1" spc="87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02</a:t>
            </a:r>
            <a:endParaRPr lang="en-US" sz="620" dirty="0"/>
          </a:p>
        </p:txBody>
      </p:sp>
      <p:sp>
        <p:nvSpPr>
          <p:cNvPr id="35" name="Text 30"/>
          <p:cNvSpPr/>
          <p:nvPr/>
        </p:nvSpPr>
        <p:spPr>
          <a:xfrm>
            <a:off x="3500140" y="1391096"/>
            <a:ext cx="413891" cy="413891"/>
          </a:xfrm>
          <a:prstGeom prst="roundRect">
            <a:avLst>
              <a:gd name="adj" fmla="val 27616"/>
            </a:avLst>
          </a:prstGeom>
          <a:solidFill>
            <a:srgbClr val="8B5CF6">
              <a:alpha val="28000"/>
            </a:srgbClr>
          </a:solidFill>
          <a:ln w="9525">
            <a:solidFill>
              <a:srgbClr val="8B5CF6">
                <a:alpha val="55000"/>
              </a:srgbClr>
            </a:solidFill>
          </a:ln>
          <a:effectLst>
            <a:outerShdw sx="100000" sy="100000" kx="0" ky="0" algn="bl" rotWithShape="0" blurRad="200660" dist="50800" dir="1620000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26644" y="1517600"/>
            <a:ext cx="160883" cy="160883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500140" y="1905298"/>
            <a:ext cx="2358092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b="1" spc="99" kern="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COMPILE</a:t>
            </a:r>
            <a:endParaRPr lang="en-US" sz="1240" dirty="0"/>
          </a:p>
        </p:txBody>
      </p:sp>
      <p:sp>
        <p:nvSpPr>
          <p:cNvPr id="38" name="Text 32"/>
          <p:cNvSpPr/>
          <p:nvPr/>
        </p:nvSpPr>
        <p:spPr>
          <a:xfrm>
            <a:off x="3500140" y="2241798"/>
            <a:ext cx="2186595" cy="97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scan data is normalized, deduplicated, cross-referenced, and compiled into a </a:t>
            </a:r>
            <a:pPr algn="l" indent="0" marL="0">
              <a:lnSpc>
                <a:spcPts val="1225"/>
              </a:lnSpc>
              <a:buNone/>
            </a:pPr>
            <a:r>
              <a:rPr lang="en-US" sz="79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World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structured knowledge graph, pointer manifest, route capsule set, and workflow map. Fully versioned, timestamped, and confidence-scored.</a:t>
            </a:r>
            <a:endParaRPr lang="en-US" sz="790" dirty="0"/>
          </a:p>
        </p:txBody>
      </p:sp>
      <p:sp>
        <p:nvSpPr>
          <p:cNvPr id="39" name="Text 33"/>
          <p:cNvSpPr/>
          <p:nvPr/>
        </p:nvSpPr>
        <p:spPr>
          <a:xfrm>
            <a:off x="3500140" y="3274368"/>
            <a:ext cx="214372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8B5CF6">
                  <a:alpha val="70000"/>
                </a:srgbClr>
              </a:gs>
              <a:gs pos="50000">
                <a:srgbClr val="C4B5FD">
                  <a:alpha val="5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5996136" y="1324421"/>
            <a:ext cx="57150" cy="5715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1120" dist="50800" dir="16200000">
              <a:srgbClr val="8b5cf6">
                <a:alpha val="5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5853261" y="1381571"/>
            <a:ext cx="342900" cy="13841"/>
          </a:xfrm>
          <a:prstGeom prst="rect">
            <a:avLst/>
          </a:prstGeom>
          <a:gradFill rotWithShape="1">
            <a:gsLst>
              <a:gs pos="0">
                <a:srgbClr val="8B5CF6">
                  <a:alpha val="30000"/>
                </a:srgbClr>
              </a:gs>
              <a:gs pos="50000">
                <a:srgbClr val="8B5CF6"/>
              </a:gs>
              <a:gs pos="100000">
                <a:srgbClr val="8B5CF6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5996136" y="1395413"/>
            <a:ext cx="57150" cy="5715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71120" dist="50800" dir="16200000">
              <a:srgbClr val="8b5cf6">
                <a:alpha val="5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6210746" y="1180951"/>
            <a:ext cx="2533204" cy="2132856"/>
          </a:xfrm>
          <a:prstGeom prst="roundRect">
            <a:avLst>
              <a:gd name="adj" fmla="val 6014"/>
            </a:avLst>
          </a:prstGeom>
          <a:solidFill>
            <a:srgbClr val="13132B"/>
          </a:solidFill>
          <a:ln w="9525">
            <a:solidFill>
              <a:srgbClr val="8B5CF6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6405563" y="1090166"/>
            <a:ext cx="602665" cy="176361"/>
          </a:xfrm>
          <a:prstGeom prst="roundRect">
            <a:avLst>
              <a:gd name="adj" fmla="val 81373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14300" dist="50800" dir="16200000">
              <a:srgbClr val="8b5cf6">
                <a:alpha val="55000"/>
              </a:srgbClr>
            </a:outerShdw>
          </a:effectLst>
        </p:spPr>
        <p:txBody>
          <a:bodyPr wrap="none" lIns="100330" tIns="29210" rIns="100330" bIns="29210" rtlCol="0" anchor="t"/>
          <a:lstStyle/>
          <a:p>
            <a:pPr algn="l" indent="0" marL="0">
              <a:buNone/>
            </a:pPr>
            <a:r>
              <a:rPr lang="en-US" sz="620" b="1" spc="87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 03</a:t>
            </a:r>
            <a:endParaRPr lang="en-US" sz="620" dirty="0"/>
          </a:p>
        </p:txBody>
      </p:sp>
      <p:sp>
        <p:nvSpPr>
          <p:cNvPr id="45" name="Text 39"/>
          <p:cNvSpPr/>
          <p:nvPr/>
        </p:nvSpPr>
        <p:spPr>
          <a:xfrm>
            <a:off x="6405563" y="1391096"/>
            <a:ext cx="413891" cy="413891"/>
          </a:xfrm>
          <a:prstGeom prst="roundRect">
            <a:avLst>
              <a:gd name="adj" fmla="val 27616"/>
            </a:avLst>
          </a:prstGeom>
          <a:solidFill>
            <a:srgbClr val="8B5CF6">
              <a:alpha val="18000"/>
            </a:srgbClr>
          </a:solidFill>
          <a:ln w="9525">
            <a:solidFill>
              <a:srgbClr val="8B5CF6">
                <a:alpha val="35000"/>
              </a:srgbClr>
            </a:solidFill>
          </a:ln>
          <a:effectLst>
            <a:outerShdw sx="100000" sy="100000" kx="0" ky="0" algn="bl" rotWithShape="0" blurRad="143510" dist="50800" dir="16200000">
              <a:srgbClr val="8b5cf6">
                <a:alpha val="18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32066" y="1517600"/>
            <a:ext cx="160883" cy="160883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6405563" y="1905298"/>
            <a:ext cx="2357929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40" b="1" spc="99" kern="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DEPLOY</a:t>
            </a:r>
            <a:endParaRPr lang="en-US" sz="1240" dirty="0"/>
          </a:p>
        </p:txBody>
      </p:sp>
      <p:sp>
        <p:nvSpPr>
          <p:cNvPr id="48" name="Text 41"/>
          <p:cNvSpPr/>
          <p:nvPr/>
        </p:nvSpPr>
        <p:spPr>
          <a:xfrm>
            <a:off x="6405563" y="2241798"/>
            <a:ext cx="2186443" cy="815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compiled ORB intelligence package is delivered as a </a:t>
            </a:r>
            <a:pPr algn="l" indent="0" marL="0">
              <a:lnSpc>
                <a:spcPts val="1225"/>
              </a:lnSpc>
              <a:buNone/>
            </a:pPr>
            <a:r>
              <a:rPr lang="en-US" sz="79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deployment artifact</a:t>
            </a:r>
            <a:pPr algn="l" indent="0" marL="0">
              <a:lnSpc>
                <a:spcPts val="1225"/>
              </a:lnSpc>
              <a:buNone/>
            </a:pP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Any ORB-powered AI receives complete site knowledge instantly — no guessing, no custom coding, no integration work.</a:t>
            </a:r>
            <a:endParaRPr lang="en-US" sz="790" dirty="0"/>
          </a:p>
        </p:txBody>
      </p:sp>
      <p:sp>
        <p:nvSpPr>
          <p:cNvPr id="49" name="Text 42"/>
          <p:cNvSpPr/>
          <p:nvPr/>
        </p:nvSpPr>
        <p:spPr>
          <a:xfrm>
            <a:off x="6405563" y="3118991"/>
            <a:ext cx="2143571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8B5CF6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80818"/>
              </a:gs>
              <a:gs pos="60000">
                <a:srgbClr val="0E0A2A"/>
              </a:gs>
              <a:gs pos="100000">
                <a:srgbClr val="12082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50000">
                <a:srgbClr val="C4B5FD"/>
              </a:gs>
              <a:gs pos="100000">
                <a:srgbClr val="8B5CF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9575" y="1094184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114300" y="0"/>
                </a:moveTo>
                <a:lnTo>
                  <a:pt x="1866900" y="0"/>
                </a:lnTo>
                <a:lnTo>
                  <a:pt x="1891585" y="2698"/>
                </a:lnTo>
                <a:lnTo>
                  <a:pt x="1901601" y="5395"/>
                </a:lnTo>
                <a:lnTo>
                  <a:pt x="1909143" y="8093"/>
                </a:lnTo>
                <a:lnTo>
                  <a:pt x="1915379" y="10790"/>
                </a:lnTo>
                <a:lnTo>
                  <a:pt x="1920764" y="13488"/>
                </a:lnTo>
                <a:lnTo>
                  <a:pt x="1925534" y="16185"/>
                </a:lnTo>
                <a:lnTo>
                  <a:pt x="1929828" y="18883"/>
                </a:lnTo>
                <a:lnTo>
                  <a:pt x="19337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24125" y="1094184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114300" y="0"/>
                </a:moveTo>
                <a:lnTo>
                  <a:pt x="1866900" y="0"/>
                </a:lnTo>
                <a:lnTo>
                  <a:pt x="1891585" y="2698"/>
                </a:lnTo>
                <a:lnTo>
                  <a:pt x="1901601" y="5395"/>
                </a:lnTo>
                <a:lnTo>
                  <a:pt x="1909143" y="8093"/>
                </a:lnTo>
                <a:lnTo>
                  <a:pt x="1915379" y="10790"/>
                </a:lnTo>
                <a:lnTo>
                  <a:pt x="1920764" y="13488"/>
                </a:lnTo>
                <a:lnTo>
                  <a:pt x="1925534" y="16185"/>
                </a:lnTo>
                <a:lnTo>
                  <a:pt x="1929828" y="18883"/>
                </a:lnTo>
                <a:lnTo>
                  <a:pt x="19337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38675" y="1094184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114300" y="0"/>
                </a:moveTo>
                <a:lnTo>
                  <a:pt x="1866900" y="0"/>
                </a:lnTo>
                <a:lnTo>
                  <a:pt x="1891585" y="2698"/>
                </a:lnTo>
                <a:lnTo>
                  <a:pt x="1901601" y="5395"/>
                </a:lnTo>
                <a:lnTo>
                  <a:pt x="1909143" y="8093"/>
                </a:lnTo>
                <a:lnTo>
                  <a:pt x="1915379" y="10790"/>
                </a:lnTo>
                <a:lnTo>
                  <a:pt x="1920764" y="13488"/>
                </a:lnTo>
                <a:lnTo>
                  <a:pt x="1925534" y="16185"/>
                </a:lnTo>
                <a:lnTo>
                  <a:pt x="1929828" y="18883"/>
                </a:lnTo>
                <a:lnTo>
                  <a:pt x="19337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53225" y="1094184"/>
            <a:ext cx="1981200" cy="21580"/>
          </a:xfrm>
          <a:custGeom>
            <a:avLst/>
            <a:gdLst/>
            <a:ahLst/>
            <a:cxnLst/>
            <a:rect l="l" t="t" r="r" b="b"/>
            <a:pathLst>
              <a:path w="1981200" h="21580">
                <a:moveTo>
                  <a:pt x="114300" y="0"/>
                </a:moveTo>
                <a:lnTo>
                  <a:pt x="1866900" y="0"/>
                </a:lnTo>
                <a:lnTo>
                  <a:pt x="1891585" y="2698"/>
                </a:lnTo>
                <a:lnTo>
                  <a:pt x="1901601" y="5395"/>
                </a:lnTo>
                <a:lnTo>
                  <a:pt x="1909143" y="8093"/>
                </a:lnTo>
                <a:lnTo>
                  <a:pt x="1915379" y="10790"/>
                </a:lnTo>
                <a:lnTo>
                  <a:pt x="1920764" y="13488"/>
                </a:lnTo>
                <a:lnTo>
                  <a:pt x="1925534" y="16185"/>
                </a:lnTo>
                <a:lnTo>
                  <a:pt x="1929828" y="18883"/>
                </a:lnTo>
                <a:lnTo>
                  <a:pt x="1933739" y="21580"/>
                </a:lnTo>
                <a:lnTo>
                  <a:pt x="47461" y="21580"/>
                </a:lnTo>
                <a:lnTo>
                  <a:pt x="51372" y="18883"/>
                </a:lnTo>
                <a:lnTo>
                  <a:pt x="55666" y="16185"/>
                </a:lnTo>
                <a:lnTo>
                  <a:pt x="60436" y="13488"/>
                </a:lnTo>
                <a:lnTo>
                  <a:pt x="65821" y="10790"/>
                </a:lnTo>
                <a:lnTo>
                  <a:pt x="72057" y="8093"/>
                </a:lnTo>
                <a:lnTo>
                  <a:pt x="79599" y="5395"/>
                </a:lnTo>
                <a:lnTo>
                  <a:pt x="89615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368796"/>
            <a:ext cx="228600" cy="21580"/>
          </a:xfrm>
          <a:prstGeom prst="roundRect">
            <a:avLst>
              <a:gd name="adj" fmla="val 64736"/>
            </a:avLst>
          </a:prstGeom>
          <a:solidFill>
            <a:srgbClr val="8B5CF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9641" y="314920"/>
            <a:ext cx="146848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MARKET OPPORTUNITY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400050" y="487561"/>
            <a:ext cx="8927973" cy="278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97"/>
              </a:lnSpc>
              <a:spcAft>
                <a:spcPts val="280"/>
              </a:spcAft>
              <a:buNone/>
            </a:pPr>
            <a:r>
              <a:rPr lang="en-US" sz="1910" b="1" spc="-20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Three Exploding Markets Converge.</a:t>
            </a:r>
            <a:endParaRPr lang="en-US" sz="1910" dirty="0"/>
          </a:p>
        </p:txBody>
      </p:sp>
      <p:sp>
        <p:nvSpPr>
          <p:cNvPr id="11" name="Text 9"/>
          <p:cNvSpPr/>
          <p:nvPr/>
        </p:nvSpPr>
        <p:spPr>
          <a:xfrm>
            <a:off x="400050" y="801886"/>
            <a:ext cx="6444317" cy="154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8"/>
              </a:lnSpc>
              <a:buNone/>
            </a:pPr>
            <a:r>
              <a:rPr lang="en-US" sz="84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sits at the intersection of AI infrastructure, web automation, and enterprise knowledge management.</a:t>
            </a:r>
            <a:endParaRPr lang="en-US" sz="840" dirty="0"/>
          </a:p>
        </p:txBody>
      </p:sp>
      <p:sp>
        <p:nvSpPr>
          <p:cNvPr id="12" name="Text 10"/>
          <p:cNvSpPr/>
          <p:nvPr/>
        </p:nvSpPr>
        <p:spPr>
          <a:xfrm>
            <a:off x="400050" y="1084659"/>
            <a:ext cx="2000250" cy="3188791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9525">
            <a:solidFill>
              <a:srgbClr val="8B5CF6">
                <a:alpha val="13000"/>
              </a:srgbClr>
            </a:solidFill>
          </a:ln>
          <a:effectLst>
            <a:outerShdw sx="100000" sy="100000" kx="0" ky="0" algn="bl" rotWithShape="0" blurRad="171450" dist="29210" dir="5400000">
              <a:srgbClr val="8b5cf6">
                <a:alpha val="13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3045" y="125164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5562" y="1314161"/>
            <a:ext cx="132588" cy="1325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53045" y="1581745"/>
            <a:ext cx="1778972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0"/>
              </a:lnSpc>
              <a:buNone/>
            </a:pPr>
            <a:r>
              <a:rPr lang="en-US" sz="2590" b="1" spc="-60" kern="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$47B</a:t>
            </a:r>
            <a:endParaRPr lang="en-US" sz="2590" dirty="0"/>
          </a:p>
        </p:txBody>
      </p:sp>
      <p:sp>
        <p:nvSpPr>
          <p:cNvPr id="16" name="Text 13"/>
          <p:cNvSpPr/>
          <p:nvPr/>
        </p:nvSpPr>
        <p:spPr>
          <a:xfrm>
            <a:off x="553045" y="1967657"/>
            <a:ext cx="1728145" cy="27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&amp; Autonomous Workflow Market by 2030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553045" y="2279154"/>
            <a:ext cx="1728145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segment in enterprise software infrastructure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553045" y="2593181"/>
            <a:ext cx="1694259" cy="160273"/>
          </a:xfrm>
          <a:prstGeom prst="roundRect">
            <a:avLst>
              <a:gd name="adj" fmla="val 89541"/>
            </a:avLst>
          </a:prstGeom>
          <a:solidFill>
            <a:srgbClr val="EDE9FE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43%</a:t>
            </a:r>
            <a:endParaRPr lang="en-US" sz="620" dirty="0"/>
          </a:p>
        </p:txBody>
      </p:sp>
      <p:sp>
        <p:nvSpPr>
          <p:cNvPr id="19" name="Text 16"/>
          <p:cNvSpPr/>
          <p:nvPr/>
        </p:nvSpPr>
        <p:spPr>
          <a:xfrm>
            <a:off x="2514600" y="1084659"/>
            <a:ext cx="2000250" cy="3188791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9525">
            <a:solidFill>
              <a:srgbClr val="8B5CF6">
                <a:alpha val="13000"/>
              </a:srgbClr>
            </a:solidFill>
          </a:ln>
          <a:effectLst>
            <a:outerShdw sx="100000" sy="100000" kx="0" ky="0" algn="bl" rotWithShape="0" blurRad="171450" dist="29210" dir="5400000">
              <a:srgbClr val="8b5cf6">
                <a:alpha val="13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667595" y="125164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0112" y="1314161"/>
            <a:ext cx="132588" cy="13258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667595" y="1581745"/>
            <a:ext cx="1778972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0"/>
              </a:lnSpc>
              <a:buNone/>
            </a:pPr>
            <a:r>
              <a:rPr lang="en-US" sz="2590" b="1" spc="-60" kern="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1.97B</a:t>
            </a:r>
            <a:endParaRPr lang="en-US" sz="2590" dirty="0"/>
          </a:p>
        </p:txBody>
      </p:sp>
      <p:sp>
        <p:nvSpPr>
          <p:cNvPr id="23" name="Text 19"/>
          <p:cNvSpPr/>
          <p:nvPr/>
        </p:nvSpPr>
        <p:spPr>
          <a:xfrm>
            <a:off x="2667595" y="1967657"/>
            <a:ext cx="186368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websites worldwide</a:t>
            </a:r>
            <a:endParaRPr lang="en-US" sz="760" dirty="0"/>
          </a:p>
        </p:txBody>
      </p:sp>
      <p:sp>
        <p:nvSpPr>
          <p:cNvPr id="24" name="Text 20"/>
          <p:cNvSpPr/>
          <p:nvPr/>
        </p:nvSpPr>
        <p:spPr>
          <a:xfrm>
            <a:off x="2667595" y="2148780"/>
            <a:ext cx="1728145" cy="380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requiring structured, AI-navigable intelligence to function with autonomous agents</a:t>
            </a:r>
            <a:endParaRPr lang="en-US" sz="680" dirty="0"/>
          </a:p>
        </p:txBody>
      </p:sp>
      <p:sp>
        <p:nvSpPr>
          <p:cNvPr id="25" name="Text 21"/>
          <p:cNvSpPr/>
          <p:nvPr/>
        </p:nvSpPr>
        <p:spPr>
          <a:xfrm>
            <a:off x="4629150" y="1084659"/>
            <a:ext cx="2000250" cy="3188791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9525">
            <a:solidFill>
              <a:srgbClr val="8B5CF6">
                <a:alpha val="13000"/>
              </a:srgbClr>
            </a:solidFill>
          </a:ln>
          <a:effectLst>
            <a:outerShdw sx="100000" sy="100000" kx="0" ky="0" algn="bl" rotWithShape="0" blurRad="171450" dist="29210" dir="5400000">
              <a:srgbClr val="8b5cf6">
                <a:alpha val="13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782145" y="125164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4662" y="1314161"/>
            <a:ext cx="132588" cy="132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82145" y="1581745"/>
            <a:ext cx="1778972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0"/>
              </a:lnSpc>
              <a:buNone/>
            </a:pPr>
            <a:r>
              <a:rPr lang="en-US" sz="2590" b="1" spc="-60" kern="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$29B</a:t>
            </a:r>
            <a:endParaRPr lang="en-US" sz="2590" dirty="0"/>
          </a:p>
        </p:txBody>
      </p:sp>
      <p:sp>
        <p:nvSpPr>
          <p:cNvPr id="29" name="Text 24"/>
          <p:cNvSpPr/>
          <p:nvPr/>
        </p:nvSpPr>
        <p:spPr>
          <a:xfrm>
            <a:off x="4782145" y="1967657"/>
            <a:ext cx="1728145" cy="27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Process Automation &amp; Web Automation Software Market, 2026</a:t>
            </a:r>
            <a:endParaRPr lang="en-US" sz="760" dirty="0"/>
          </a:p>
        </p:txBody>
      </p:sp>
      <p:sp>
        <p:nvSpPr>
          <p:cNvPr id="30" name="Text 25"/>
          <p:cNvSpPr/>
          <p:nvPr/>
        </p:nvSpPr>
        <p:spPr>
          <a:xfrm>
            <a:off x="4782145" y="2279154"/>
            <a:ext cx="1728145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rapidly as enterprises demand full-stack workflow orchestration</a:t>
            </a:r>
            <a:endParaRPr lang="en-US" sz="680" dirty="0"/>
          </a:p>
        </p:txBody>
      </p:sp>
      <p:sp>
        <p:nvSpPr>
          <p:cNvPr id="31" name="Text 26"/>
          <p:cNvSpPr/>
          <p:nvPr/>
        </p:nvSpPr>
        <p:spPr>
          <a:xfrm>
            <a:off x="6743700" y="1084659"/>
            <a:ext cx="2000250" cy="3188791"/>
          </a:xfrm>
          <a:prstGeom prst="roundRect">
            <a:avLst>
              <a:gd name="adj" fmla="val 5714"/>
            </a:avLst>
          </a:prstGeom>
          <a:solidFill>
            <a:srgbClr val="F0EFFF"/>
          </a:solidFill>
          <a:ln w="9525">
            <a:solidFill>
              <a:srgbClr val="8B5CF6">
                <a:alpha val="13000"/>
              </a:srgbClr>
            </a:solidFill>
          </a:ln>
          <a:effectLst>
            <a:outerShdw sx="100000" sy="100000" kx="0" ky="0" algn="bl" rotWithShape="0" blurRad="171450" dist="29210" dir="5400000">
              <a:srgbClr val="8b5cf6">
                <a:alpha val="13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6896695" y="125164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59212" y="1314161"/>
            <a:ext cx="132588" cy="132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896695" y="1581745"/>
            <a:ext cx="1778972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0"/>
              </a:lnSpc>
              <a:buNone/>
            </a:pPr>
            <a:r>
              <a:rPr lang="en-US" sz="2590" b="1" spc="-60" kern="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$18B</a:t>
            </a:r>
            <a:endParaRPr lang="en-US" sz="2590" dirty="0"/>
          </a:p>
        </p:txBody>
      </p:sp>
      <p:sp>
        <p:nvSpPr>
          <p:cNvPr id="35" name="Text 29"/>
          <p:cNvSpPr/>
          <p:nvPr/>
        </p:nvSpPr>
        <p:spPr>
          <a:xfrm>
            <a:off x="6896695" y="1967657"/>
            <a:ext cx="1728145" cy="410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760" b="1" dirty="0">
                <a:solidFill>
                  <a:srgbClr val="1A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Graph &amp; Structured Intelligence Market by 2029</a:t>
            </a:r>
            <a:endParaRPr lang="en-US" sz="760" dirty="0"/>
          </a:p>
        </p:txBody>
      </p:sp>
      <p:sp>
        <p:nvSpPr>
          <p:cNvPr id="36" name="Text 30"/>
          <p:cNvSpPr/>
          <p:nvPr/>
        </p:nvSpPr>
        <p:spPr>
          <a:xfrm>
            <a:off x="6896695" y="2409527"/>
            <a:ext cx="1728145" cy="253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52"/>
              </a:lnSpc>
              <a:buNone/>
            </a:pPr>
            <a:r>
              <a:rPr lang="en-US" sz="68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investing heavily in verified, queryable intelligence at scale</a:t>
            </a:r>
            <a:endParaRPr lang="en-US" sz="680" dirty="0"/>
          </a:p>
        </p:txBody>
      </p:sp>
      <p:sp>
        <p:nvSpPr>
          <p:cNvPr id="37" name="Text 31"/>
          <p:cNvSpPr/>
          <p:nvPr/>
        </p:nvSpPr>
        <p:spPr>
          <a:xfrm>
            <a:off x="400050" y="4387751"/>
            <a:ext cx="8343900" cy="527149"/>
          </a:xfrm>
          <a:prstGeom prst="roundRect">
            <a:avLst>
              <a:gd name="adj" fmla="val 16382"/>
            </a:avLst>
          </a:prstGeom>
          <a:solidFill>
            <a:srgbClr val="8B5CF6">
              <a:alpha val="10000"/>
            </a:srgbClr>
          </a:solidFill>
          <a:ln w="9525">
            <a:solidFill>
              <a:srgbClr val="8B5CF6">
                <a:alpha val="22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9752" y="4584957"/>
            <a:ext cx="132588" cy="132588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785366" y="4489847"/>
            <a:ext cx="7947431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agent platform, every enterprise automation stack, every customer-facing deployment needs what ORB Weaver produces: </a:t>
            </a:r>
            <a:pPr algn="l" indent="0" marL="0">
              <a:lnSpc>
                <a:spcPts val="1271"/>
              </a:lnSpc>
              <a:buNone/>
            </a:pPr>
            <a:r>
              <a:rPr lang="en-US" sz="82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structured, deployment-ready site intelligence.</a:t>
            </a:r>
            <a:pPr algn="l" indent="0" marL="0">
              <a:lnSpc>
                <a:spcPts val="1271"/>
              </a:lnSpc>
              <a:buNone/>
            </a:pPr>
            <a:r>
              <a:rPr lang="en-US" sz="82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 are the intelligence layer the agentic web is missing.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71390" y="0"/>
            <a:ext cx="5001220" cy="1000720"/>
          </a:xfrm>
          <a:prstGeom prst="rect">
            <a:avLst/>
          </a:prstGeom>
          <a:gradFill rotWithShape="1">
            <a:gsLst>
              <a:gs pos="0">
                <a:srgbClr val="8B5CF6">
                  <a:alpha val="22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9575" y="816025"/>
            <a:ext cx="2714920" cy="795635"/>
          </a:xfrm>
          <a:prstGeom prst="roundRect">
            <a:avLst>
              <a:gd name="adj" fmla="val 8939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14539" y="816025"/>
            <a:ext cx="2714920" cy="795635"/>
          </a:xfrm>
          <a:prstGeom prst="roundRect">
            <a:avLst>
              <a:gd name="adj" fmla="val 8939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19502" y="816025"/>
            <a:ext cx="2714920" cy="795635"/>
          </a:xfrm>
          <a:prstGeom prst="roundRect">
            <a:avLst>
              <a:gd name="adj" fmla="val 8939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9575" y="1701701"/>
            <a:ext cx="2714920" cy="795635"/>
          </a:xfrm>
          <a:prstGeom prst="roundRect">
            <a:avLst>
              <a:gd name="adj" fmla="val 8939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14539" y="1701701"/>
            <a:ext cx="2714920" cy="795635"/>
          </a:xfrm>
          <a:prstGeom prst="roundRect">
            <a:avLst>
              <a:gd name="adj" fmla="val 8939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19502" y="1701701"/>
            <a:ext cx="2714920" cy="795635"/>
          </a:xfrm>
          <a:prstGeom prst="roundRect">
            <a:avLst>
              <a:gd name="adj" fmla="val 8939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229195"/>
            <a:ext cx="200620" cy="13841"/>
          </a:xfrm>
          <a:prstGeom prst="roundRect">
            <a:avLst>
              <a:gd name="adj" fmla="val 100932"/>
            </a:avLst>
          </a:prstGeom>
          <a:solidFill>
            <a:srgbClr val="8B5CF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7820" y="171450"/>
            <a:ext cx="132785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SCANNING ENGINE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400050" y="314771"/>
            <a:ext cx="892797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3"/>
              </a:lnSpc>
              <a:spcAft>
                <a:spcPts val="110"/>
              </a:spcAft>
              <a:buNone/>
            </a:pPr>
            <a:r>
              <a:rPr lang="en-US" sz="1690" b="1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220+ Scan Types.</a:t>
            </a:r>
            <a:pPr algn="l" indent="0" marL="0">
              <a:lnSpc>
                <a:spcPts val="1943"/>
              </a:lnSpc>
              <a:spcAft>
                <a:spcPts val="110"/>
              </a:spcAft>
              <a:buNone/>
            </a:pPr>
            <a:r>
              <a:rPr lang="en-US" sz="169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14 Intelligence Categories.</a:t>
            </a:r>
            <a:endParaRPr lang="en-US" sz="1690" dirty="0"/>
          </a:p>
        </p:txBody>
      </p:sp>
      <p:sp>
        <p:nvSpPr>
          <p:cNvPr id="14" name="Text 12"/>
          <p:cNvSpPr/>
          <p:nvPr/>
        </p:nvSpPr>
        <p:spPr>
          <a:xfrm>
            <a:off x="400050" y="575370"/>
            <a:ext cx="9178290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comprehensive website intelligence system ever built.</a:t>
            </a:r>
            <a:endParaRPr lang="en-US" sz="760" dirty="0"/>
          </a:p>
        </p:txBody>
      </p:sp>
      <p:sp>
        <p:nvSpPr>
          <p:cNvPr id="15" name="Text 13"/>
          <p:cNvSpPr/>
          <p:nvPr/>
        </p:nvSpPr>
        <p:spPr>
          <a:xfrm>
            <a:off x="400050" y="806500"/>
            <a:ext cx="2733973" cy="814685"/>
          </a:xfrm>
          <a:prstGeom prst="roundRect">
            <a:avLst>
              <a:gd name="adj" fmla="val 8730"/>
            </a:avLst>
          </a:prstGeom>
          <a:solidFill>
            <a:srgbClr val="13132B"/>
          </a:solidFill>
          <a:ln w="9525">
            <a:solidFill>
              <a:srgbClr val="8B5CF6">
                <a:alpha val="14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9885" y="902345"/>
            <a:ext cx="271760" cy="271760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rgbClr val="8B5CF6">
                  <a:alpha val="30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1"/>
          </a:gra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397" y="971857"/>
            <a:ext cx="132588" cy="13258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7966" y="902345"/>
            <a:ext cx="237184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spcAft>
                <a:spcPts val="230"/>
              </a:spcAft>
              <a:buNone/>
            </a:pPr>
            <a:r>
              <a:rPr lang="en-US" sz="760" b="1" spc="8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Site Discovery &amp; Structure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867966" y="1076325"/>
            <a:ext cx="2199346" cy="479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scan, subdomain discovery, sitemap parsing, robots.txt scan, route discovery, page crawl, internal/external link inventory, redirect detection, broken-link detection, HTTP status collection.</a:t>
            </a:r>
            <a:endParaRPr lang="en-US" sz="620" dirty="0"/>
          </a:p>
        </p:txBody>
      </p:sp>
      <p:sp>
        <p:nvSpPr>
          <p:cNvPr id="20" name="Text 17"/>
          <p:cNvSpPr/>
          <p:nvPr/>
        </p:nvSpPr>
        <p:spPr>
          <a:xfrm>
            <a:off x="3205014" y="806500"/>
            <a:ext cx="2733973" cy="814685"/>
          </a:xfrm>
          <a:prstGeom prst="roundRect">
            <a:avLst>
              <a:gd name="adj" fmla="val 8730"/>
            </a:avLst>
          </a:prstGeom>
          <a:solidFill>
            <a:srgbClr val="13132B"/>
          </a:solidFill>
          <a:ln w="9525">
            <a:solidFill>
              <a:srgbClr val="8B5CF6">
                <a:alpha val="14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314849" y="902345"/>
            <a:ext cx="271760" cy="271760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rgbClr val="8B5CF6">
                  <a:alpha val="30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1"/>
          </a:gra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4360" y="971857"/>
            <a:ext cx="132588" cy="13258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672929" y="902345"/>
            <a:ext cx="237184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spcAft>
                <a:spcPts val="230"/>
              </a:spcAft>
              <a:buNone/>
            </a:pPr>
            <a:r>
              <a:rPr lang="en-US" sz="760" b="1" spc="8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Page Intelligence</a:t>
            </a:r>
            <a:endParaRPr lang="en-US" sz="760" dirty="0"/>
          </a:p>
        </p:txBody>
      </p:sp>
      <p:sp>
        <p:nvSpPr>
          <p:cNvPr id="24" name="Text 20"/>
          <p:cNvSpPr/>
          <p:nvPr/>
        </p:nvSpPr>
        <p:spPr>
          <a:xfrm>
            <a:off x="3672929" y="1076325"/>
            <a:ext cx="2199346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URLs, page titles, meta-descriptions, heading &amp; section-heading collection, page-text extraction, content-block extraction, page-purpose and page-type classification.</a:t>
            </a:r>
            <a:endParaRPr lang="en-US" sz="620" dirty="0"/>
          </a:p>
        </p:txBody>
      </p:sp>
      <p:sp>
        <p:nvSpPr>
          <p:cNvPr id="25" name="Text 21"/>
          <p:cNvSpPr/>
          <p:nvPr/>
        </p:nvSpPr>
        <p:spPr>
          <a:xfrm>
            <a:off x="6009977" y="806500"/>
            <a:ext cx="2733973" cy="814685"/>
          </a:xfrm>
          <a:prstGeom prst="roundRect">
            <a:avLst>
              <a:gd name="adj" fmla="val 8730"/>
            </a:avLst>
          </a:prstGeom>
          <a:solidFill>
            <a:srgbClr val="13132B"/>
          </a:solidFill>
          <a:ln w="9525">
            <a:solidFill>
              <a:srgbClr val="8B5CF6">
                <a:alpha val="14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119813" y="902345"/>
            <a:ext cx="271760" cy="271760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rgbClr val="8B5CF6">
                  <a:alpha val="30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1"/>
          </a:gra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9324" y="971857"/>
            <a:ext cx="132588" cy="132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77893" y="902345"/>
            <a:ext cx="237184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spcAft>
                <a:spcPts val="230"/>
              </a:spcAft>
              <a:buNone/>
            </a:pPr>
            <a:r>
              <a:rPr lang="en-US" sz="760" b="1" spc="8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Navigation Mapping</a:t>
            </a:r>
            <a:endParaRPr lang="en-US" sz="760" dirty="0"/>
          </a:p>
        </p:txBody>
      </p:sp>
      <p:sp>
        <p:nvSpPr>
          <p:cNvPr id="29" name="Text 24"/>
          <p:cNvSpPr/>
          <p:nvPr/>
        </p:nvSpPr>
        <p:spPr>
          <a:xfrm>
            <a:off x="6477893" y="1076325"/>
            <a:ext cx="2199346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footer, sidebar &amp; breadcrumb menus; button, link, CTA discovery; modal, dialog, accordion, tab, dropdown, carousel &amp; pagination control detection.</a:t>
            </a:r>
            <a:endParaRPr lang="en-US" sz="620" dirty="0"/>
          </a:p>
        </p:txBody>
      </p:sp>
      <p:sp>
        <p:nvSpPr>
          <p:cNvPr id="30" name="Text 25"/>
          <p:cNvSpPr/>
          <p:nvPr/>
        </p:nvSpPr>
        <p:spPr>
          <a:xfrm>
            <a:off x="400050" y="1692176"/>
            <a:ext cx="2733973" cy="814685"/>
          </a:xfrm>
          <a:prstGeom prst="roundRect">
            <a:avLst>
              <a:gd name="adj" fmla="val 8730"/>
            </a:avLst>
          </a:prstGeom>
          <a:solidFill>
            <a:srgbClr val="13132B"/>
          </a:solidFill>
          <a:ln w="9525">
            <a:solidFill>
              <a:srgbClr val="8B5CF6">
                <a:alpha val="14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509885" y="1788021"/>
            <a:ext cx="271760" cy="271760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rgbClr val="8B5CF6">
                  <a:alpha val="30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1"/>
          </a:gra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9397" y="1857533"/>
            <a:ext cx="132588" cy="1325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867966" y="1788021"/>
            <a:ext cx="237184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spcAft>
                <a:spcPts val="230"/>
              </a:spcAft>
              <a:buNone/>
            </a:pPr>
            <a:r>
              <a:rPr lang="en-US" sz="760" b="1" spc="8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UI Element &amp; Form Intelligence</a:t>
            </a:r>
            <a:endParaRPr lang="en-US" sz="760" dirty="0"/>
          </a:p>
        </p:txBody>
      </p:sp>
      <p:sp>
        <p:nvSpPr>
          <p:cNvPr id="34" name="Text 28"/>
          <p:cNvSpPr/>
          <p:nvPr/>
        </p:nvSpPr>
        <p:spPr>
          <a:xfrm>
            <a:off x="867966" y="1962001"/>
            <a:ext cx="2199346" cy="479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form discovery — fields, inputs, selects, checkboxes, radio buttons, text areas, submit &amp; search controls; disabled, hidden, visibility &amp; interactive-state detection.</a:t>
            </a:r>
            <a:endParaRPr lang="en-US" sz="620" dirty="0"/>
          </a:p>
        </p:txBody>
      </p:sp>
      <p:sp>
        <p:nvSpPr>
          <p:cNvPr id="35" name="Text 29"/>
          <p:cNvSpPr/>
          <p:nvPr/>
        </p:nvSpPr>
        <p:spPr>
          <a:xfrm>
            <a:off x="3205014" y="1692176"/>
            <a:ext cx="2733973" cy="814685"/>
          </a:xfrm>
          <a:prstGeom prst="roundRect">
            <a:avLst>
              <a:gd name="adj" fmla="val 8730"/>
            </a:avLst>
          </a:prstGeom>
          <a:solidFill>
            <a:srgbClr val="13132B"/>
          </a:solidFill>
          <a:ln w="9525">
            <a:solidFill>
              <a:srgbClr val="8B5CF6">
                <a:alpha val="14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3314849" y="1788021"/>
            <a:ext cx="271760" cy="271760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rgbClr val="8B5CF6">
                  <a:alpha val="30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1"/>
          </a:gra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84360" y="1857533"/>
            <a:ext cx="132588" cy="1325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672929" y="1788021"/>
            <a:ext cx="237184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spcAft>
                <a:spcPts val="230"/>
              </a:spcAft>
              <a:buNone/>
            </a:pPr>
            <a:r>
              <a:rPr lang="en-US" sz="760" b="1" spc="8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Accessibility &amp; DOM</a:t>
            </a:r>
            <a:endParaRPr lang="en-US" sz="760" dirty="0"/>
          </a:p>
        </p:txBody>
      </p:sp>
      <p:sp>
        <p:nvSpPr>
          <p:cNvPr id="39" name="Text 32"/>
          <p:cNvSpPr/>
          <p:nvPr/>
        </p:nvSpPr>
        <p:spPr>
          <a:xfrm>
            <a:off x="3672929" y="1962001"/>
            <a:ext cx="2199346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IDs, DOM anchors, ARIA labels, accessible names, visible labels, data attributes, element roles, types, states, bounding boxes, screen positions.</a:t>
            </a:r>
            <a:endParaRPr lang="en-US" sz="620" dirty="0"/>
          </a:p>
        </p:txBody>
      </p:sp>
      <p:sp>
        <p:nvSpPr>
          <p:cNvPr id="40" name="Text 33"/>
          <p:cNvSpPr/>
          <p:nvPr/>
        </p:nvSpPr>
        <p:spPr>
          <a:xfrm>
            <a:off x="6009977" y="1692176"/>
            <a:ext cx="2733973" cy="814685"/>
          </a:xfrm>
          <a:prstGeom prst="roundRect">
            <a:avLst>
              <a:gd name="adj" fmla="val 8730"/>
            </a:avLst>
          </a:prstGeom>
          <a:solidFill>
            <a:srgbClr val="13132B"/>
          </a:solidFill>
          <a:ln w="9525">
            <a:solidFill>
              <a:srgbClr val="8B5CF6">
                <a:alpha val="14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6119813" y="1788021"/>
            <a:ext cx="271760" cy="271760"/>
          </a:xfrm>
          <a:prstGeom prst="roundRect">
            <a:avLst>
              <a:gd name="adj" fmla="val 23834"/>
            </a:avLst>
          </a:prstGeom>
          <a:gradFill rotWithShape="1">
            <a:gsLst>
              <a:gs pos="0">
                <a:srgbClr val="8B5CF6">
                  <a:alpha val="30000"/>
                </a:srgbClr>
              </a:gs>
              <a:gs pos="100000">
                <a:srgbClr val="8B5CF6">
                  <a:alpha val="12000"/>
                </a:srgbClr>
              </a:gs>
            </a:gsLst>
            <a:lin ang="2700000" scaled="1"/>
          </a:gra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9324" y="1857533"/>
            <a:ext cx="132588" cy="132588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477893" y="1788021"/>
            <a:ext cx="2371844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spcAft>
                <a:spcPts val="230"/>
              </a:spcAft>
              <a:buNone/>
            </a:pPr>
            <a:r>
              <a:rPr lang="en-US" sz="760" b="1" spc="8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Flow &amp; Workflow Mapping</a:t>
            </a:r>
            <a:endParaRPr lang="en-US" sz="760" dirty="0"/>
          </a:p>
        </p:txBody>
      </p:sp>
      <p:sp>
        <p:nvSpPr>
          <p:cNvPr id="44" name="Text 36"/>
          <p:cNvSpPr/>
          <p:nvPr/>
        </p:nvSpPr>
        <p:spPr>
          <a:xfrm>
            <a:off x="6477893" y="1962001"/>
            <a:ext cx="2199346" cy="35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signup, login, purchase, cart, checkout, lead-gen, multi-step workflows; required fields, validation rules, error messages, success &amp; confirmation states.</a:t>
            </a:r>
            <a:endParaRPr lang="en-US" sz="620" dirty="0"/>
          </a:p>
        </p:txBody>
      </p:sp>
      <p:sp>
        <p:nvSpPr>
          <p:cNvPr id="45" name="Text 37"/>
          <p:cNvSpPr/>
          <p:nvPr/>
        </p:nvSpPr>
        <p:spPr>
          <a:xfrm>
            <a:off x="400050" y="2577852"/>
            <a:ext cx="8510778" cy="214313"/>
          </a:xfrm>
          <a:prstGeom prst="rect">
            <a:avLst/>
          </a:prstGeom>
          <a:solidFill>
            <a:srgbClr val="13132B">
              <a:alpha val="60000"/>
            </a:srgbClr>
          </a:solidFill>
          <a:ln/>
        </p:spPr>
        <p:txBody>
          <a:bodyPr wrap="none" lIns="100330" tIns="49530" rIns="100330" bIns="43180" rtlCol="0" anchor="t"/>
          <a:lstStyle/>
          <a:p>
            <a:pPr algn="l" indent="0" marL="0">
              <a:buNone/>
            </a:pPr>
            <a:r>
              <a:rPr lang="en-US" sz="590" b="1" spc="12" kern="0" dirty="0">
                <a:solidFill>
                  <a:srgbClr val="8B5CF6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</a:t>
            </a:r>
            <a:pPr algn="l" indent="0" marL="0">
              <a:buNone/>
            </a:pPr>
            <a:r>
              <a:rPr lang="en-US" sz="590" spc="12" kern="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Pointer System · Layout Intelligence · Content &amp; Product · Brand &amp; Schema · Site World Compilation · Change Detection · Scan Management · ORB Configuration Generation</a:t>
            </a:r>
            <a:endParaRPr lang="en-US" sz="590" dirty="0"/>
          </a:p>
        </p:txBody>
      </p:sp>
      <p:sp>
        <p:nvSpPr>
          <p:cNvPr id="46" name="Text 38"/>
          <p:cNvSpPr/>
          <p:nvPr/>
        </p:nvSpPr>
        <p:spPr>
          <a:xfrm>
            <a:off x="400050" y="2577852"/>
            <a:ext cx="8343900" cy="9525"/>
          </a:xfrm>
          <a:prstGeom prst="rect">
            <a:avLst/>
          </a:prstGeom>
          <a:solidFill>
            <a:srgbClr val="8B5CF6">
              <a:alpha val="13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38582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259" y="0"/>
            <a:ext cx="4928741" cy="350014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030" y="2000250"/>
            <a:ext cx="5286970" cy="31432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67295" y="711101"/>
            <a:ext cx="2799455" cy="13841"/>
          </a:xfrm>
          <a:custGeom>
            <a:avLst/>
            <a:gdLst/>
            <a:ahLst/>
            <a:cxnLst/>
            <a:rect l="l" t="t" r="r" b="b"/>
            <a:pathLst>
              <a:path w="2799455" h="13841">
                <a:moveTo>
                  <a:pt x="100330" y="0"/>
                </a:moveTo>
                <a:lnTo>
                  <a:pt x="2699125" y="0"/>
                </a:lnTo>
                <a:lnTo>
                  <a:pt x="2717677" y="1730"/>
                </a:lnTo>
                <a:lnTo>
                  <a:pt x="2725247" y="3460"/>
                </a:lnTo>
                <a:lnTo>
                  <a:pt x="2730977" y="5190"/>
                </a:lnTo>
                <a:lnTo>
                  <a:pt x="2735741" y="6920"/>
                </a:lnTo>
                <a:lnTo>
                  <a:pt x="2739880" y="8651"/>
                </a:lnTo>
                <a:lnTo>
                  <a:pt x="2743569" y="10381"/>
                </a:lnTo>
                <a:lnTo>
                  <a:pt x="2746911" y="12111"/>
                </a:lnTo>
                <a:lnTo>
                  <a:pt x="2749975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3172123" y="711101"/>
            <a:ext cx="2799607" cy="13841"/>
          </a:xfrm>
          <a:custGeom>
            <a:avLst/>
            <a:gdLst/>
            <a:ahLst/>
            <a:cxnLst/>
            <a:rect l="l" t="t" r="r" b="b"/>
            <a:pathLst>
              <a:path w="2799607" h="13841">
                <a:moveTo>
                  <a:pt x="100330" y="0"/>
                </a:moveTo>
                <a:lnTo>
                  <a:pt x="2699277" y="0"/>
                </a:lnTo>
                <a:lnTo>
                  <a:pt x="2717829" y="1730"/>
                </a:lnTo>
                <a:lnTo>
                  <a:pt x="2725399" y="3460"/>
                </a:lnTo>
                <a:lnTo>
                  <a:pt x="2731129" y="5190"/>
                </a:lnTo>
                <a:lnTo>
                  <a:pt x="2735894" y="6920"/>
                </a:lnTo>
                <a:lnTo>
                  <a:pt x="2740033" y="8651"/>
                </a:lnTo>
                <a:lnTo>
                  <a:pt x="2743721" y="10381"/>
                </a:lnTo>
                <a:lnTo>
                  <a:pt x="2747063" y="12111"/>
                </a:lnTo>
                <a:lnTo>
                  <a:pt x="2750128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F59E0B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6077099" y="711101"/>
            <a:ext cx="2799607" cy="13841"/>
          </a:xfrm>
          <a:custGeom>
            <a:avLst/>
            <a:gdLst/>
            <a:ahLst/>
            <a:cxnLst/>
            <a:rect l="l" t="t" r="r" b="b"/>
            <a:pathLst>
              <a:path w="2799607" h="13841">
                <a:moveTo>
                  <a:pt x="100330" y="0"/>
                </a:moveTo>
                <a:lnTo>
                  <a:pt x="2699277" y="0"/>
                </a:lnTo>
                <a:lnTo>
                  <a:pt x="2717829" y="1730"/>
                </a:lnTo>
                <a:lnTo>
                  <a:pt x="2725399" y="3460"/>
                </a:lnTo>
                <a:lnTo>
                  <a:pt x="2731129" y="5190"/>
                </a:lnTo>
                <a:lnTo>
                  <a:pt x="2735894" y="6920"/>
                </a:lnTo>
                <a:lnTo>
                  <a:pt x="2740033" y="8651"/>
                </a:lnTo>
                <a:lnTo>
                  <a:pt x="2743721" y="10381"/>
                </a:lnTo>
                <a:lnTo>
                  <a:pt x="2747063" y="12111"/>
                </a:lnTo>
                <a:lnTo>
                  <a:pt x="2750128" y="13841"/>
                </a:lnTo>
                <a:lnTo>
                  <a:pt x="49479" y="13841"/>
                </a:lnTo>
                <a:lnTo>
                  <a:pt x="52544" y="12111"/>
                </a:lnTo>
                <a:lnTo>
                  <a:pt x="55886" y="10381"/>
                </a:lnTo>
                <a:lnTo>
                  <a:pt x="59574" y="8651"/>
                </a:lnTo>
                <a:lnTo>
                  <a:pt x="63713" y="6920"/>
                </a:lnTo>
                <a:lnTo>
                  <a:pt x="68478" y="5190"/>
                </a:lnTo>
                <a:lnTo>
                  <a:pt x="74208" y="3460"/>
                </a:lnTo>
                <a:lnTo>
                  <a:pt x="81778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6B6D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267295" y="2046238"/>
            <a:ext cx="21580" cy="747861"/>
          </a:xfrm>
          <a:custGeom>
            <a:avLst/>
            <a:gdLst/>
            <a:ahLst/>
            <a:cxnLst/>
            <a:rect l="l" t="t" r="r" b="b"/>
            <a:pathLst>
              <a:path w="21580" h="747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727769"/>
                </a:lnTo>
                <a:lnTo>
                  <a:pt x="18883" y="725004"/>
                </a:lnTo>
                <a:lnTo>
                  <a:pt x="16185" y="721910"/>
                </a:lnTo>
                <a:lnTo>
                  <a:pt x="13488" y="718413"/>
                </a:lnTo>
                <a:lnTo>
                  <a:pt x="10790" y="714402"/>
                </a:lnTo>
                <a:lnTo>
                  <a:pt x="8093" y="709689"/>
                </a:lnTo>
                <a:lnTo>
                  <a:pt x="5395" y="703912"/>
                </a:lnTo>
                <a:lnTo>
                  <a:pt x="2698" y="696143"/>
                </a:lnTo>
                <a:lnTo>
                  <a:pt x="0" y="676741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1714798" y="2046238"/>
            <a:ext cx="21580" cy="747861"/>
          </a:xfrm>
          <a:custGeom>
            <a:avLst/>
            <a:gdLst/>
            <a:ahLst/>
            <a:cxnLst/>
            <a:rect l="l" t="t" r="r" b="b"/>
            <a:pathLst>
              <a:path w="21580" h="747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727769"/>
                </a:lnTo>
                <a:lnTo>
                  <a:pt x="18883" y="725004"/>
                </a:lnTo>
                <a:lnTo>
                  <a:pt x="16185" y="721910"/>
                </a:lnTo>
                <a:lnTo>
                  <a:pt x="13488" y="718413"/>
                </a:lnTo>
                <a:lnTo>
                  <a:pt x="10790" y="714402"/>
                </a:lnTo>
                <a:lnTo>
                  <a:pt x="8093" y="709689"/>
                </a:lnTo>
                <a:lnTo>
                  <a:pt x="5395" y="703912"/>
                </a:lnTo>
                <a:lnTo>
                  <a:pt x="2698" y="696143"/>
                </a:lnTo>
                <a:lnTo>
                  <a:pt x="0" y="676741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3162449" y="2046238"/>
            <a:ext cx="21580" cy="747861"/>
          </a:xfrm>
          <a:custGeom>
            <a:avLst/>
            <a:gdLst/>
            <a:ahLst/>
            <a:cxnLst/>
            <a:rect l="l" t="t" r="r" b="b"/>
            <a:pathLst>
              <a:path w="21580" h="747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727769"/>
                </a:lnTo>
                <a:lnTo>
                  <a:pt x="18883" y="725004"/>
                </a:lnTo>
                <a:lnTo>
                  <a:pt x="16185" y="721910"/>
                </a:lnTo>
                <a:lnTo>
                  <a:pt x="13488" y="718413"/>
                </a:lnTo>
                <a:lnTo>
                  <a:pt x="10790" y="714402"/>
                </a:lnTo>
                <a:lnTo>
                  <a:pt x="8093" y="709689"/>
                </a:lnTo>
                <a:lnTo>
                  <a:pt x="5395" y="703912"/>
                </a:lnTo>
                <a:lnTo>
                  <a:pt x="2698" y="696143"/>
                </a:lnTo>
                <a:lnTo>
                  <a:pt x="0" y="676741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610100" y="2046238"/>
            <a:ext cx="21580" cy="747861"/>
          </a:xfrm>
          <a:custGeom>
            <a:avLst/>
            <a:gdLst/>
            <a:ahLst/>
            <a:cxnLst/>
            <a:rect l="l" t="t" r="r" b="b"/>
            <a:pathLst>
              <a:path w="21580" h="747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727769"/>
                </a:lnTo>
                <a:lnTo>
                  <a:pt x="18883" y="725004"/>
                </a:lnTo>
                <a:lnTo>
                  <a:pt x="16185" y="721910"/>
                </a:lnTo>
                <a:lnTo>
                  <a:pt x="13488" y="718413"/>
                </a:lnTo>
                <a:lnTo>
                  <a:pt x="10790" y="714402"/>
                </a:lnTo>
                <a:lnTo>
                  <a:pt x="8093" y="709689"/>
                </a:lnTo>
                <a:lnTo>
                  <a:pt x="5395" y="703912"/>
                </a:lnTo>
                <a:lnTo>
                  <a:pt x="2698" y="696143"/>
                </a:lnTo>
                <a:lnTo>
                  <a:pt x="0" y="676741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057602" y="2046238"/>
            <a:ext cx="21580" cy="747861"/>
          </a:xfrm>
          <a:custGeom>
            <a:avLst/>
            <a:gdLst/>
            <a:ahLst/>
            <a:cxnLst/>
            <a:rect l="l" t="t" r="r" b="b"/>
            <a:pathLst>
              <a:path w="21580" h="747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727769"/>
                </a:lnTo>
                <a:lnTo>
                  <a:pt x="18883" y="725004"/>
                </a:lnTo>
                <a:lnTo>
                  <a:pt x="16185" y="721910"/>
                </a:lnTo>
                <a:lnTo>
                  <a:pt x="13488" y="718413"/>
                </a:lnTo>
                <a:lnTo>
                  <a:pt x="10790" y="714402"/>
                </a:lnTo>
                <a:lnTo>
                  <a:pt x="8093" y="709689"/>
                </a:lnTo>
                <a:lnTo>
                  <a:pt x="5395" y="703912"/>
                </a:lnTo>
                <a:lnTo>
                  <a:pt x="2698" y="696143"/>
                </a:lnTo>
                <a:lnTo>
                  <a:pt x="0" y="676741"/>
                </a:lnTo>
                <a:close/>
              </a:path>
            </a:pathLst>
          </a:custGeom>
          <a:solidFill>
            <a:srgbClr val="34D399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7505254" y="2046238"/>
            <a:ext cx="21580" cy="747861"/>
          </a:xfrm>
          <a:custGeom>
            <a:avLst/>
            <a:gdLst/>
            <a:ahLst/>
            <a:cxnLst/>
            <a:rect l="l" t="t" r="r" b="b"/>
            <a:pathLst>
              <a:path w="21580" h="747861">
                <a:moveTo>
                  <a:pt x="0" y="71120"/>
                </a:moveTo>
                <a:lnTo>
                  <a:pt x="2698" y="51719"/>
                </a:lnTo>
                <a:lnTo>
                  <a:pt x="5395" y="43949"/>
                </a:lnTo>
                <a:lnTo>
                  <a:pt x="8093" y="38172"/>
                </a:lnTo>
                <a:lnTo>
                  <a:pt x="10790" y="33459"/>
                </a:lnTo>
                <a:lnTo>
                  <a:pt x="13488" y="29448"/>
                </a:lnTo>
                <a:lnTo>
                  <a:pt x="16185" y="25951"/>
                </a:lnTo>
                <a:lnTo>
                  <a:pt x="18883" y="22857"/>
                </a:lnTo>
                <a:lnTo>
                  <a:pt x="21580" y="20092"/>
                </a:lnTo>
                <a:lnTo>
                  <a:pt x="21580" y="727769"/>
                </a:lnTo>
                <a:lnTo>
                  <a:pt x="18883" y="725004"/>
                </a:lnTo>
                <a:lnTo>
                  <a:pt x="16185" y="721910"/>
                </a:lnTo>
                <a:lnTo>
                  <a:pt x="13488" y="718413"/>
                </a:lnTo>
                <a:lnTo>
                  <a:pt x="10790" y="714402"/>
                </a:lnTo>
                <a:lnTo>
                  <a:pt x="8093" y="709689"/>
                </a:lnTo>
                <a:lnTo>
                  <a:pt x="5395" y="703912"/>
                </a:lnTo>
                <a:lnTo>
                  <a:pt x="2698" y="696143"/>
                </a:lnTo>
                <a:lnTo>
                  <a:pt x="0" y="676741"/>
                </a:lnTo>
                <a:close/>
              </a:path>
            </a:pathLst>
          </a:custGeom>
          <a:solidFill>
            <a:srgbClr val="38BDF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267295" y="2884140"/>
            <a:ext cx="8609409" cy="7590"/>
          </a:xfrm>
          <a:custGeom>
            <a:avLst/>
            <a:gdLst/>
            <a:ahLst/>
            <a:cxnLst/>
            <a:rect l="l" t="t" r="r" b="b"/>
            <a:pathLst>
              <a:path w="8609409" h="7590">
                <a:moveTo>
                  <a:pt x="71120" y="0"/>
                </a:moveTo>
                <a:lnTo>
                  <a:pt x="8538289" y="0"/>
                </a:lnTo>
                <a:lnTo>
                  <a:pt x="8549868" y="949"/>
                </a:lnTo>
                <a:lnTo>
                  <a:pt x="8554608" y="1898"/>
                </a:lnTo>
                <a:lnTo>
                  <a:pt x="8558208" y="2846"/>
                </a:lnTo>
                <a:lnTo>
                  <a:pt x="8561211" y="3795"/>
                </a:lnTo>
                <a:lnTo>
                  <a:pt x="8563829" y="4744"/>
                </a:lnTo>
                <a:lnTo>
                  <a:pt x="8566170" y="5693"/>
                </a:lnTo>
                <a:lnTo>
                  <a:pt x="8568299" y="6641"/>
                </a:lnTo>
                <a:lnTo>
                  <a:pt x="8570258" y="7590"/>
                </a:lnTo>
                <a:lnTo>
                  <a:pt x="39151" y="7590"/>
                </a:lnTo>
                <a:lnTo>
                  <a:pt x="41110" y="6641"/>
                </a:lnTo>
                <a:lnTo>
                  <a:pt x="43240" y="5693"/>
                </a:lnTo>
                <a:lnTo>
                  <a:pt x="45581" y="4744"/>
                </a:lnTo>
                <a:lnTo>
                  <a:pt x="48198" y="3795"/>
                </a:lnTo>
                <a:lnTo>
                  <a:pt x="51201" y="2846"/>
                </a:lnTo>
                <a:lnTo>
                  <a:pt x="54801" y="1898"/>
                </a:lnTo>
                <a:lnTo>
                  <a:pt x="59542" y="949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257770" y="157460"/>
            <a:ext cx="4336112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38"/>
              </a:lnSpc>
              <a:buNone/>
            </a:pPr>
            <a:r>
              <a:rPr lang="en-US" sz="1580" b="1" spc="-20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Product is Live. The Numbers Are Real.</a:t>
            </a:r>
            <a:endParaRPr lang="en-US" sz="1580" dirty="0"/>
          </a:p>
        </p:txBody>
      </p:sp>
      <p:sp>
        <p:nvSpPr>
          <p:cNvPr id="18" name="Text 13"/>
          <p:cNvSpPr/>
          <p:nvPr/>
        </p:nvSpPr>
        <p:spPr>
          <a:xfrm>
            <a:off x="257770" y="407194"/>
            <a:ext cx="445768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i="1" spc="7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 Job #55 · Audit #29 · orbweaver.spruked.com · August 20, 2026 · ORB Weaver scanning itself.</a:t>
            </a:r>
            <a:endParaRPr lang="en-US" sz="680" dirty="0"/>
          </a:p>
        </p:txBody>
      </p:sp>
      <p:sp>
        <p:nvSpPr>
          <p:cNvPr id="19" name="Text 14"/>
          <p:cNvSpPr/>
          <p:nvPr/>
        </p:nvSpPr>
        <p:spPr>
          <a:xfrm>
            <a:off x="7290346" y="186630"/>
            <a:ext cx="655037" cy="168920"/>
          </a:xfrm>
          <a:prstGeom prst="roundRect">
            <a:avLst>
              <a:gd name="adj" fmla="val 84958"/>
            </a:avLst>
          </a:prstGeom>
          <a:solidFill>
            <a:srgbClr val="10B981">
              <a:alpha val="15000"/>
            </a:srgbClr>
          </a:solidFill>
          <a:ln w="9525">
            <a:solidFill>
              <a:srgbClr val="10B981">
                <a:alpha val="35000"/>
              </a:srgbClr>
            </a:solidFill>
          </a:ln>
        </p:spPr>
        <p:txBody>
          <a:bodyPr wrap="none" lIns="71120" tIns="21590" rIns="71120" bIns="2159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34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</a:t>
            </a:r>
            <a:endParaRPr lang="en-US" sz="560" dirty="0"/>
          </a:p>
        </p:txBody>
      </p:sp>
      <p:sp>
        <p:nvSpPr>
          <p:cNvPr id="20" name="Text 15"/>
          <p:cNvSpPr/>
          <p:nvPr/>
        </p:nvSpPr>
        <p:spPr>
          <a:xfrm>
            <a:off x="7989689" y="186630"/>
            <a:ext cx="914471" cy="168920"/>
          </a:xfrm>
          <a:prstGeom prst="roundRect">
            <a:avLst>
              <a:gd name="adj" fmla="val 84958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25000"/>
              </a:srgbClr>
            </a:solidFill>
          </a:ln>
        </p:spPr>
        <p:txBody>
          <a:bodyPr wrap="none" lIns="71120" tIns="21590" rIns="71120" bIns="21590" rtlCol="0" anchor="t"/>
          <a:lstStyle/>
          <a:p>
            <a:pPr algn="l" indent="0" marL="0">
              <a:buNone/>
            </a:pPr>
            <a:r>
              <a:rPr lang="en-US" sz="560" b="1" spc="28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PRIME SERIES</a:t>
            </a:r>
            <a:endParaRPr lang="en-US" sz="560" dirty="0"/>
          </a:p>
        </p:txBody>
      </p:sp>
      <p:sp>
        <p:nvSpPr>
          <p:cNvPr id="21" name="Text 16"/>
          <p:cNvSpPr/>
          <p:nvPr/>
        </p:nvSpPr>
        <p:spPr>
          <a:xfrm>
            <a:off x="257770" y="622995"/>
            <a:ext cx="8628459" cy="759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257770" y="701576"/>
            <a:ext cx="2818507" cy="1264146"/>
          </a:xfrm>
          <a:prstGeom prst="roundRect">
            <a:avLst>
              <a:gd name="adj" fmla="val 7937"/>
            </a:avLst>
          </a:prstGeom>
          <a:gradFill rotWithShape="1">
            <a:gsLst>
              <a:gs pos="0">
                <a:srgbClr val="16163A"/>
              </a:gs>
              <a:gs pos="100000">
                <a:srgbClr val="0F0F28"/>
              </a:gs>
            </a:gsLst>
            <a:lin ang="4200000" scaled="1"/>
          </a:gradFill>
          <a:ln w="9525">
            <a:solidFill>
              <a:srgbClr val="8B5CF6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10766" y="839242"/>
            <a:ext cx="27637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56" kern="0" dirty="0">
                <a:solidFill>
                  <a:srgbClr val="A78BFA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POINTER TARGETS</a:t>
            </a:r>
            <a:endParaRPr lang="en-US" sz="560" dirty="0"/>
          </a:p>
        </p:txBody>
      </p:sp>
      <p:sp>
        <p:nvSpPr>
          <p:cNvPr id="24" name="Text 19"/>
          <p:cNvSpPr/>
          <p:nvPr/>
        </p:nvSpPr>
        <p:spPr>
          <a:xfrm>
            <a:off x="410766" y="975122"/>
            <a:ext cx="2638142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spc="-110" kern="0" dirty="0">
                <a:solidFill>
                  <a:srgbClr val="A78BFA"/>
                </a:solidFill>
                <a:effectLst>
                  <a:glow rad="2143125">
                    <a:srgbClr val="8B5CF6">
                      <a:alpha val="9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1,885</a:t>
            </a:r>
            <a:endParaRPr lang="en-US" sz="4500" dirty="0"/>
          </a:p>
        </p:txBody>
      </p:sp>
      <p:sp>
        <p:nvSpPr>
          <p:cNvPr id="25" name="Text 20"/>
          <p:cNvSpPr/>
          <p:nvPr/>
        </p:nvSpPr>
        <p:spPr>
          <a:xfrm>
            <a:off x="410766" y="1589782"/>
            <a:ext cx="2763768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b="1" spc="15" kern="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Pointer Targets Extracted</a:t>
            </a:r>
            <a:endParaRPr lang="en-US" sz="730" dirty="0"/>
          </a:p>
        </p:txBody>
      </p:sp>
      <p:sp>
        <p:nvSpPr>
          <p:cNvPr id="26" name="Text 21"/>
          <p:cNvSpPr/>
          <p:nvPr/>
        </p:nvSpPr>
        <p:spPr>
          <a:xfrm>
            <a:off x="410766" y="1731764"/>
            <a:ext cx="2763768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routes mapped  ·  0 duplicate IDs</a:t>
            </a:r>
            <a:endParaRPr lang="en-US" sz="620" dirty="0"/>
          </a:p>
        </p:txBody>
      </p:sp>
      <p:sp>
        <p:nvSpPr>
          <p:cNvPr id="27" name="Text 22"/>
          <p:cNvSpPr/>
          <p:nvPr/>
        </p:nvSpPr>
        <p:spPr>
          <a:xfrm>
            <a:off x="2556867" y="1446312"/>
            <a:ext cx="519410" cy="519410"/>
          </a:xfrm>
          <a:custGeom>
            <a:avLst/>
            <a:gdLst/>
            <a:ahLst/>
            <a:cxnLst/>
            <a:rect l="l" t="t" r="r" b="b"/>
            <a:pathLst>
              <a:path w="519410" h="519410">
                <a:moveTo>
                  <a:pt x="41239" y="519410"/>
                </a:moveTo>
                <a:lnTo>
                  <a:pt x="27212" y="494289"/>
                </a:lnTo>
                <a:lnTo>
                  <a:pt x="15393" y="461258"/>
                </a:lnTo>
                <a:lnTo>
                  <a:pt x="6869" y="427227"/>
                </a:lnTo>
                <a:lnTo>
                  <a:pt x="1721" y="392525"/>
                </a:lnTo>
                <a:lnTo>
                  <a:pt x="0" y="357485"/>
                </a:lnTo>
                <a:lnTo>
                  <a:pt x="1721" y="322445"/>
                </a:lnTo>
                <a:lnTo>
                  <a:pt x="6869" y="287743"/>
                </a:lnTo>
                <a:lnTo>
                  <a:pt x="15393" y="253713"/>
                </a:lnTo>
                <a:lnTo>
                  <a:pt x="27212" y="220682"/>
                </a:lnTo>
                <a:lnTo>
                  <a:pt x="42211" y="188968"/>
                </a:lnTo>
                <a:lnTo>
                  <a:pt x="60247" y="158877"/>
                </a:lnTo>
                <a:lnTo>
                  <a:pt x="81145" y="130699"/>
                </a:lnTo>
                <a:lnTo>
                  <a:pt x="104705" y="104705"/>
                </a:lnTo>
                <a:lnTo>
                  <a:pt x="130699" y="81145"/>
                </a:lnTo>
                <a:lnTo>
                  <a:pt x="158877" y="60247"/>
                </a:lnTo>
                <a:lnTo>
                  <a:pt x="188968" y="42211"/>
                </a:lnTo>
                <a:lnTo>
                  <a:pt x="220682" y="27212"/>
                </a:lnTo>
                <a:lnTo>
                  <a:pt x="253713" y="15393"/>
                </a:lnTo>
                <a:lnTo>
                  <a:pt x="287743" y="6869"/>
                </a:lnTo>
                <a:lnTo>
                  <a:pt x="322445" y="1721"/>
                </a:lnTo>
                <a:lnTo>
                  <a:pt x="357485" y="0"/>
                </a:lnTo>
                <a:lnTo>
                  <a:pt x="392525" y="1721"/>
                </a:lnTo>
                <a:lnTo>
                  <a:pt x="427227" y="6869"/>
                </a:lnTo>
                <a:lnTo>
                  <a:pt x="461258" y="15393"/>
                </a:lnTo>
                <a:lnTo>
                  <a:pt x="494289" y="27212"/>
                </a:lnTo>
                <a:lnTo>
                  <a:pt x="519410" y="41239"/>
                </a:lnTo>
                <a:lnTo>
                  <a:pt x="519410" y="419080"/>
                </a:lnTo>
                <a:lnTo>
                  <a:pt x="517482" y="438654"/>
                </a:lnTo>
                <a:lnTo>
                  <a:pt x="511773" y="457475"/>
                </a:lnTo>
                <a:lnTo>
                  <a:pt x="502502" y="474821"/>
                </a:lnTo>
                <a:lnTo>
                  <a:pt x="490024" y="490024"/>
                </a:lnTo>
                <a:lnTo>
                  <a:pt x="474821" y="502502"/>
                </a:lnTo>
                <a:lnTo>
                  <a:pt x="457475" y="511773"/>
                </a:lnTo>
                <a:lnTo>
                  <a:pt x="438654" y="517482"/>
                </a:lnTo>
                <a:lnTo>
                  <a:pt x="419080" y="519410"/>
                </a:lnTo>
                <a:close/>
              </a:path>
            </a:pathLst>
          </a:custGeom>
          <a:solidFill>
            <a:srgbClr val="8B5CF6">
              <a:alpha val="8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3162598" y="701576"/>
            <a:ext cx="2818656" cy="1264146"/>
          </a:xfrm>
          <a:prstGeom prst="roundRect">
            <a:avLst>
              <a:gd name="adj" fmla="val 7937"/>
            </a:avLst>
          </a:prstGeom>
          <a:gradFill rotWithShape="1">
            <a:gsLst>
              <a:gs pos="0">
                <a:srgbClr val="16163A"/>
              </a:gs>
              <a:gs pos="100000">
                <a:srgbClr val="0F0F28"/>
              </a:gs>
            </a:gsLst>
            <a:lin ang="4200000" scaled="1"/>
          </a:gradFill>
          <a:ln w="9525">
            <a:solidFill>
              <a:srgbClr val="8B5CF6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3315593" y="839242"/>
            <a:ext cx="276393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56" kern="0" dirty="0">
                <a:solidFill>
                  <a:srgbClr val="FCD34D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TERM RESOLUTION</a:t>
            </a:r>
            <a:endParaRPr lang="en-US" sz="560" dirty="0"/>
          </a:p>
        </p:txBody>
      </p:sp>
      <p:sp>
        <p:nvSpPr>
          <p:cNvPr id="30" name="Text 25"/>
          <p:cNvSpPr/>
          <p:nvPr/>
        </p:nvSpPr>
        <p:spPr>
          <a:xfrm>
            <a:off x="3315593" y="975122"/>
            <a:ext cx="263829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spc="-110" kern="0" dirty="0">
                <a:solidFill>
                  <a:srgbClr val="FCD34D"/>
                </a:solidFill>
                <a:effectLst>
                  <a:glow rad="2143125">
                    <a:srgbClr val="F59E0B">
                      <a:alpha val="9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7,487</a:t>
            </a:r>
            <a:endParaRPr lang="en-US" sz="4500" dirty="0"/>
          </a:p>
        </p:txBody>
      </p:sp>
      <p:sp>
        <p:nvSpPr>
          <p:cNvPr id="31" name="Text 26"/>
          <p:cNvSpPr/>
          <p:nvPr/>
        </p:nvSpPr>
        <p:spPr>
          <a:xfrm>
            <a:off x="3315593" y="1589782"/>
            <a:ext cx="2763932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b="1" spc="15" kern="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Terms Resolved</a:t>
            </a:r>
            <a:endParaRPr lang="en-US" sz="730" dirty="0"/>
          </a:p>
        </p:txBody>
      </p:sp>
      <p:sp>
        <p:nvSpPr>
          <p:cNvPr id="32" name="Text 27"/>
          <p:cNvSpPr/>
          <p:nvPr/>
        </p:nvSpPr>
        <p:spPr>
          <a:xfrm>
            <a:off x="3315593" y="1731764"/>
            <a:ext cx="2763932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 canonical terms indexed  ·  full lexical map</a:t>
            </a:r>
            <a:endParaRPr lang="en-US" sz="620" dirty="0"/>
          </a:p>
        </p:txBody>
      </p:sp>
      <p:sp>
        <p:nvSpPr>
          <p:cNvPr id="33" name="Text 28"/>
          <p:cNvSpPr/>
          <p:nvPr/>
        </p:nvSpPr>
        <p:spPr>
          <a:xfrm>
            <a:off x="5461847" y="1446312"/>
            <a:ext cx="519407" cy="519410"/>
          </a:xfrm>
          <a:custGeom>
            <a:avLst/>
            <a:gdLst/>
            <a:ahLst/>
            <a:cxnLst/>
            <a:rect l="l" t="t" r="r" b="b"/>
            <a:pathLst>
              <a:path w="519407" h="519410">
                <a:moveTo>
                  <a:pt x="41239" y="519410"/>
                </a:moveTo>
                <a:lnTo>
                  <a:pt x="27212" y="494289"/>
                </a:lnTo>
                <a:lnTo>
                  <a:pt x="15393" y="461258"/>
                </a:lnTo>
                <a:lnTo>
                  <a:pt x="6869" y="427227"/>
                </a:lnTo>
                <a:lnTo>
                  <a:pt x="1721" y="392525"/>
                </a:lnTo>
                <a:lnTo>
                  <a:pt x="0" y="357485"/>
                </a:lnTo>
                <a:lnTo>
                  <a:pt x="1721" y="322445"/>
                </a:lnTo>
                <a:lnTo>
                  <a:pt x="6869" y="287743"/>
                </a:lnTo>
                <a:lnTo>
                  <a:pt x="15393" y="253713"/>
                </a:lnTo>
                <a:lnTo>
                  <a:pt x="27212" y="220682"/>
                </a:lnTo>
                <a:lnTo>
                  <a:pt x="42211" y="188968"/>
                </a:lnTo>
                <a:lnTo>
                  <a:pt x="60247" y="158877"/>
                </a:lnTo>
                <a:lnTo>
                  <a:pt x="81145" y="130699"/>
                </a:lnTo>
                <a:lnTo>
                  <a:pt x="104705" y="104705"/>
                </a:lnTo>
                <a:lnTo>
                  <a:pt x="130699" y="81145"/>
                </a:lnTo>
                <a:lnTo>
                  <a:pt x="158877" y="60247"/>
                </a:lnTo>
                <a:lnTo>
                  <a:pt x="188968" y="42211"/>
                </a:lnTo>
                <a:lnTo>
                  <a:pt x="220682" y="27212"/>
                </a:lnTo>
                <a:lnTo>
                  <a:pt x="253713" y="15393"/>
                </a:lnTo>
                <a:lnTo>
                  <a:pt x="287743" y="6869"/>
                </a:lnTo>
                <a:lnTo>
                  <a:pt x="322445" y="1721"/>
                </a:lnTo>
                <a:lnTo>
                  <a:pt x="357485" y="0"/>
                </a:lnTo>
                <a:lnTo>
                  <a:pt x="392525" y="1721"/>
                </a:lnTo>
                <a:lnTo>
                  <a:pt x="427227" y="6869"/>
                </a:lnTo>
                <a:lnTo>
                  <a:pt x="461258" y="15393"/>
                </a:lnTo>
                <a:lnTo>
                  <a:pt x="494289" y="27212"/>
                </a:lnTo>
                <a:lnTo>
                  <a:pt x="519407" y="41239"/>
                </a:lnTo>
                <a:lnTo>
                  <a:pt x="519407" y="419080"/>
                </a:lnTo>
                <a:lnTo>
                  <a:pt x="517479" y="438654"/>
                </a:lnTo>
                <a:lnTo>
                  <a:pt x="511769" y="457475"/>
                </a:lnTo>
                <a:lnTo>
                  <a:pt x="502498" y="474821"/>
                </a:lnTo>
                <a:lnTo>
                  <a:pt x="490021" y="490024"/>
                </a:lnTo>
                <a:lnTo>
                  <a:pt x="474817" y="502502"/>
                </a:lnTo>
                <a:lnTo>
                  <a:pt x="457471" y="511773"/>
                </a:lnTo>
                <a:lnTo>
                  <a:pt x="438650" y="517482"/>
                </a:lnTo>
                <a:lnTo>
                  <a:pt x="419077" y="519410"/>
                </a:lnTo>
                <a:close/>
              </a:path>
            </a:pathLst>
          </a:custGeom>
          <a:solidFill>
            <a:srgbClr val="F59E0B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6067574" y="701576"/>
            <a:ext cx="2818656" cy="1264146"/>
          </a:xfrm>
          <a:prstGeom prst="roundRect">
            <a:avLst>
              <a:gd name="adj" fmla="val 7937"/>
            </a:avLst>
          </a:prstGeom>
          <a:gradFill rotWithShape="1">
            <a:gsLst>
              <a:gs pos="0">
                <a:srgbClr val="16163A"/>
              </a:gs>
              <a:gs pos="100000">
                <a:srgbClr val="0F0F28"/>
              </a:gs>
            </a:gsLst>
            <a:lin ang="4200000" scaled="1"/>
          </a:gradFill>
          <a:ln w="9525">
            <a:solidFill>
              <a:srgbClr val="8B5CF6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6220569" y="839242"/>
            <a:ext cx="2763932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56" kern="0" dirty="0">
                <a:solidFill>
                  <a:srgbClr val="67E8F9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RELATIONSHIP GRAPH</a:t>
            </a:r>
            <a:endParaRPr lang="en-US" sz="560" dirty="0"/>
          </a:p>
        </p:txBody>
      </p:sp>
      <p:sp>
        <p:nvSpPr>
          <p:cNvPr id="36" name="Text 31"/>
          <p:cNvSpPr/>
          <p:nvPr/>
        </p:nvSpPr>
        <p:spPr>
          <a:xfrm>
            <a:off x="6220569" y="975122"/>
            <a:ext cx="2638298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spc="-110" kern="0" dirty="0">
                <a:solidFill>
                  <a:srgbClr val="67E8F9"/>
                </a:solidFill>
                <a:effectLst>
                  <a:glow rad="2143125">
                    <a:srgbClr val="06B6D4">
                      <a:alpha val="9000"/>
                    </a:srgbClr>
                  </a:glow>
                </a:effectLst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1,708</a:t>
            </a:r>
            <a:endParaRPr lang="en-US" sz="4500" dirty="0"/>
          </a:p>
        </p:txBody>
      </p:sp>
      <p:sp>
        <p:nvSpPr>
          <p:cNvPr id="37" name="Text 32"/>
          <p:cNvSpPr/>
          <p:nvPr/>
        </p:nvSpPr>
        <p:spPr>
          <a:xfrm>
            <a:off x="6220569" y="1589782"/>
            <a:ext cx="2763932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9"/>
              </a:lnSpc>
              <a:buNone/>
            </a:pPr>
            <a:r>
              <a:rPr lang="en-US" sz="730" b="1" spc="15" kern="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Relationships Mapped</a:t>
            </a:r>
            <a:endParaRPr lang="en-US" sz="730" dirty="0"/>
          </a:p>
        </p:txBody>
      </p:sp>
      <p:sp>
        <p:nvSpPr>
          <p:cNvPr id="38" name="Text 33"/>
          <p:cNvSpPr/>
          <p:nvPr/>
        </p:nvSpPr>
        <p:spPr>
          <a:xfrm>
            <a:off x="6220569" y="1731764"/>
            <a:ext cx="2763932" cy="110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68"/>
              </a:lnSpc>
              <a:buNone/>
            </a:pPr>
            <a:r>
              <a:rPr lang="en-US" sz="62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465 unique entities extracted</a:t>
            </a:r>
            <a:endParaRPr lang="en-US" sz="620" dirty="0"/>
          </a:p>
        </p:txBody>
      </p:sp>
      <p:sp>
        <p:nvSpPr>
          <p:cNvPr id="39" name="Text 34"/>
          <p:cNvSpPr/>
          <p:nvPr/>
        </p:nvSpPr>
        <p:spPr>
          <a:xfrm>
            <a:off x="8366823" y="1446312"/>
            <a:ext cx="519407" cy="519410"/>
          </a:xfrm>
          <a:custGeom>
            <a:avLst/>
            <a:gdLst/>
            <a:ahLst/>
            <a:cxnLst/>
            <a:rect l="l" t="t" r="r" b="b"/>
            <a:pathLst>
              <a:path w="519407" h="519410">
                <a:moveTo>
                  <a:pt x="41239" y="519410"/>
                </a:moveTo>
                <a:lnTo>
                  <a:pt x="27212" y="494289"/>
                </a:lnTo>
                <a:lnTo>
                  <a:pt x="15393" y="461258"/>
                </a:lnTo>
                <a:lnTo>
                  <a:pt x="6869" y="427227"/>
                </a:lnTo>
                <a:lnTo>
                  <a:pt x="1721" y="392525"/>
                </a:lnTo>
                <a:lnTo>
                  <a:pt x="0" y="357485"/>
                </a:lnTo>
                <a:lnTo>
                  <a:pt x="1721" y="322445"/>
                </a:lnTo>
                <a:lnTo>
                  <a:pt x="6869" y="287743"/>
                </a:lnTo>
                <a:lnTo>
                  <a:pt x="15393" y="253713"/>
                </a:lnTo>
                <a:lnTo>
                  <a:pt x="27212" y="220682"/>
                </a:lnTo>
                <a:lnTo>
                  <a:pt x="42211" y="188968"/>
                </a:lnTo>
                <a:lnTo>
                  <a:pt x="60247" y="158877"/>
                </a:lnTo>
                <a:lnTo>
                  <a:pt x="81145" y="130699"/>
                </a:lnTo>
                <a:lnTo>
                  <a:pt x="104705" y="104705"/>
                </a:lnTo>
                <a:lnTo>
                  <a:pt x="130699" y="81145"/>
                </a:lnTo>
                <a:lnTo>
                  <a:pt x="158877" y="60247"/>
                </a:lnTo>
                <a:lnTo>
                  <a:pt x="188968" y="42211"/>
                </a:lnTo>
                <a:lnTo>
                  <a:pt x="220682" y="27212"/>
                </a:lnTo>
                <a:lnTo>
                  <a:pt x="253713" y="15393"/>
                </a:lnTo>
                <a:lnTo>
                  <a:pt x="287743" y="6869"/>
                </a:lnTo>
                <a:lnTo>
                  <a:pt x="322445" y="1721"/>
                </a:lnTo>
                <a:lnTo>
                  <a:pt x="357485" y="0"/>
                </a:lnTo>
                <a:lnTo>
                  <a:pt x="392525" y="1721"/>
                </a:lnTo>
                <a:lnTo>
                  <a:pt x="427227" y="6869"/>
                </a:lnTo>
                <a:lnTo>
                  <a:pt x="461258" y="15393"/>
                </a:lnTo>
                <a:lnTo>
                  <a:pt x="494289" y="27212"/>
                </a:lnTo>
                <a:lnTo>
                  <a:pt x="519407" y="41239"/>
                </a:lnTo>
                <a:lnTo>
                  <a:pt x="519407" y="419080"/>
                </a:lnTo>
                <a:lnTo>
                  <a:pt x="517479" y="438654"/>
                </a:lnTo>
                <a:lnTo>
                  <a:pt x="511769" y="457475"/>
                </a:lnTo>
                <a:lnTo>
                  <a:pt x="502498" y="474821"/>
                </a:lnTo>
                <a:lnTo>
                  <a:pt x="490021" y="490024"/>
                </a:lnTo>
                <a:lnTo>
                  <a:pt x="474817" y="502502"/>
                </a:lnTo>
                <a:lnTo>
                  <a:pt x="457471" y="511773"/>
                </a:lnTo>
                <a:lnTo>
                  <a:pt x="438650" y="517482"/>
                </a:lnTo>
                <a:lnTo>
                  <a:pt x="419077" y="519410"/>
                </a:lnTo>
                <a:close/>
              </a:path>
            </a:pathLst>
          </a:custGeom>
          <a:solidFill>
            <a:srgbClr val="06B6D4">
              <a:alpha val="6000"/>
            </a:srgbClr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257770" y="2036713"/>
            <a:ext cx="1390352" cy="766911"/>
          </a:xfrm>
          <a:prstGeom prst="roundRect">
            <a:avLst>
              <a:gd name="adj" fmla="val 9274"/>
            </a:avLst>
          </a:prstGeom>
          <a:gradFill rotWithShape="1">
            <a:gsLst>
              <a:gs pos="0">
                <a:srgbClr val="13132B"/>
              </a:gs>
              <a:gs pos="100000">
                <a:srgbClr val="0D0D1F"/>
              </a:gs>
            </a:gsLst>
            <a:lin ang="3600000" scaled="1"/>
          </a:gradFill>
          <a:ln w="9525">
            <a:solidFill>
              <a:srgbClr val="8B5CF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367605" y="2323654"/>
            <a:ext cx="55035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C4B5F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182</a:t>
            </a:r>
            <a:endParaRPr lang="en-US" sz="1580" dirty="0"/>
          </a:p>
        </p:txBody>
      </p:sp>
      <p:sp>
        <p:nvSpPr>
          <p:cNvPr id="42" name="Text 37"/>
          <p:cNvSpPr/>
          <p:nvPr/>
        </p:nvSpPr>
        <p:spPr>
          <a:xfrm>
            <a:off x="968276" y="2124968"/>
            <a:ext cx="581412" cy="225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en-US" sz="65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Sections</a:t>
            </a:r>
            <a:endParaRPr lang="en-US" sz="650" dirty="0"/>
          </a:p>
        </p:txBody>
      </p:sp>
      <p:sp>
        <p:nvSpPr>
          <p:cNvPr id="43" name="Text 38"/>
          <p:cNvSpPr/>
          <p:nvPr/>
        </p:nvSpPr>
        <p:spPr>
          <a:xfrm>
            <a:off x="968276" y="2353419"/>
            <a:ext cx="581412" cy="38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8"/>
              </a:lnSpc>
              <a:buNone/>
            </a:pPr>
            <a:r>
              <a:rPr lang="en-US" sz="5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· Semantic indexing complete</a:t>
            </a:r>
            <a:endParaRPr lang="en-US" sz="560" dirty="0"/>
          </a:p>
        </p:txBody>
      </p:sp>
      <p:sp>
        <p:nvSpPr>
          <p:cNvPr id="44" name="Text 39"/>
          <p:cNvSpPr/>
          <p:nvPr/>
        </p:nvSpPr>
        <p:spPr>
          <a:xfrm>
            <a:off x="1705273" y="2036713"/>
            <a:ext cx="1390501" cy="766911"/>
          </a:xfrm>
          <a:prstGeom prst="roundRect">
            <a:avLst>
              <a:gd name="adj" fmla="val 9274"/>
            </a:avLst>
          </a:prstGeom>
          <a:gradFill rotWithShape="1">
            <a:gsLst>
              <a:gs pos="0">
                <a:srgbClr val="13132B"/>
              </a:gs>
              <a:gs pos="100000">
                <a:srgbClr val="0D0D1F"/>
              </a:gs>
            </a:gsLst>
            <a:lin ang="3600000" scaled="1"/>
          </a:gradFill>
          <a:ln w="9525">
            <a:solidFill>
              <a:srgbClr val="8B5CF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1815108" y="2323654"/>
            <a:ext cx="55035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67E8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62</a:t>
            </a:r>
            <a:endParaRPr lang="en-US" sz="1580" dirty="0"/>
          </a:p>
        </p:txBody>
      </p:sp>
      <p:sp>
        <p:nvSpPr>
          <p:cNvPr id="46" name="Text 41"/>
          <p:cNvSpPr/>
          <p:nvPr/>
        </p:nvSpPr>
        <p:spPr>
          <a:xfrm>
            <a:off x="2415778" y="2217390"/>
            <a:ext cx="581564" cy="225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en-US" sz="65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Crawled</a:t>
            </a:r>
            <a:endParaRPr lang="en-US" sz="650" dirty="0"/>
          </a:p>
        </p:txBody>
      </p:sp>
      <p:sp>
        <p:nvSpPr>
          <p:cNvPr id="47" name="Text 42"/>
          <p:cNvSpPr/>
          <p:nvPr/>
        </p:nvSpPr>
        <p:spPr>
          <a:xfrm>
            <a:off x="2415778" y="2445841"/>
            <a:ext cx="581564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8"/>
              </a:lnSpc>
              <a:buNone/>
            </a:pPr>
            <a:r>
              <a:rPr lang="en-US" sz="5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51m 34s · 62 of 62 fetched</a:t>
            </a:r>
            <a:endParaRPr lang="en-US" sz="560" dirty="0"/>
          </a:p>
        </p:txBody>
      </p:sp>
      <p:sp>
        <p:nvSpPr>
          <p:cNvPr id="48" name="Text 43"/>
          <p:cNvSpPr/>
          <p:nvPr/>
        </p:nvSpPr>
        <p:spPr>
          <a:xfrm>
            <a:off x="3152924" y="2036713"/>
            <a:ext cx="1390501" cy="766911"/>
          </a:xfrm>
          <a:prstGeom prst="roundRect">
            <a:avLst>
              <a:gd name="adj" fmla="val 9274"/>
            </a:avLst>
          </a:prstGeom>
          <a:gradFill rotWithShape="1">
            <a:gsLst>
              <a:gs pos="0">
                <a:srgbClr val="13132B"/>
              </a:gs>
              <a:gs pos="100000">
                <a:srgbClr val="0D0D1F"/>
              </a:gs>
            </a:gsLst>
            <a:lin ang="3600000" scaled="1"/>
          </a:gradFill>
          <a:ln w="9525">
            <a:solidFill>
              <a:srgbClr val="8B5CF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4"/>
          <p:cNvSpPr/>
          <p:nvPr/>
        </p:nvSpPr>
        <p:spPr>
          <a:xfrm>
            <a:off x="3262759" y="2323654"/>
            <a:ext cx="550355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80"/>
              </a:lnSpc>
              <a:buNone/>
            </a:pPr>
            <a:r>
              <a:rPr lang="en-US" sz="1580" b="1" dirty="0">
                <a:solidFill>
                  <a:srgbClr val="FCD34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753</a:t>
            </a:r>
            <a:endParaRPr lang="en-US" sz="1580" dirty="0"/>
          </a:p>
        </p:txBody>
      </p:sp>
      <p:sp>
        <p:nvSpPr>
          <p:cNvPr id="50" name="Text 45"/>
          <p:cNvSpPr/>
          <p:nvPr/>
        </p:nvSpPr>
        <p:spPr>
          <a:xfrm>
            <a:off x="3863429" y="2270968"/>
            <a:ext cx="62717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en-US" sz="65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Links</a:t>
            </a:r>
            <a:endParaRPr lang="en-US" sz="650" dirty="0"/>
          </a:p>
        </p:txBody>
      </p:sp>
      <p:sp>
        <p:nvSpPr>
          <p:cNvPr id="51" name="Text 46"/>
          <p:cNvSpPr/>
          <p:nvPr/>
        </p:nvSpPr>
        <p:spPr>
          <a:xfrm>
            <a:off x="3863429" y="2392114"/>
            <a:ext cx="581564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8"/>
              </a:lnSpc>
              <a:buNone/>
            </a:pPr>
            <a:r>
              <a:rPr lang="en-US" sz="5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Inventoried · 66 external links</a:t>
            </a:r>
            <a:endParaRPr lang="en-US" sz="560" dirty="0"/>
          </a:p>
        </p:txBody>
      </p:sp>
      <p:sp>
        <p:nvSpPr>
          <p:cNvPr id="52" name="Text 47"/>
          <p:cNvSpPr/>
          <p:nvPr/>
        </p:nvSpPr>
        <p:spPr>
          <a:xfrm>
            <a:off x="4600575" y="2036713"/>
            <a:ext cx="1390352" cy="766911"/>
          </a:xfrm>
          <a:prstGeom prst="roundRect">
            <a:avLst>
              <a:gd name="adj" fmla="val 9274"/>
            </a:avLst>
          </a:prstGeom>
          <a:gradFill rotWithShape="1">
            <a:gsLst>
              <a:gs pos="0">
                <a:srgbClr val="13132B"/>
              </a:gs>
              <a:gs pos="100000">
                <a:srgbClr val="0D0D1F"/>
              </a:gs>
            </a:gsLst>
            <a:lin ang="3600000" scaled="1"/>
          </a:gradFill>
          <a:ln w="9525">
            <a:solidFill>
              <a:srgbClr val="8B5CF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8"/>
          <p:cNvSpPr/>
          <p:nvPr/>
        </p:nvSpPr>
        <p:spPr>
          <a:xfrm>
            <a:off x="4710410" y="2345234"/>
            <a:ext cx="56578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240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</a:t>
            </a:r>
            <a:pPr algn="l" indent="0" marL="0">
              <a:lnSpc>
                <a:spcPts val="1240"/>
              </a:lnSpc>
              <a:buNone/>
            </a:pPr>
            <a:r>
              <a:rPr lang="en-US" sz="730" b="1" dirty="0">
                <a:solidFill>
                  <a:srgbClr val="9090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/100</a:t>
            </a:r>
            <a:endParaRPr lang="en-US" sz="1240" dirty="0"/>
          </a:p>
        </p:txBody>
      </p:sp>
      <p:sp>
        <p:nvSpPr>
          <p:cNvPr id="54" name="Text 49"/>
          <p:cNvSpPr/>
          <p:nvPr/>
        </p:nvSpPr>
        <p:spPr>
          <a:xfrm>
            <a:off x="5311080" y="2217390"/>
            <a:ext cx="581412" cy="225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en-US" sz="65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Score</a:t>
            </a:r>
            <a:endParaRPr lang="en-US" sz="650" dirty="0"/>
          </a:p>
        </p:txBody>
      </p:sp>
      <p:sp>
        <p:nvSpPr>
          <p:cNvPr id="55" name="Text 50"/>
          <p:cNvSpPr/>
          <p:nvPr/>
        </p:nvSpPr>
        <p:spPr>
          <a:xfrm>
            <a:off x="5311080" y="2445841"/>
            <a:ext cx="581412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8"/>
              </a:lnSpc>
              <a:buNone/>
            </a:pPr>
            <a:r>
              <a:rPr lang="en-US" sz="5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#29 · Perfect score</a:t>
            </a:r>
            <a:endParaRPr lang="en-US" sz="560" dirty="0"/>
          </a:p>
        </p:txBody>
      </p:sp>
      <p:sp>
        <p:nvSpPr>
          <p:cNvPr id="56" name="Text 51"/>
          <p:cNvSpPr/>
          <p:nvPr/>
        </p:nvSpPr>
        <p:spPr>
          <a:xfrm>
            <a:off x="6048077" y="2036713"/>
            <a:ext cx="1390501" cy="766911"/>
          </a:xfrm>
          <a:prstGeom prst="roundRect">
            <a:avLst>
              <a:gd name="adj" fmla="val 9274"/>
            </a:avLst>
          </a:prstGeom>
          <a:gradFill rotWithShape="1">
            <a:gsLst>
              <a:gs pos="0">
                <a:srgbClr val="13132B"/>
              </a:gs>
              <a:gs pos="100000">
                <a:srgbClr val="0D0D1F"/>
              </a:gs>
            </a:gsLst>
            <a:lin ang="3600000" scaled="1"/>
          </a:gradFill>
          <a:ln w="9525">
            <a:solidFill>
              <a:srgbClr val="8B5CF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2"/>
          <p:cNvSpPr/>
          <p:nvPr/>
        </p:nvSpPr>
        <p:spPr>
          <a:xfrm>
            <a:off x="6157913" y="2345234"/>
            <a:ext cx="56578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240" dirty="0">
                <a:solidFill>
                  <a:srgbClr val="A7F3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96</a:t>
            </a:r>
            <a:pPr algn="l" indent="0" marL="0">
              <a:lnSpc>
                <a:spcPts val="1240"/>
              </a:lnSpc>
              <a:buNone/>
            </a:pPr>
            <a:r>
              <a:rPr lang="en-US" sz="730" b="1" dirty="0">
                <a:solidFill>
                  <a:srgbClr val="9090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/100</a:t>
            </a:r>
            <a:endParaRPr lang="en-US" sz="1240" dirty="0"/>
          </a:p>
        </p:txBody>
      </p:sp>
      <p:sp>
        <p:nvSpPr>
          <p:cNvPr id="58" name="Text 53"/>
          <p:cNvSpPr/>
          <p:nvPr/>
        </p:nvSpPr>
        <p:spPr>
          <a:xfrm>
            <a:off x="6758583" y="2217390"/>
            <a:ext cx="581564" cy="225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en-US" sz="65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Score</a:t>
            </a:r>
            <a:endParaRPr lang="en-US" sz="650" dirty="0"/>
          </a:p>
        </p:txBody>
      </p:sp>
      <p:sp>
        <p:nvSpPr>
          <p:cNvPr id="59" name="Text 54"/>
          <p:cNvSpPr/>
          <p:nvPr/>
        </p:nvSpPr>
        <p:spPr>
          <a:xfrm>
            <a:off x="6758583" y="2445841"/>
            <a:ext cx="581564" cy="194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8"/>
              </a:lnSpc>
              <a:buNone/>
            </a:pPr>
            <a:r>
              <a:rPr lang="en-US" sz="5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#29 · Top-tier infrastructure</a:t>
            </a:r>
            <a:endParaRPr lang="en-US" sz="560" dirty="0"/>
          </a:p>
        </p:txBody>
      </p:sp>
      <p:sp>
        <p:nvSpPr>
          <p:cNvPr id="60" name="Text 55"/>
          <p:cNvSpPr/>
          <p:nvPr/>
        </p:nvSpPr>
        <p:spPr>
          <a:xfrm>
            <a:off x="7495729" y="2036713"/>
            <a:ext cx="1390501" cy="766911"/>
          </a:xfrm>
          <a:prstGeom prst="roundRect">
            <a:avLst>
              <a:gd name="adj" fmla="val 9274"/>
            </a:avLst>
          </a:prstGeom>
          <a:gradFill rotWithShape="1">
            <a:gsLst>
              <a:gs pos="0">
                <a:srgbClr val="13132B"/>
              </a:gs>
              <a:gs pos="100000">
                <a:srgbClr val="0D0D1F"/>
              </a:gs>
            </a:gsLst>
            <a:lin ang="3600000" scaled="1"/>
          </a:gradFill>
          <a:ln w="9525">
            <a:solidFill>
              <a:srgbClr val="8B5CF6">
                <a:alpha val="1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6"/>
          <p:cNvSpPr/>
          <p:nvPr/>
        </p:nvSpPr>
        <p:spPr>
          <a:xfrm>
            <a:off x="7605564" y="2345234"/>
            <a:ext cx="56578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240" dirty="0">
                <a:solidFill>
                  <a:srgbClr val="7DD3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95</a:t>
            </a:r>
            <a:pPr algn="l" indent="0" marL="0">
              <a:lnSpc>
                <a:spcPts val="1240"/>
              </a:lnSpc>
              <a:buNone/>
            </a:pPr>
            <a:r>
              <a:rPr lang="en-US" sz="730" b="1" dirty="0">
                <a:solidFill>
                  <a:srgbClr val="9090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/100</a:t>
            </a:r>
            <a:endParaRPr lang="en-US" sz="1240" dirty="0"/>
          </a:p>
        </p:txBody>
      </p:sp>
      <p:sp>
        <p:nvSpPr>
          <p:cNvPr id="62" name="Text 57"/>
          <p:cNvSpPr/>
          <p:nvPr/>
        </p:nvSpPr>
        <p:spPr>
          <a:xfrm>
            <a:off x="8206234" y="2224832"/>
            <a:ext cx="627177" cy="10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en-US" sz="650" b="1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Score</a:t>
            </a:r>
            <a:endParaRPr lang="en-US" sz="650" dirty="0"/>
          </a:p>
        </p:txBody>
      </p:sp>
      <p:sp>
        <p:nvSpPr>
          <p:cNvPr id="63" name="Text 58"/>
          <p:cNvSpPr/>
          <p:nvPr/>
        </p:nvSpPr>
        <p:spPr>
          <a:xfrm>
            <a:off x="8206234" y="2345978"/>
            <a:ext cx="581564" cy="29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8"/>
              </a:lnSpc>
              <a:buNone/>
            </a:pPr>
            <a:r>
              <a:rPr lang="en-US" sz="56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#29 · Full responsive coverage</a:t>
            </a:r>
            <a:endParaRPr lang="en-US" sz="560" dirty="0"/>
          </a:p>
        </p:txBody>
      </p:sp>
      <p:sp>
        <p:nvSpPr>
          <p:cNvPr id="64" name="Text 59"/>
          <p:cNvSpPr/>
          <p:nvPr/>
        </p:nvSpPr>
        <p:spPr>
          <a:xfrm>
            <a:off x="257770" y="2874615"/>
            <a:ext cx="8628459" cy="418802"/>
          </a:xfrm>
          <a:prstGeom prst="roundRect">
            <a:avLst>
              <a:gd name="adj" fmla="val 16982"/>
            </a:avLst>
          </a:prstGeom>
          <a:gradFill rotWithShape="1">
            <a:gsLst>
              <a:gs pos="0">
                <a:srgbClr val="8B5CF6">
                  <a:alpha val="8000"/>
                </a:srgbClr>
              </a:gs>
              <a:gs pos="100000">
                <a:srgbClr val="0D0D22">
                  <a:alpha val="95000"/>
                </a:srgbClr>
              </a:gs>
            </a:gsLst>
            <a:lin ang="2700000" scaled="1"/>
          </a:gradFill>
          <a:ln w="9525">
            <a:solidFill>
              <a:srgbClr val="8B5CF6">
                <a:alpha val="4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0"/>
          <p:cNvSpPr/>
          <p:nvPr/>
        </p:nvSpPr>
        <p:spPr>
          <a:xfrm>
            <a:off x="381595" y="3019127"/>
            <a:ext cx="1148923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spc="7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Pointer Map Status:</a:t>
            </a:r>
            <a:endParaRPr lang="en-US" sz="680" dirty="0"/>
          </a:p>
        </p:txBody>
      </p:sp>
      <p:sp>
        <p:nvSpPr>
          <p:cNvPr id="66" name="Text 61"/>
          <p:cNvSpPr/>
          <p:nvPr/>
        </p:nvSpPr>
        <p:spPr>
          <a:xfrm>
            <a:off x="1497062" y="2991892"/>
            <a:ext cx="1179978" cy="184100"/>
          </a:xfrm>
          <a:prstGeom prst="roundRect">
            <a:avLst>
              <a:gd name="adj" fmla="val 23455"/>
            </a:avLst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30000"/>
              </a:srgbClr>
            </a:solidFill>
          </a:ln>
        </p:spPr>
        <p:txBody>
          <a:bodyPr wrap="none" lIns="64770" tIns="29210" rIns="64770" bIns="2921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22" kern="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COMPLETE</a:t>
            </a:r>
            <a:endParaRPr lang="en-US" sz="560" dirty="0"/>
          </a:p>
        </p:txBody>
      </p:sp>
      <p:sp>
        <p:nvSpPr>
          <p:cNvPr id="67" name="Text 62"/>
          <p:cNvSpPr/>
          <p:nvPr/>
        </p:nvSpPr>
        <p:spPr>
          <a:xfrm>
            <a:off x="2724894" y="2991892"/>
            <a:ext cx="2025378" cy="184100"/>
          </a:xfrm>
          <a:prstGeom prst="roundRect">
            <a:avLst>
              <a:gd name="adj" fmla="val 23455"/>
            </a:avLst>
          </a:prstGeom>
          <a:solidFill>
            <a:srgbClr val="F59E0B">
              <a:alpha val="18000"/>
            </a:srgbClr>
          </a:solidFill>
          <a:ln w="9525">
            <a:solidFill>
              <a:srgbClr val="F59E0B">
                <a:alpha val="30000"/>
              </a:srgbClr>
            </a:solidFill>
          </a:ln>
        </p:spPr>
        <p:txBody>
          <a:bodyPr wrap="none" lIns="64770" tIns="29210" rIns="64770" bIns="2921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22" kern="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VERIFICATION: 143 STABLE TARGETS</a:t>
            </a:r>
            <a:endParaRPr lang="en-US" sz="560" dirty="0"/>
          </a:p>
        </p:txBody>
      </p:sp>
      <p:sp>
        <p:nvSpPr>
          <p:cNvPr id="68" name="Text 63"/>
          <p:cNvSpPr/>
          <p:nvPr/>
        </p:nvSpPr>
        <p:spPr>
          <a:xfrm>
            <a:off x="4781550" y="2991892"/>
            <a:ext cx="3086037" cy="184100"/>
          </a:xfrm>
          <a:prstGeom prst="roundRect">
            <a:avLst>
              <a:gd name="adj" fmla="val 23455"/>
            </a:avLst>
          </a:prstGeom>
          <a:solidFill>
            <a:srgbClr val="EF4444">
              <a:alpha val="18000"/>
            </a:srgbClr>
          </a:solidFill>
          <a:ln w="9525">
            <a:solidFill>
              <a:srgbClr val="EF4444">
                <a:alpha val="30000"/>
              </a:srgbClr>
            </a:solidFill>
          </a:ln>
        </p:spPr>
        <p:txBody>
          <a:bodyPr wrap="none" lIns="64770" tIns="29210" rIns="64770" bIns="2921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22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REQUIRED: 462 ROUTE+LOCATOR CONFLICTS — AS DESIGNED</a:t>
            </a:r>
            <a:endParaRPr lang="en-US" sz="560" dirty="0"/>
          </a:p>
        </p:txBody>
      </p:sp>
      <p:sp>
        <p:nvSpPr>
          <p:cNvPr id="69" name="Text 64"/>
          <p:cNvSpPr/>
          <p:nvPr/>
        </p:nvSpPr>
        <p:spPr>
          <a:xfrm>
            <a:off x="7950547" y="2955131"/>
            <a:ext cx="7590" cy="257770"/>
          </a:xfrm>
          <a:prstGeom prst="rect">
            <a:avLst/>
          </a:prstGeom>
          <a:solidFill>
            <a:srgbClr val="8B5CF6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5"/>
          <p:cNvSpPr/>
          <p:nvPr/>
        </p:nvSpPr>
        <p:spPr>
          <a:xfrm>
            <a:off x="8101608" y="2969865"/>
            <a:ext cx="2623185" cy="2397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899"/>
              </a:lnSpc>
              <a:buNone/>
            </a:pPr>
            <a:r>
              <a:rPr lang="en-US" sz="620" i="1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is a feature, not a bug. ORB Weaver surfaces pointer recovery needs before runtime — preventing silent AI failures.</a:t>
            </a:r>
            <a:endParaRPr lang="en-US" sz="620" dirty="0"/>
          </a:p>
        </p:txBody>
      </p:sp>
      <p:sp>
        <p:nvSpPr>
          <p:cNvPr id="71" name="Text 66"/>
          <p:cNvSpPr/>
          <p:nvPr/>
        </p:nvSpPr>
        <p:spPr>
          <a:xfrm>
            <a:off x="-173653" y="3364409"/>
            <a:ext cx="9491305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95"/>
              </a:lnSpc>
              <a:buNone/>
            </a:pPr>
            <a:r>
              <a:rPr lang="en-US" sz="530" spc="11" kern="0" dirty="0">
                <a:solidFill>
                  <a:srgbClr val="6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Live production data from Crawl Job #55 and Audit #29  ·  orbweaver.spruked.com  ·  August 20, 2026  ·  Pro Prime Series instance  ·  All figures verified at scan time.</a:t>
            </a:r>
            <a:endParaRPr lang="en-US" sz="5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7C3AED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86030" y="0"/>
            <a:ext cx="1857970" cy="1857970"/>
          </a:xfrm>
          <a:prstGeom prst="ellipse">
            <a:avLst/>
          </a:prstGeom>
          <a:gradFill rotWithShape="1">
            <a:gsLst>
              <a:gs pos="0">
                <a:srgbClr val="8B5CF6">
                  <a:alpha val="15000"/>
                </a:srgbClr>
              </a:gs>
              <a:gs pos="60000">
                <a:srgbClr val="A78BFA">
                  <a:alpha val="5000"/>
                </a:srgbClr>
              </a:gs>
              <a:gs pos="8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4316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60000">
                <a:srgbClr val="A78BFA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2070" y="1117550"/>
            <a:ext cx="273397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4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OUTPUT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372070" y="1306562"/>
            <a:ext cx="2535138" cy="1053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5"/>
              </a:lnSpc>
              <a:spcAft>
                <a:spcPts val="680"/>
              </a:spcAft>
              <a:buNone/>
            </a:pPr>
            <a:r>
              <a:rPr lang="en-US" sz="1580" dirty="0">
                <a:solidFill>
                  <a:srgbClr val="1A12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Site World:</a:t>
            </a:r>
            <a:br/>
            <a:pPr algn="l" indent="0" marL="0">
              <a:lnSpc>
                <a:spcPts val="1975"/>
              </a:lnSpc>
              <a:spcAft>
                <a:spcPts val="680"/>
              </a:spcAft>
              <a:buNone/>
            </a:pPr>
            <a:r>
              <a:rPr lang="en-US" sz="1580" b="1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Complete Machine-</a:t>
            </a:r>
            <a:br/>
            <a:pPr algn="l" indent="0" marL="0">
              <a:lnSpc>
                <a:spcPts val="1975"/>
              </a:lnSpc>
              <a:spcAft>
                <a:spcPts val="680"/>
              </a:spcAft>
              <a:buNone/>
            </a:pPr>
            <a:r>
              <a:rPr lang="en-US" sz="1580" b="1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Readable Brain</a:t>
            </a:r>
            <a:br/>
            <a:pPr algn="l" indent="0" marL="0">
              <a:lnSpc>
                <a:spcPts val="1975"/>
              </a:lnSpc>
              <a:spcAft>
                <a:spcPts val="680"/>
              </a:spcAft>
              <a:buNone/>
            </a:pPr>
            <a:r>
              <a:rPr lang="en-US" sz="1580" dirty="0">
                <a:solidFill>
                  <a:srgbClr val="1A12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Any Website.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372070" y="2395984"/>
            <a:ext cx="2535138" cy="452400"/>
          </a:xfrm>
          <a:prstGeom prst="rect">
            <a:avLst/>
          </a:prstGeom>
          <a:noFill/>
          <a:ln/>
        </p:spPr>
        <p:txBody>
          <a:bodyPr wrap="square" lIns="0" tIns="0" rIns="114300" bIns="0" rtlCol="0" anchor="t"/>
          <a:lstStyle/>
          <a:p>
            <a:pPr algn="l" indent="0" marL="0">
              <a:lnSpc>
                <a:spcPts val="1132"/>
              </a:lnSpc>
              <a:spcAft>
                <a:spcPts val="1130"/>
              </a:spcAft>
              <a:buNone/>
            </a:pPr>
            <a:r>
              <a:rPr lang="en-US" sz="73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ORB Weaver scan compiles into a structured, versioned Site World package — ready for immediate AI deployment.</a:t>
            </a:r>
            <a:endParaRPr lang="en-US" sz="730" dirty="0"/>
          </a:p>
        </p:txBody>
      </p:sp>
      <p:sp>
        <p:nvSpPr>
          <p:cNvPr id="9" name="Text 7"/>
          <p:cNvSpPr/>
          <p:nvPr/>
        </p:nvSpPr>
        <p:spPr>
          <a:xfrm>
            <a:off x="372070" y="2970312"/>
            <a:ext cx="2341959" cy="1055489"/>
          </a:xfrm>
          <a:prstGeom prst="roundRect">
            <a:avLst>
              <a:gd name="adj" fmla="val 6738"/>
            </a:avLst>
          </a:prstGeom>
          <a:gradFill rotWithShape="1">
            <a:gsLst>
              <a:gs pos="0">
                <a:srgbClr val="7C3AED"/>
              </a:gs>
              <a:gs pos="100000">
                <a:srgbClr val="5B21B6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6370" y="3062883"/>
            <a:ext cx="2324695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5"/>
              </a:lnSpc>
              <a:buNone/>
            </a:pPr>
            <a:r>
              <a:rPr lang="en-US" sz="530" b="1" spc="100" kern="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ARTIFACTS</a:t>
            </a:r>
            <a:endParaRPr lang="en-US" sz="530" dirty="0"/>
          </a:p>
        </p:txBody>
      </p:sp>
      <p:sp>
        <p:nvSpPr>
          <p:cNvPr id="11" name="Text 9"/>
          <p:cNvSpPr/>
          <p:nvPr/>
        </p:nvSpPr>
        <p:spPr>
          <a:xfrm>
            <a:off x="486370" y="3213199"/>
            <a:ext cx="899071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Site Package</a:t>
            </a:r>
            <a:endParaRPr lang="en-US" sz="560" dirty="0"/>
          </a:p>
        </p:txBody>
      </p:sp>
      <p:sp>
        <p:nvSpPr>
          <p:cNvPr id="12" name="Text 10"/>
          <p:cNvSpPr/>
          <p:nvPr/>
        </p:nvSpPr>
        <p:spPr>
          <a:xfrm>
            <a:off x="1420862" y="3213199"/>
            <a:ext cx="587127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Map</a:t>
            </a:r>
            <a:endParaRPr lang="en-US" sz="560" dirty="0"/>
          </a:p>
        </p:txBody>
      </p:sp>
      <p:sp>
        <p:nvSpPr>
          <p:cNvPr id="13" name="Text 11"/>
          <p:cNvSpPr/>
          <p:nvPr/>
        </p:nvSpPr>
        <p:spPr>
          <a:xfrm>
            <a:off x="486370" y="3402062"/>
            <a:ext cx="560933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Audit</a:t>
            </a:r>
            <a:endParaRPr lang="en-US" sz="560" dirty="0"/>
          </a:p>
        </p:txBody>
      </p:sp>
      <p:sp>
        <p:nvSpPr>
          <p:cNvPr id="14" name="Text 12"/>
          <p:cNvSpPr/>
          <p:nvPr/>
        </p:nvSpPr>
        <p:spPr>
          <a:xfrm>
            <a:off x="1082725" y="3402062"/>
            <a:ext cx="517475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Audit</a:t>
            </a:r>
            <a:endParaRPr lang="en-US" sz="560" dirty="0"/>
          </a:p>
        </p:txBody>
      </p:sp>
      <p:sp>
        <p:nvSpPr>
          <p:cNvPr id="15" name="Text 13"/>
          <p:cNvSpPr/>
          <p:nvPr/>
        </p:nvSpPr>
        <p:spPr>
          <a:xfrm>
            <a:off x="1635621" y="3402062"/>
            <a:ext cx="634603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Audit</a:t>
            </a:r>
            <a:endParaRPr lang="en-US" sz="560" dirty="0"/>
          </a:p>
        </p:txBody>
      </p:sp>
      <p:sp>
        <p:nvSpPr>
          <p:cNvPr id="16" name="Text 14"/>
          <p:cNvSpPr/>
          <p:nvPr/>
        </p:nvSpPr>
        <p:spPr>
          <a:xfrm>
            <a:off x="486370" y="3590925"/>
            <a:ext cx="799058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Intelligence</a:t>
            </a:r>
            <a:endParaRPr lang="en-US" sz="560" dirty="0"/>
          </a:p>
        </p:txBody>
      </p:sp>
      <p:sp>
        <p:nvSpPr>
          <p:cNvPr id="17" name="Text 15"/>
          <p:cNvSpPr/>
          <p:nvPr/>
        </p:nvSpPr>
        <p:spPr>
          <a:xfrm>
            <a:off x="1320850" y="3590925"/>
            <a:ext cx="875258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Deployment Data</a:t>
            </a:r>
            <a:endParaRPr lang="en-US" sz="560" dirty="0"/>
          </a:p>
        </p:txBody>
      </p:sp>
      <p:sp>
        <p:nvSpPr>
          <p:cNvPr id="18" name="Text 16"/>
          <p:cNvSpPr/>
          <p:nvPr/>
        </p:nvSpPr>
        <p:spPr>
          <a:xfrm>
            <a:off x="486370" y="3779788"/>
            <a:ext cx="709613" cy="168786"/>
          </a:xfrm>
          <a:prstGeom prst="roundRect">
            <a:avLst>
              <a:gd name="adj" fmla="val 1730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>
                <a:alpha val="25000"/>
              </a:srgbClr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Update Data</a:t>
            </a:r>
            <a:endParaRPr lang="en-US" sz="560" dirty="0"/>
          </a:p>
        </p:txBody>
      </p:sp>
      <p:sp>
        <p:nvSpPr>
          <p:cNvPr id="19" name="Text 17"/>
          <p:cNvSpPr/>
          <p:nvPr/>
        </p:nvSpPr>
        <p:spPr>
          <a:xfrm>
            <a:off x="2857500" y="143470"/>
            <a:ext cx="7590" cy="4856559"/>
          </a:xfrm>
          <a:prstGeom prst="rect">
            <a:avLst/>
          </a:prstGeom>
          <a:gradFill rotWithShape="1">
            <a:gsLst>
              <a:gs pos="4000">
                <a:srgbClr val="000000">
                  <a:alpha val="0"/>
                </a:srgbClr>
              </a:gs>
              <a:gs pos="20000">
                <a:srgbClr val="DDD6FE"/>
              </a:gs>
              <a:gs pos="80000">
                <a:srgbClr val="DDD6FE"/>
              </a:gs>
              <a:gs pos="96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04406" y="1374577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73918" y="1444088"/>
            <a:ext cx="132588" cy="13258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476476" y="1366986"/>
            <a:ext cx="582499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60" b="1" dirty="0">
                <a:solidFill>
                  <a:srgbClr val="1A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Knowledge Graph</a:t>
            </a:r>
            <a:endParaRPr lang="en-US" sz="760" dirty="0"/>
          </a:p>
        </p:txBody>
      </p:sp>
      <p:sp>
        <p:nvSpPr>
          <p:cNvPr id="23" name="Text 20"/>
          <p:cNvSpPr/>
          <p:nvPr/>
        </p:nvSpPr>
        <p:spPr>
          <a:xfrm>
            <a:off x="3476476" y="1496616"/>
            <a:ext cx="5401363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page-to-page, product-to-page, service-to-page, FAQ-to-page &amp; control-to-workflow relationship mapping. Site terminology, synonyms, aliases, and visitor-language alias mapping included.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3104406" y="1899345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73918" y="1968856"/>
            <a:ext cx="132588" cy="1325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476476" y="1891754"/>
            <a:ext cx="582499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60" b="1" dirty="0">
                <a:solidFill>
                  <a:srgbClr val="1A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Capsule Set</a:t>
            </a:r>
            <a:endParaRPr lang="en-US" sz="760" dirty="0"/>
          </a:p>
        </p:txBody>
      </p:sp>
      <p:sp>
        <p:nvSpPr>
          <p:cNvPr id="27" name="Text 23"/>
          <p:cNvSpPr/>
          <p:nvPr/>
        </p:nvSpPr>
        <p:spPr>
          <a:xfrm>
            <a:off x="3476476" y="2021384"/>
            <a:ext cx="5401363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page, section, control, product, service &amp; workflow capsules — one structured data unit per site element, forming a complete machine-readable anatomy.</a:t>
            </a:r>
            <a:endParaRPr lang="en-US" sz="650" dirty="0"/>
          </a:p>
        </p:txBody>
      </p:sp>
      <p:sp>
        <p:nvSpPr>
          <p:cNvPr id="28" name="Text 24"/>
          <p:cNvSpPr/>
          <p:nvPr/>
        </p:nvSpPr>
        <p:spPr>
          <a:xfrm>
            <a:off x="3104406" y="2424113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73918" y="2493624"/>
            <a:ext cx="132588" cy="1325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476476" y="2416522"/>
            <a:ext cx="582499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60" b="1" dirty="0">
                <a:solidFill>
                  <a:srgbClr val="1A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and Capability Mapping</a:t>
            </a:r>
            <a:endParaRPr lang="en-US" sz="760" dirty="0"/>
          </a:p>
        </p:txBody>
      </p:sp>
      <p:sp>
        <p:nvSpPr>
          <p:cNvPr id="31" name="Text 26"/>
          <p:cNvSpPr/>
          <p:nvPr/>
        </p:nvSpPr>
        <p:spPr>
          <a:xfrm>
            <a:off x="3476476" y="2546152"/>
            <a:ext cx="5401363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Intent-to-page, intent-to-section, intent-to-control &amp; intent-to-workflow maps. Tool-to-capability, capability-to-route &amp; capability-to-control binding. Stage mapping &amp; Stage Governor input generation.</a:t>
            </a:r>
            <a:endParaRPr lang="en-US" sz="650" dirty="0"/>
          </a:p>
        </p:txBody>
      </p:sp>
      <p:sp>
        <p:nvSpPr>
          <p:cNvPr id="32" name="Text 27"/>
          <p:cNvSpPr/>
          <p:nvPr/>
        </p:nvSpPr>
        <p:spPr>
          <a:xfrm>
            <a:off x="3104406" y="2948880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73918" y="3018392"/>
            <a:ext cx="132588" cy="132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476476" y="2941290"/>
            <a:ext cx="582499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60" b="1" dirty="0">
                <a:solidFill>
                  <a:srgbClr val="1A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Configuration Artifacts</a:t>
            </a:r>
            <a:endParaRPr lang="en-US" sz="760" dirty="0"/>
          </a:p>
        </p:txBody>
      </p:sp>
      <p:sp>
        <p:nvSpPr>
          <p:cNvPr id="35" name="Text 29"/>
          <p:cNvSpPr/>
          <p:nvPr/>
        </p:nvSpPr>
        <p:spPr>
          <a:xfrm>
            <a:off x="3476476" y="3070920"/>
            <a:ext cx="5401363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site-specific ORB knowledge, tool configuration, pointer configuration, navigation configuration, workflow configuration, articulation context &amp; ORB capability snapshot.</a:t>
            </a:r>
            <a:endParaRPr lang="en-US" sz="650" dirty="0"/>
          </a:p>
        </p:txBody>
      </p:sp>
      <p:sp>
        <p:nvSpPr>
          <p:cNvPr id="36" name="Text 30"/>
          <p:cNvSpPr/>
          <p:nvPr/>
        </p:nvSpPr>
        <p:spPr>
          <a:xfrm>
            <a:off x="3104406" y="3473648"/>
            <a:ext cx="271760" cy="271760"/>
          </a:xfrm>
          <a:prstGeom prst="roundRect">
            <a:avLst>
              <a:gd name="adj" fmla="val 2617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73918" y="3543160"/>
            <a:ext cx="132588" cy="13258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476476" y="3466058"/>
            <a:ext cx="5824999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12"/>
              </a:lnSpc>
              <a:buNone/>
            </a:pPr>
            <a:r>
              <a:rPr lang="en-US" sz="760" b="1" dirty="0">
                <a:solidFill>
                  <a:srgbClr val="1A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and Scan Management</a:t>
            </a:r>
            <a:endParaRPr lang="en-US" sz="760" dirty="0"/>
          </a:p>
        </p:txBody>
      </p:sp>
      <p:sp>
        <p:nvSpPr>
          <p:cNvPr id="39" name="Text 32"/>
          <p:cNvSpPr/>
          <p:nvPr/>
        </p:nvSpPr>
        <p:spPr>
          <a:xfrm>
            <a:off x="3476476" y="3595688"/>
            <a:ext cx="5401363" cy="251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5B4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timestamping, version tracking, provenance tracking, confidence scoring, result validation, deduplication, normalization, indexing, persistence &amp; full audit logging.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714500" y="0"/>
            <a:ext cx="5715000" cy="1286470"/>
          </a:xfrm>
          <a:prstGeom prst="rect">
            <a:avLst/>
          </a:prstGeom>
          <a:gradFill rotWithShape="1">
            <a:gsLst>
              <a:gs pos="0">
                <a:srgbClr val="8B5CF6">
                  <a:alpha val="1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36356" y="2468086"/>
            <a:ext cx="70991" cy="7099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14300" dist="50800" dir="16200000">
              <a:srgbClr val="8b5cf6">
                <a:alpha val="9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252710"/>
            <a:ext cx="143470" cy="13841"/>
          </a:xfrm>
          <a:prstGeom prst="roundRect">
            <a:avLst>
              <a:gd name="adj" fmla="val 100932"/>
            </a:avLst>
          </a:prstGeom>
          <a:solidFill>
            <a:srgbClr val="8B5CF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0670" y="200620"/>
            <a:ext cx="138810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spc="17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POINTER SYSTEM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400050" y="361801"/>
            <a:ext cx="892797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3"/>
              </a:lnSpc>
              <a:spcAft>
                <a:spcPts val="230"/>
              </a:spcAft>
              <a:buNone/>
            </a:pPr>
            <a:r>
              <a:rPr lang="en-US" sz="169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Precision Targeting for </a:t>
            </a:r>
            <a:pPr algn="l" indent="0" marL="0">
              <a:lnSpc>
                <a:spcPts val="1943"/>
              </a:lnSpc>
              <a:spcAft>
                <a:spcPts val="230"/>
              </a:spcAft>
              <a:buNone/>
            </a:pPr>
            <a:r>
              <a:rPr lang="en-US" sz="169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Navigation.</a:t>
            </a:r>
            <a:endParaRPr lang="en-US" sz="1690" dirty="0"/>
          </a:p>
        </p:txBody>
      </p:sp>
      <p:sp>
        <p:nvSpPr>
          <p:cNvPr id="9" name="Text 7"/>
          <p:cNvSpPr/>
          <p:nvPr/>
        </p:nvSpPr>
        <p:spPr>
          <a:xfrm>
            <a:off x="400050" y="637729"/>
            <a:ext cx="6444317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builds the world's only automated pointer intelligence layer for websites — making AI interaction exact.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400050" y="1181398"/>
            <a:ext cx="3936355" cy="9525"/>
          </a:xfrm>
          <a:prstGeom prst="rect">
            <a:avLst/>
          </a:prstGeom>
          <a:solidFill>
            <a:srgbClr val="8B5CF6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881807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4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8056" y="929813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9641" y="935980"/>
            <a:ext cx="1846496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48"/>
              </a:lnSpc>
              <a:buNone/>
            </a:pPr>
            <a:r>
              <a:rPr lang="en-US" sz="790" b="1" spc="20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the Pointer System Collects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549771" y="1326654"/>
            <a:ext cx="2292935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bounding-box and screen-position collection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57200" y="1355824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49771" y="1560463"/>
            <a:ext cx="2379375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Pointer-target extraction from every interactive element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57200" y="1589633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49771" y="1794272"/>
            <a:ext cx="2537356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Pointer-anchor generation and pointer-manifest generation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57200" y="1823442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49771" y="2028081"/>
            <a:ext cx="2184068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plot-map generation for full visual targeting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57200" y="2057251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49771" y="2261890"/>
            <a:ext cx="2504450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Pointer-target alias generation (multiple names per target)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57200" y="2291060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49771" y="2495699"/>
            <a:ext cx="2738065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Target-to-route, target-to-section, and target-to-control mapping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57200" y="2524869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49771" y="2729508"/>
            <a:ext cx="1792798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Scroll-target and viewport-target mapping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57200" y="2758678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49771" y="2963317"/>
            <a:ext cx="1499428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and sticky element detection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57200" y="2992487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49771" y="3197126"/>
            <a:ext cx="2127915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Overlay, z-order, and depth relationship detection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457200" y="3226296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49771" y="3430935"/>
            <a:ext cx="2010207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anchor collection and ARIA-label binding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57200" y="3460105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565005" y="952798"/>
            <a:ext cx="13841" cy="3101578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8B5CF6">
                  <a:alpha val="60000"/>
                </a:srgbClr>
              </a:gs>
              <a:gs pos="40000">
                <a:srgbClr val="8B5CF6"/>
              </a:gs>
              <a:gs pos="60000">
                <a:srgbClr val="8B5CF6"/>
              </a:gs>
              <a:gs pos="85000">
                <a:srgbClr val="8B5CF6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  <a:effectLst>
            <a:outerShdw sx="100000" sy="100000" kx="0" ky="0" algn="bl" rotWithShape="0" blurRad="86360" dist="50800" dir="16200000">
              <a:srgbClr val="8b5cf6">
                <a:alpha val="6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4807446" y="1181398"/>
            <a:ext cx="3936504" cy="9525"/>
          </a:xfrm>
          <a:prstGeom prst="rect">
            <a:avLst/>
          </a:prstGeom>
          <a:solidFill>
            <a:srgbClr val="8B5CF6">
              <a:alpha val="2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807446" y="881807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4000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55452" y="929813"/>
            <a:ext cx="132588" cy="13258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5107037" y="935980"/>
            <a:ext cx="1780356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48"/>
              </a:lnSpc>
              <a:buNone/>
            </a:pPr>
            <a:r>
              <a:rPr lang="en-US" sz="790" b="1" spc="20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This Enables for AI Agents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4957167" y="1326654"/>
            <a:ext cx="3041913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Zero-guess interaction — AI clicks exactly the right element every time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4864596" y="1355824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4957167" y="1560463"/>
            <a:ext cx="2732827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mobile and desktop pointer maps for responsive sites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4864596" y="1589633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4957167" y="1794272"/>
            <a:ext cx="3852446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resolution — AI understands </a:t>
            </a:r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button</a:t>
            </a:r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</a:t>
            </a:r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access</a:t>
            </a:r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one target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4864596" y="1823442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1"/>
          <p:cNvSpPr/>
          <p:nvPr/>
        </p:nvSpPr>
        <p:spPr>
          <a:xfrm>
            <a:off x="4957167" y="2028081"/>
            <a:ext cx="3401095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Broken, missing, duplicate, and ambiguous target detection before deployment</a:t>
            </a:r>
            <a:endParaRPr lang="en-US" sz="700" dirty="0"/>
          </a:p>
        </p:txBody>
      </p:sp>
      <p:sp>
        <p:nvSpPr>
          <p:cNvPr id="46" name="Text 42"/>
          <p:cNvSpPr/>
          <p:nvPr/>
        </p:nvSpPr>
        <p:spPr>
          <a:xfrm>
            <a:off x="4864596" y="2057251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3"/>
          <p:cNvSpPr/>
          <p:nvPr/>
        </p:nvSpPr>
        <p:spPr>
          <a:xfrm>
            <a:off x="4957167" y="2261890"/>
            <a:ext cx="1700466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Pointer-map refresh when site changes</a:t>
            </a:r>
            <a:endParaRPr lang="en-US" sz="700" dirty="0"/>
          </a:p>
        </p:txBody>
      </p:sp>
      <p:sp>
        <p:nvSpPr>
          <p:cNvPr id="48" name="Text 44"/>
          <p:cNvSpPr/>
          <p:nvPr/>
        </p:nvSpPr>
        <p:spPr>
          <a:xfrm>
            <a:off x="4864596" y="2291060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4957167" y="2495699"/>
            <a:ext cx="3536647" cy="119807"/>
          </a:xfrm>
          <a:prstGeom prst="rect">
            <a:avLst/>
          </a:prstGeom>
          <a:noFill/>
          <a:ln/>
        </p:spPr>
        <p:txBody>
          <a:bodyPr wrap="none" lIns="57150" tIns="35560" rIns="57150" bIns="3556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70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Stage-aware targeting — AI knows which pointer belongs to which workflow stage</a:t>
            </a:r>
            <a:endParaRPr lang="en-US" sz="700" dirty="0"/>
          </a:p>
        </p:txBody>
      </p:sp>
      <p:sp>
        <p:nvSpPr>
          <p:cNvPr id="50" name="Text 46"/>
          <p:cNvSpPr/>
          <p:nvPr/>
        </p:nvSpPr>
        <p:spPr>
          <a:xfrm>
            <a:off x="4864596" y="2524869"/>
            <a:ext cx="35421" cy="35421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35560" dist="50800" dir="16200000">
              <a:srgbClr val="8b5cf6">
                <a:alpha val="3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7"/>
          <p:cNvSpPr/>
          <p:nvPr/>
        </p:nvSpPr>
        <p:spPr>
          <a:xfrm>
            <a:off x="4807446" y="3840510"/>
            <a:ext cx="1264741" cy="284857"/>
          </a:xfrm>
          <a:prstGeom prst="roundRect">
            <a:avLst>
              <a:gd name="adj" fmla="val 20063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4577" y="3916570"/>
            <a:ext cx="132588" cy="132588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5035600" y="3921026"/>
            <a:ext cx="60000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ambiguity</a:t>
            </a:r>
            <a:endParaRPr lang="en-US" sz="650" dirty="0"/>
          </a:p>
        </p:txBody>
      </p:sp>
      <p:sp>
        <p:nvSpPr>
          <p:cNvPr id="54" name="Text 49"/>
          <p:cNvSpPr/>
          <p:nvPr/>
        </p:nvSpPr>
        <p:spPr>
          <a:xfrm>
            <a:off x="6143179" y="3840510"/>
            <a:ext cx="1264890" cy="284857"/>
          </a:xfrm>
          <a:prstGeom prst="roundRect">
            <a:avLst>
              <a:gd name="adj" fmla="val 20063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0309" y="3916570"/>
            <a:ext cx="132588" cy="132588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6371332" y="3921026"/>
            <a:ext cx="59476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current</a:t>
            </a:r>
            <a:endParaRPr lang="en-US" sz="650" dirty="0"/>
          </a:p>
        </p:txBody>
      </p:sp>
      <p:sp>
        <p:nvSpPr>
          <p:cNvPr id="57" name="Text 51"/>
          <p:cNvSpPr/>
          <p:nvPr/>
        </p:nvSpPr>
        <p:spPr>
          <a:xfrm>
            <a:off x="7479060" y="3840510"/>
            <a:ext cx="1264890" cy="284857"/>
          </a:xfrm>
          <a:prstGeom prst="roundRect">
            <a:avLst>
              <a:gd name="adj" fmla="val 20063"/>
            </a:avLst>
          </a:prstGeom>
          <a:solidFill>
            <a:srgbClr val="8B5CF6">
              <a:alpha val="12000"/>
            </a:srgbClr>
          </a:solidFill>
          <a:ln w="9525">
            <a:solidFill>
              <a:srgbClr val="8B5CF6">
                <a:alpha val="2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46190" y="3916570"/>
            <a:ext cx="132588" cy="132588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7707213" y="3921026"/>
            <a:ext cx="514380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Stage-aware</a:t>
            </a:r>
            <a:endParaRPr lang="en-US" sz="650" dirty="0"/>
          </a:p>
        </p:txBody>
      </p:sp>
      <p:sp>
        <p:nvSpPr>
          <p:cNvPr id="60" name="Text 53"/>
          <p:cNvSpPr/>
          <p:nvPr/>
        </p:nvSpPr>
        <p:spPr>
          <a:xfrm>
            <a:off x="0" y="4757440"/>
            <a:ext cx="9144000" cy="386060"/>
          </a:xfrm>
          <a:prstGeom prst="rect">
            <a:avLst/>
          </a:prstGeom>
          <a:gradFill rotWithShape="1">
            <a:gsLst>
              <a:gs pos="0">
                <a:srgbClr val="8B5CF6">
                  <a:alpha val="22000"/>
                </a:srgbClr>
              </a:gs>
              <a:gs pos="50000">
                <a:srgbClr val="8B5CF6">
                  <a:alpha val="10000"/>
                </a:srgbClr>
              </a:gs>
              <a:gs pos="100000">
                <a:srgbClr val="8B5CF6">
                  <a:alpha val="22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4"/>
          <p:cNvSpPr/>
          <p:nvPr/>
        </p:nvSpPr>
        <p:spPr>
          <a:xfrm>
            <a:off x="0" y="4757440"/>
            <a:ext cx="9144000" cy="9525"/>
          </a:xfrm>
          <a:prstGeom prst="rect">
            <a:avLst/>
          </a:prstGeom>
          <a:solidFill>
            <a:srgbClr val="8B5CF6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2" name="Image 5" descr="preencoded.png">    </p:cNvPr>
          <p:cNvPicPr>
            <a:picLocks noChangeAspect="1"/>
          </p:cNvPicPr>
          <p:nvPr/>
        </p:nvPicPr>
        <p:blipFill>
          <a:blip r:embed="rId11">
            <a:alphaModFix amt="90000"/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55524" y="4888938"/>
            <a:ext cx="132588" cy="132588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1820027" y="4879925"/>
            <a:ext cx="550379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spc="10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Pointer System is what separates </a:t>
            </a:r>
            <a:pPr algn="ctr" indent="0" marL="0">
              <a:lnSpc>
                <a:spcPts val="1185"/>
              </a:lnSpc>
              <a:buNone/>
            </a:pPr>
            <a:r>
              <a:rPr lang="en-US" sz="790" b="1" spc="1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</a:t>
            </a:r>
            <a:pPr algn="ctr" indent="0" marL="0">
              <a:lnSpc>
                <a:spcPts val="1185"/>
              </a:lnSpc>
              <a:buNone/>
            </a:pPr>
            <a:r>
              <a:rPr lang="en-US" sz="790" spc="10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from every web scraper and crawler on the market.</a:t>
            </a:r>
            <a:endParaRPr lang="en-US" sz="790" dirty="0"/>
          </a:p>
        </p:txBody>
      </p:sp>
      <p:pic>
        <p:nvPicPr>
          <p:cNvPr id="64" name="Image 6" descr="preencoded.png">    </p:cNvPr>
          <p:cNvPicPr>
            <a:picLocks noChangeAspect="1"/>
          </p:cNvPicPr>
          <p:nvPr/>
        </p:nvPicPr>
        <p:blipFill>
          <a:blip r:embed="rId13">
            <a:alphaModFix amt="90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55740" y="4888938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50000">
                <a:srgbClr val="A78BFA"/>
              </a:gs>
              <a:gs pos="100000">
                <a:srgbClr val="7C3AE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86482"/>
            <a:ext cx="200620" cy="200620"/>
          </a:xfrm>
          <a:prstGeom prst="roundRect">
            <a:avLst>
              <a:gd name="adj" fmla="val 24688"/>
            </a:avLst>
          </a:prstGeom>
          <a:solidFill>
            <a:srgbClr val="7C3AED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1142" y="220423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8811" y="171450"/>
            <a:ext cx="392079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17"/>
              </a:lnSpc>
              <a:buNone/>
            </a:pPr>
            <a:r>
              <a:rPr lang="en-US" sz="1580" spc="-20" kern="0" dirty="0">
                <a:solidFill>
                  <a:srgbClr val="1A1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Site Intelligence That </a:t>
            </a:r>
            <a:pPr algn="l" indent="0" marL="0">
              <a:lnSpc>
                <a:spcPts val="1817"/>
              </a:lnSpc>
              <a:buNone/>
            </a:pPr>
            <a:r>
              <a:rPr lang="en-US" sz="1580" b="1" spc="-20" kern="0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Never Goes Stale.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457200" y="431304"/>
            <a:ext cx="6129992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continuously monitors sites and delivers verified refresh packages the moment anything changes.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457200" y="633264"/>
            <a:ext cx="8229600" cy="10120"/>
          </a:xfrm>
          <a:prstGeom prst="roundRect">
            <a:avLst>
              <a:gd name="adj" fmla="val 138044"/>
            </a:avLst>
          </a:prstGeom>
          <a:gradFill rotWithShape="1">
            <a:gsLst>
              <a:gs pos="0">
                <a:srgbClr val="7C3AED">
                  <a:alpha val="40000"/>
                </a:srgbClr>
              </a:gs>
              <a:gs pos="100000">
                <a:srgbClr val="7C3AED">
                  <a:alpha val="8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61210" y="772120"/>
            <a:ext cx="21580" cy="4227909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50000">
                <a:srgbClr val="A78BFA"/>
              </a:gs>
              <a:gs pos="100000">
                <a:srgbClr val="7C3AED"/>
              </a:gs>
            </a:gsLst>
            <a:lin ang="5400000" scaled="1"/>
          </a:gradFill>
          <a:ln/>
          <a:effectLst>
            <a:outerShdw sx="100000" sy="100000" kx="0" ky="0" algn="bl" rotWithShape="0" blurRad="86360" dist="50800" dir="16200000">
              <a:srgbClr val="8b5cf6">
                <a:alpha val="35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00199" y="861417"/>
            <a:ext cx="3300710" cy="943868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3970" dir="5400000">
              <a:srgbClr val="6450b4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14499" y="947737"/>
            <a:ext cx="210098" cy="134392"/>
          </a:xfrm>
          <a:prstGeom prst="ellipse">
            <a:avLst/>
          </a:prstGeom>
          <a:solidFill>
            <a:srgbClr val="EDE9FE"/>
          </a:solidFill>
          <a:ln/>
        </p:spPr>
        <p:txBody>
          <a:bodyPr wrap="none" lIns="57150" tIns="13970" rIns="57150" bIns="13970" rtlCol="0" anchor="ctr"/>
          <a:lstStyle/>
          <a:p>
            <a:pPr algn="l" indent="0" marL="0">
              <a:buNone/>
            </a:pPr>
            <a:r>
              <a:rPr lang="en-US" sz="56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" dirty="0"/>
          </a:p>
        </p:txBody>
      </p:sp>
      <p:sp>
        <p:nvSpPr>
          <p:cNvPr id="13" name="Text 10"/>
          <p:cNvSpPr/>
          <p:nvPr/>
        </p:nvSpPr>
        <p:spPr>
          <a:xfrm>
            <a:off x="514499" y="109597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505" y="1143976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7839" y="1137791"/>
            <a:ext cx="1317218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spc="1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 Engine</a:t>
            </a:r>
            <a:endParaRPr lang="en-US" sz="760" dirty="0"/>
          </a:p>
        </p:txBody>
      </p:sp>
      <p:sp>
        <p:nvSpPr>
          <p:cNvPr id="16" name="Text 12"/>
          <p:cNvSpPr/>
          <p:nvPr/>
        </p:nvSpPr>
        <p:spPr>
          <a:xfrm>
            <a:off x="514499" y="1359991"/>
            <a:ext cx="3133552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new pages, removed pages, and changed pages. Identifies new, removed, and changed controls, forms, navigation menus, and workflows. Every change is classified, logged, and surfaced.</a:t>
            </a:r>
            <a:endParaRPr lang="en-US" sz="650" dirty="0"/>
          </a:p>
        </p:txBody>
      </p:sp>
      <p:sp>
        <p:nvSpPr>
          <p:cNvPr id="17" name="Text 13"/>
          <p:cNvSpPr/>
          <p:nvPr/>
        </p:nvSpPr>
        <p:spPr>
          <a:xfrm>
            <a:off x="5443091" y="1947267"/>
            <a:ext cx="3300710" cy="943868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3970" dir="5400000">
              <a:srgbClr val="6450b4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5557391" y="2033588"/>
            <a:ext cx="210098" cy="134392"/>
          </a:xfrm>
          <a:prstGeom prst="ellipse">
            <a:avLst/>
          </a:prstGeom>
          <a:solidFill>
            <a:srgbClr val="EDE9FE"/>
          </a:solidFill>
          <a:ln/>
        </p:spPr>
        <p:txBody>
          <a:bodyPr wrap="none" lIns="57150" tIns="13970" rIns="57150" bIns="13970" rtlCol="0" anchor="ctr"/>
          <a:lstStyle/>
          <a:p>
            <a:pPr algn="l" indent="0" marL="0">
              <a:buNone/>
            </a:pPr>
            <a:r>
              <a:rPr lang="en-US" sz="56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" dirty="0"/>
          </a:p>
        </p:txBody>
      </p:sp>
      <p:sp>
        <p:nvSpPr>
          <p:cNvPr id="19" name="Text 15"/>
          <p:cNvSpPr/>
          <p:nvPr/>
        </p:nvSpPr>
        <p:spPr>
          <a:xfrm>
            <a:off x="5557391" y="218182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5397" y="2229826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850731" y="2223641"/>
            <a:ext cx="1284640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spc="1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Rescan System</a:t>
            </a:r>
            <a:endParaRPr lang="en-US" sz="760" dirty="0"/>
          </a:p>
        </p:txBody>
      </p:sp>
      <p:sp>
        <p:nvSpPr>
          <p:cNvPr id="22" name="Text 17"/>
          <p:cNvSpPr/>
          <p:nvPr/>
        </p:nvSpPr>
        <p:spPr>
          <a:xfrm>
            <a:off x="5557391" y="2445841"/>
            <a:ext cx="3133552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rescans issue targeted-page, targeted-route, and targeted-workflow rescans rather than full re-crawls — fast, surgical, and efficient. Full-site rescan available on demand.</a:t>
            </a:r>
            <a:endParaRPr lang="en-US" sz="650" dirty="0"/>
          </a:p>
        </p:txBody>
      </p:sp>
      <p:sp>
        <p:nvSpPr>
          <p:cNvPr id="23" name="Text 18"/>
          <p:cNvSpPr/>
          <p:nvPr/>
        </p:nvSpPr>
        <p:spPr>
          <a:xfrm>
            <a:off x="400199" y="3033117"/>
            <a:ext cx="3300710" cy="943868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3970" dir="5400000">
              <a:srgbClr val="6450b4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14499" y="3119438"/>
            <a:ext cx="210098" cy="134392"/>
          </a:xfrm>
          <a:prstGeom prst="ellipse">
            <a:avLst/>
          </a:prstGeom>
          <a:solidFill>
            <a:srgbClr val="EDE9FE"/>
          </a:solidFill>
          <a:ln/>
        </p:spPr>
        <p:txBody>
          <a:bodyPr wrap="none" lIns="57150" tIns="13970" rIns="57150" bIns="13970" rtlCol="0" anchor="ctr"/>
          <a:lstStyle/>
          <a:p>
            <a:pPr algn="l" indent="0" marL="0">
              <a:buNone/>
            </a:pPr>
            <a:r>
              <a:rPr lang="en-US" sz="56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" dirty="0"/>
          </a:p>
        </p:txBody>
      </p:sp>
      <p:sp>
        <p:nvSpPr>
          <p:cNvPr id="25" name="Text 20"/>
          <p:cNvSpPr/>
          <p:nvPr/>
        </p:nvSpPr>
        <p:spPr>
          <a:xfrm>
            <a:off x="514499" y="326767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505" y="3315676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7839" y="3309491"/>
            <a:ext cx="1418719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spc="1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Intelligence Detection</a:t>
            </a:r>
            <a:endParaRPr lang="en-US" sz="760" dirty="0"/>
          </a:p>
        </p:txBody>
      </p:sp>
      <p:sp>
        <p:nvSpPr>
          <p:cNvPr id="28" name="Text 22"/>
          <p:cNvSpPr/>
          <p:nvPr/>
        </p:nvSpPr>
        <p:spPr>
          <a:xfrm>
            <a:off x="514499" y="3531691"/>
            <a:ext cx="3133552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Stale-content, stale-route, broken-target, missing-pointer-target, duplicate-target, and ambiguous-target detection automatically flag issues before they impact AI performance.</a:t>
            </a:r>
            <a:endParaRPr lang="en-US" sz="650" dirty="0"/>
          </a:p>
        </p:txBody>
      </p:sp>
      <p:sp>
        <p:nvSpPr>
          <p:cNvPr id="29" name="Text 23"/>
          <p:cNvSpPr/>
          <p:nvPr/>
        </p:nvSpPr>
        <p:spPr>
          <a:xfrm>
            <a:off x="5443091" y="4118967"/>
            <a:ext cx="3300710" cy="943868"/>
          </a:xfrm>
          <a:prstGeom prst="roundRect">
            <a:avLst>
              <a:gd name="adj" fmla="val 75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3970" dir="5400000">
              <a:srgbClr val="6450b4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5557391" y="4205288"/>
            <a:ext cx="210098" cy="134392"/>
          </a:xfrm>
          <a:prstGeom prst="ellipse">
            <a:avLst/>
          </a:prstGeom>
          <a:solidFill>
            <a:srgbClr val="EDE9FE"/>
          </a:solidFill>
          <a:ln/>
        </p:spPr>
        <p:txBody>
          <a:bodyPr wrap="none" lIns="57150" tIns="13970" rIns="57150" bIns="13970" rtlCol="0" anchor="ctr"/>
          <a:lstStyle/>
          <a:p>
            <a:pPr algn="l" indent="0" marL="0">
              <a:buNone/>
            </a:pPr>
            <a:r>
              <a:rPr lang="en-US" sz="560" b="1" spc="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" dirty="0"/>
          </a:p>
        </p:txBody>
      </p:sp>
      <p:sp>
        <p:nvSpPr>
          <p:cNvPr id="31" name="Text 25"/>
          <p:cNvSpPr/>
          <p:nvPr/>
        </p:nvSpPr>
        <p:spPr>
          <a:xfrm>
            <a:off x="5557391" y="4353520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DE9FE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05397" y="4401526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850731" y="4395341"/>
            <a:ext cx="1410206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60" b="1" spc="1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Refresh Delivery</a:t>
            </a:r>
            <a:endParaRPr lang="en-US" sz="760" dirty="0"/>
          </a:p>
        </p:txBody>
      </p:sp>
      <p:sp>
        <p:nvSpPr>
          <p:cNvPr id="34" name="Text 27"/>
          <p:cNvSpPr/>
          <p:nvPr/>
        </p:nvSpPr>
        <p:spPr>
          <a:xfrm>
            <a:off x="5557391" y="4617541"/>
            <a:ext cx="3133552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Site World, pointer-map refresh, and incremental ORB update-data delivered as a new versioned intelligence package. Scan provenance preserved across every version.</a:t>
            </a:r>
            <a:endParaRPr lang="en-US" sz="650" dirty="0"/>
          </a:p>
        </p:txBody>
      </p:sp>
      <p:sp>
        <p:nvSpPr>
          <p:cNvPr id="35" name="Text 28"/>
          <p:cNvSpPr/>
          <p:nvPr/>
        </p:nvSpPr>
        <p:spPr>
          <a:xfrm>
            <a:off x="4561210" y="772120"/>
            <a:ext cx="21580" cy="128141"/>
          </a:xfrm>
          <a:prstGeom prst="rect">
            <a:avLst/>
          </a:prstGeom>
          <a:gradFill rotWithShape="1">
            <a:gsLst>
              <a:gs pos="0">
                <a:srgbClr val="8B5CF6">
                  <a:alpha val="0"/>
                </a:srgbClr>
              </a:gs>
              <a:gs pos="100000">
                <a:srgbClr val="8B5CF6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4561210" y="4871889"/>
            <a:ext cx="21580" cy="128141"/>
          </a:xfrm>
          <a:prstGeom prst="rect">
            <a:avLst/>
          </a:prstGeom>
          <a:gradFill rotWithShape="1">
            <a:gsLst>
              <a:gs pos="0">
                <a:srgbClr val="8B5CF6">
                  <a:alpha val="0"/>
                </a:srgbClr>
              </a:gs>
              <a:gs pos="100000">
                <a:srgbClr val="8B5CF6"/>
              </a:gs>
            </a:gsLst>
            <a:lin ang="162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457200" y="4965799"/>
            <a:ext cx="198270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b="1" spc="30" kern="0" dirty="0">
                <a:solidFill>
                  <a:srgbClr val="5A5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· SITE INTELLIGENCE PLATFORM</a:t>
            </a:r>
            <a:endParaRPr lang="en-US" sz="560" dirty="0"/>
          </a:p>
        </p:txBody>
      </p:sp>
      <p:sp>
        <p:nvSpPr>
          <p:cNvPr id="38" name="Text 31"/>
          <p:cNvSpPr/>
          <p:nvPr/>
        </p:nvSpPr>
        <p:spPr>
          <a:xfrm>
            <a:off x="7199858" y="4965799"/>
            <a:ext cx="163563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spc="30" kern="0" dirty="0">
                <a:solidFill>
                  <a:srgbClr val="7C3AED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INTELLIGENCE REFRESH</a:t>
            </a:r>
            <a:endParaRPr lang="en-US" sz="560" dirty="0"/>
          </a:p>
        </p:txBody>
      </p:sp>
      <p:sp>
        <p:nvSpPr>
          <p:cNvPr id="39" name="Text 32"/>
          <p:cNvSpPr/>
          <p:nvPr/>
        </p:nvSpPr>
        <p:spPr>
          <a:xfrm>
            <a:off x="3657596" y="1276201"/>
            <a:ext cx="114300" cy="114300"/>
          </a:xfrm>
          <a:prstGeom prst="rect">
            <a:avLst/>
          </a:prstGeom>
          <a:noFill/>
          <a:ln w="57150">
            <a:solidFill>
              <a:srgbClr val="000000">
                <a:alpha val="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5371971" y="2362051"/>
            <a:ext cx="114300" cy="114300"/>
          </a:xfrm>
          <a:prstGeom prst="rect">
            <a:avLst/>
          </a:prstGeom>
          <a:noFill/>
          <a:ln w="57150">
            <a:solidFill>
              <a:srgbClr val="000000">
                <a:alpha val="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3657596" y="3447901"/>
            <a:ext cx="114300" cy="114300"/>
          </a:xfrm>
          <a:prstGeom prst="rect">
            <a:avLst/>
          </a:prstGeom>
          <a:noFill/>
          <a:ln w="57150">
            <a:solidFill>
              <a:srgbClr val="000000">
                <a:alpha val="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5371971" y="4533751"/>
            <a:ext cx="114300" cy="114300"/>
          </a:xfrm>
          <a:prstGeom prst="rect">
            <a:avLst/>
          </a:prstGeom>
          <a:noFill/>
          <a:ln w="57150">
            <a:solidFill>
              <a:srgbClr val="000000">
                <a:alpha val="0"/>
              </a:srgbClr>
            </a:solidFill>
          </a:ln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4507929" y="1136600"/>
            <a:ext cx="128141" cy="12814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>
            <a:outerShdw sx="100000" sy="100000" kx="0" ky="0" algn="bl" rotWithShape="0" blurRad="101600" dist="50800" dir="16200000">
              <a:srgbClr val="8b5cf6">
                <a:alpha val="18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4507929" y="2222450"/>
            <a:ext cx="128141" cy="12814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>
            <a:outerShdw sx="100000" sy="100000" kx="0" ky="0" algn="bl" rotWithShape="0" blurRad="101600" dist="50800" dir="16200000">
              <a:srgbClr val="8b5cf6">
                <a:alpha val="18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4507929" y="3308300"/>
            <a:ext cx="128141" cy="12814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>
            <a:outerShdw sx="100000" sy="100000" kx="0" ky="0" algn="bl" rotWithShape="0" blurRad="101600" dist="50800" dir="16200000">
              <a:srgbClr val="8b5cf6">
                <a:alpha val="18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4507929" y="4394150"/>
            <a:ext cx="128141" cy="128141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  <a:effectLst>
            <a:outerShdw sx="100000" sy="100000" kx="0" ky="0" algn="bl" rotWithShape="0" blurRad="101600" dist="50800" dir="16200000">
              <a:srgbClr val="8b5cf6">
                <a:alpha val="18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143970" cy="3429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0" y="1427559"/>
            <a:ext cx="3714750" cy="3715941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470" y="143470"/>
            <a:ext cx="4857750" cy="48577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09575" y="784324"/>
            <a:ext cx="2714920" cy="1021709"/>
          </a:xfrm>
          <a:prstGeom prst="roundRect">
            <a:avLst>
              <a:gd name="adj" fmla="val 6961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3214539" y="784324"/>
            <a:ext cx="2714920" cy="1021709"/>
          </a:xfrm>
          <a:prstGeom prst="roundRect">
            <a:avLst>
              <a:gd name="adj" fmla="val 6961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6019502" y="784324"/>
            <a:ext cx="2714920" cy="1021709"/>
          </a:xfrm>
          <a:prstGeom prst="roundRect">
            <a:avLst>
              <a:gd name="adj" fmla="val 6961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409575" y="1896070"/>
            <a:ext cx="2714920" cy="1021709"/>
          </a:xfrm>
          <a:prstGeom prst="roundRect">
            <a:avLst>
              <a:gd name="adj" fmla="val 6961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214539" y="1896070"/>
            <a:ext cx="2714920" cy="1021709"/>
          </a:xfrm>
          <a:prstGeom prst="roundRect">
            <a:avLst>
              <a:gd name="adj" fmla="val 6961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6019502" y="1896070"/>
            <a:ext cx="2714920" cy="1021709"/>
          </a:xfrm>
          <a:prstGeom prst="roundRect">
            <a:avLst>
              <a:gd name="adj" fmla="val 6961"/>
            </a:avLst>
          </a:prstGeom>
          <a:gradFill rotWithShape="1">
            <a:gsLst>
              <a:gs pos="0">
                <a:srgbClr val="8B5CF6">
                  <a:alpha val="7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00050" y="200620"/>
            <a:ext cx="8927973" cy="213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9"/>
              </a:lnSpc>
              <a:spcAft>
                <a:spcPts val="170"/>
              </a:spcAft>
              <a:buNone/>
            </a:pPr>
            <a:r>
              <a:rPr lang="en-US" sz="1460" spc="15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ORB Intelligence Add-Ons: </a:t>
            </a:r>
            <a:pPr algn="l" indent="0" marL="0">
              <a:lnSpc>
                <a:spcPts val="1679"/>
              </a:lnSpc>
              <a:spcAft>
                <a:spcPts val="170"/>
              </a:spcAft>
              <a:buNone/>
            </a:pPr>
            <a:r>
              <a:rPr lang="en-US" sz="1460" spc="15" kern="0" dirty="0">
                <a:solidFill>
                  <a:srgbClr val="8B5CF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Extend. Specialize. Dominate.</a:t>
            </a:r>
            <a:endParaRPr lang="en-US" sz="1460" dirty="0"/>
          </a:p>
        </p:txBody>
      </p:sp>
      <p:sp>
        <p:nvSpPr>
          <p:cNvPr id="14" name="Text 9"/>
          <p:cNvSpPr/>
          <p:nvPr/>
        </p:nvSpPr>
        <p:spPr>
          <a:xfrm>
            <a:off x="400050" y="435322"/>
            <a:ext cx="9178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spc="15" kern="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Site World packages unlock a growing ecosystem of specialized intelligence modules — all software, all modular.</a:t>
            </a:r>
            <a:endParaRPr lang="en-US" sz="730" dirty="0"/>
          </a:p>
        </p:txBody>
      </p:sp>
      <p:sp>
        <p:nvSpPr>
          <p:cNvPr id="15" name="Text 10"/>
          <p:cNvSpPr/>
          <p:nvPr/>
        </p:nvSpPr>
        <p:spPr>
          <a:xfrm>
            <a:off x="400050" y="645319"/>
            <a:ext cx="43160" cy="431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57150" dist="50800" dir="16200000">
              <a:srgbClr val="8b5cf6">
                <a:alpha val="75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529530" y="663029"/>
            <a:ext cx="8214420" cy="7590"/>
          </a:xfrm>
          <a:prstGeom prst="rect">
            <a:avLst/>
          </a:prstGeom>
          <a:gradFill rotWithShape="1">
            <a:gsLst>
              <a:gs pos="0">
                <a:srgbClr val="8B5CF6">
                  <a:alpha val="50000"/>
                </a:srgbClr>
              </a:gs>
              <a:gs pos="100000">
                <a:srgbClr val="8B5CF6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400050" y="774799"/>
            <a:ext cx="2733973" cy="1040755"/>
          </a:xfrm>
          <a:prstGeom prst="roundRect">
            <a:avLst>
              <a:gd name="adj" fmla="val 6834"/>
            </a:avLst>
          </a:prstGeom>
          <a:solidFill>
            <a:srgbClr val="13132B"/>
          </a:solidFill>
          <a:ln w="9525">
            <a:solidFill>
              <a:srgbClr val="8B5CF6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523875" y="892225"/>
            <a:ext cx="285750" cy="285750"/>
          </a:xfrm>
          <a:prstGeom prst="roundRect">
            <a:avLst>
              <a:gd name="adj" fmla="val 22667"/>
            </a:avLst>
          </a:prstGeom>
          <a:gradFill rotWithShape="1">
            <a:gsLst>
              <a:gs pos="0">
                <a:srgbClr val="8B5CF6">
                  <a:alpha val="32000"/>
                </a:srgbClr>
              </a:gs>
              <a:gs pos="100000">
                <a:srgbClr val="6D28D9">
                  <a:alpha val="18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  <a:effectLst>
            <a:outerShdw sx="100000" sy="100000" kx="0" ky="0" algn="bl" rotWithShape="0" blurRad="100330" dist="50800" dir="1620000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382" y="968731"/>
            <a:ext cx="132588" cy="132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9935" y="884634"/>
            <a:ext cx="611773" cy="135136"/>
          </a:xfrm>
          <a:prstGeom prst="roundRect">
            <a:avLst>
              <a:gd name="adj" fmla="val 21615"/>
            </a:avLst>
          </a:prstGeom>
          <a:solidFill>
            <a:srgbClr val="8B5CF6">
              <a:alpha val="14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algn="l" indent="0" marL="0">
              <a:buNone/>
            </a:pPr>
            <a:r>
              <a:rPr lang="en-US" sz="530" b="1" spc="42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BEHAVIOR</a:t>
            </a:r>
            <a:endParaRPr lang="en-US" sz="530" dirty="0"/>
          </a:p>
        </p:txBody>
      </p:sp>
      <p:sp>
        <p:nvSpPr>
          <p:cNvPr id="21" name="Text 15"/>
          <p:cNvSpPr/>
          <p:nvPr/>
        </p:nvSpPr>
        <p:spPr>
          <a:xfrm>
            <a:off x="909935" y="1055191"/>
            <a:ext cx="23102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spc="8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Behavior Packs</a:t>
            </a:r>
            <a:endParaRPr lang="en-US" sz="790" dirty="0"/>
          </a:p>
        </p:txBody>
      </p:sp>
      <p:sp>
        <p:nvSpPr>
          <p:cNvPr id="22" name="Text 16"/>
          <p:cNvSpPr/>
          <p:nvPr/>
        </p:nvSpPr>
        <p:spPr>
          <a:xfrm>
            <a:off x="909935" y="1234827"/>
            <a:ext cx="2142268" cy="502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AI behavior modules — e-commerce assistant, support navigator, lead qualifier, booking concierge. Plug-in ORB personality and decision layers for specific use cases.</a:t>
            </a:r>
            <a:endParaRPr lang="en-US" sz="650" dirty="0"/>
          </a:p>
        </p:txBody>
      </p:sp>
      <p:sp>
        <p:nvSpPr>
          <p:cNvPr id="23" name="Text 17"/>
          <p:cNvSpPr/>
          <p:nvPr/>
        </p:nvSpPr>
        <p:spPr>
          <a:xfrm>
            <a:off x="3205014" y="774799"/>
            <a:ext cx="2733973" cy="1040755"/>
          </a:xfrm>
          <a:prstGeom prst="roundRect">
            <a:avLst>
              <a:gd name="adj" fmla="val 6834"/>
            </a:avLst>
          </a:prstGeom>
          <a:solidFill>
            <a:srgbClr val="13132B"/>
          </a:solidFill>
          <a:ln w="9525">
            <a:solidFill>
              <a:srgbClr val="8B5CF6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3328839" y="892225"/>
            <a:ext cx="285750" cy="285750"/>
          </a:xfrm>
          <a:prstGeom prst="roundRect">
            <a:avLst>
              <a:gd name="adj" fmla="val 22667"/>
            </a:avLst>
          </a:prstGeom>
          <a:gradFill rotWithShape="1">
            <a:gsLst>
              <a:gs pos="0">
                <a:srgbClr val="8B5CF6">
                  <a:alpha val="32000"/>
                </a:srgbClr>
              </a:gs>
              <a:gs pos="100000">
                <a:srgbClr val="6D28D9">
                  <a:alpha val="18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  <a:effectLst>
            <a:outerShdw sx="100000" sy="100000" kx="0" ky="0" algn="bl" rotWithShape="0" blurRad="100330" dist="50800" dir="1620000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5345" y="968731"/>
            <a:ext cx="132588" cy="132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714899" y="884634"/>
            <a:ext cx="560159" cy="135136"/>
          </a:xfrm>
          <a:prstGeom prst="roundRect">
            <a:avLst>
              <a:gd name="adj" fmla="val 21615"/>
            </a:avLst>
          </a:prstGeom>
          <a:solidFill>
            <a:srgbClr val="8B5CF6">
              <a:alpha val="14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algn="l" indent="0" marL="0">
              <a:buNone/>
            </a:pPr>
            <a:r>
              <a:rPr lang="en-US" sz="530" b="1" spc="42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</a:t>
            </a:r>
            <a:endParaRPr lang="en-US" sz="530" dirty="0"/>
          </a:p>
        </p:txBody>
      </p:sp>
      <p:sp>
        <p:nvSpPr>
          <p:cNvPr id="27" name="Text 20"/>
          <p:cNvSpPr/>
          <p:nvPr/>
        </p:nvSpPr>
        <p:spPr>
          <a:xfrm>
            <a:off x="3714899" y="1055191"/>
            <a:ext cx="23102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spc="8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Intent Libraries</a:t>
            </a:r>
            <a:endParaRPr lang="en-US" sz="790" dirty="0"/>
          </a:p>
        </p:txBody>
      </p:sp>
      <p:sp>
        <p:nvSpPr>
          <p:cNvPr id="28" name="Text 21"/>
          <p:cNvSpPr/>
          <p:nvPr/>
        </p:nvSpPr>
        <p:spPr>
          <a:xfrm>
            <a:off x="3714899" y="1234827"/>
            <a:ext cx="2142268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visitor-language alias libraries by vertical — retail, healthcare, SaaS, hospitality, finance. Instant semantic coverage without manual alias authoring.</a:t>
            </a:r>
            <a:endParaRPr lang="en-US" sz="650" dirty="0"/>
          </a:p>
        </p:txBody>
      </p:sp>
      <p:sp>
        <p:nvSpPr>
          <p:cNvPr id="29" name="Text 22"/>
          <p:cNvSpPr/>
          <p:nvPr/>
        </p:nvSpPr>
        <p:spPr>
          <a:xfrm>
            <a:off x="6009977" y="774799"/>
            <a:ext cx="2733973" cy="1040755"/>
          </a:xfrm>
          <a:prstGeom prst="roundRect">
            <a:avLst>
              <a:gd name="adj" fmla="val 6834"/>
            </a:avLst>
          </a:prstGeom>
          <a:solidFill>
            <a:srgbClr val="13132B"/>
          </a:solidFill>
          <a:ln w="9525">
            <a:solidFill>
              <a:srgbClr val="8B5CF6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6133802" y="892225"/>
            <a:ext cx="285750" cy="285750"/>
          </a:xfrm>
          <a:prstGeom prst="roundRect">
            <a:avLst>
              <a:gd name="adj" fmla="val 22667"/>
            </a:avLst>
          </a:prstGeom>
          <a:gradFill rotWithShape="1">
            <a:gsLst>
              <a:gs pos="0">
                <a:srgbClr val="8B5CF6">
                  <a:alpha val="32000"/>
                </a:srgbClr>
              </a:gs>
              <a:gs pos="100000">
                <a:srgbClr val="6D28D9">
                  <a:alpha val="18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  <a:effectLst>
            <a:outerShdw sx="100000" sy="100000" kx="0" ky="0" algn="bl" rotWithShape="0" blurRad="100330" dist="50800" dir="1620000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10309" y="968731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19863" y="884634"/>
            <a:ext cx="480765" cy="135136"/>
          </a:xfrm>
          <a:prstGeom prst="roundRect">
            <a:avLst>
              <a:gd name="adj" fmla="val 21615"/>
            </a:avLst>
          </a:prstGeom>
          <a:solidFill>
            <a:srgbClr val="8B5CF6">
              <a:alpha val="14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algn="l" indent="0" marL="0">
              <a:buNone/>
            </a:pPr>
            <a:r>
              <a:rPr lang="en-US" sz="530" b="1" spc="42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530" dirty="0"/>
          </a:p>
        </p:txBody>
      </p:sp>
      <p:sp>
        <p:nvSpPr>
          <p:cNvPr id="33" name="Text 25"/>
          <p:cNvSpPr/>
          <p:nvPr/>
        </p:nvSpPr>
        <p:spPr>
          <a:xfrm>
            <a:off x="6519863" y="1055191"/>
            <a:ext cx="23102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spc="8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Workflow Modules</a:t>
            </a:r>
            <a:endParaRPr lang="en-US" sz="790" dirty="0"/>
          </a:p>
        </p:txBody>
      </p:sp>
      <p:sp>
        <p:nvSpPr>
          <p:cNvPr id="34" name="Text 26"/>
          <p:cNvSpPr/>
          <p:nvPr/>
        </p:nvSpPr>
        <p:spPr>
          <a:xfrm>
            <a:off x="6519863" y="1234827"/>
            <a:ext cx="2142268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Pre-validated flow maps for checkout, onboarding, account management, and support escalation. Drop-in, validated, immediately deployable.</a:t>
            </a:r>
            <a:endParaRPr lang="en-US" sz="650" dirty="0"/>
          </a:p>
        </p:txBody>
      </p:sp>
      <p:sp>
        <p:nvSpPr>
          <p:cNvPr id="35" name="Text 27"/>
          <p:cNvSpPr/>
          <p:nvPr/>
        </p:nvSpPr>
        <p:spPr>
          <a:xfrm>
            <a:off x="400050" y="1886545"/>
            <a:ext cx="2733973" cy="1040755"/>
          </a:xfrm>
          <a:prstGeom prst="roundRect">
            <a:avLst>
              <a:gd name="adj" fmla="val 6834"/>
            </a:avLst>
          </a:prstGeom>
          <a:solidFill>
            <a:srgbClr val="13132B"/>
          </a:solidFill>
          <a:ln w="9525">
            <a:solidFill>
              <a:srgbClr val="8B5CF6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8"/>
          <p:cNvSpPr/>
          <p:nvPr/>
        </p:nvSpPr>
        <p:spPr>
          <a:xfrm>
            <a:off x="523875" y="2003971"/>
            <a:ext cx="285750" cy="285750"/>
          </a:xfrm>
          <a:prstGeom prst="roundRect">
            <a:avLst>
              <a:gd name="adj" fmla="val 22667"/>
            </a:avLst>
          </a:prstGeom>
          <a:gradFill rotWithShape="1">
            <a:gsLst>
              <a:gs pos="0">
                <a:srgbClr val="8B5CF6">
                  <a:alpha val="32000"/>
                </a:srgbClr>
              </a:gs>
              <a:gs pos="100000">
                <a:srgbClr val="6D28D9">
                  <a:alpha val="18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  <a:effectLst>
            <a:outerShdw sx="100000" sy="100000" kx="0" ky="0" algn="bl" rotWithShape="0" blurRad="100330" dist="50800" dir="1620000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0382" y="2080477"/>
            <a:ext cx="132588" cy="13258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09935" y="1996380"/>
            <a:ext cx="677960" cy="135136"/>
          </a:xfrm>
          <a:prstGeom prst="roundRect">
            <a:avLst>
              <a:gd name="adj" fmla="val 21615"/>
            </a:avLst>
          </a:prstGeom>
          <a:solidFill>
            <a:srgbClr val="8B5CF6">
              <a:alpha val="14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algn="l" indent="0" marL="0">
              <a:buNone/>
            </a:pPr>
            <a:r>
              <a:rPr lang="en-US" sz="530" b="1" spc="42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530" dirty="0"/>
          </a:p>
        </p:txBody>
      </p:sp>
      <p:sp>
        <p:nvSpPr>
          <p:cNvPr id="39" name="Text 30"/>
          <p:cNvSpPr/>
          <p:nvPr/>
        </p:nvSpPr>
        <p:spPr>
          <a:xfrm>
            <a:off x="909935" y="2166938"/>
            <a:ext cx="23102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spc="8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Multi-Language Packs</a:t>
            </a:r>
            <a:endParaRPr lang="en-US" sz="790" dirty="0"/>
          </a:p>
        </p:txBody>
      </p:sp>
      <p:sp>
        <p:nvSpPr>
          <p:cNvPr id="40" name="Text 31"/>
          <p:cNvSpPr/>
          <p:nvPr/>
        </p:nvSpPr>
        <p:spPr>
          <a:xfrm>
            <a:off x="909935" y="2346573"/>
            <a:ext cx="2142268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Visitor-language alias expansion for non-English sites. Intent mapping translated and localized per market and region for global reach.</a:t>
            </a:r>
            <a:endParaRPr lang="en-US" sz="650" dirty="0"/>
          </a:p>
        </p:txBody>
      </p:sp>
      <p:sp>
        <p:nvSpPr>
          <p:cNvPr id="41" name="Text 32"/>
          <p:cNvSpPr/>
          <p:nvPr/>
        </p:nvSpPr>
        <p:spPr>
          <a:xfrm>
            <a:off x="3205014" y="1886545"/>
            <a:ext cx="2733973" cy="1040755"/>
          </a:xfrm>
          <a:prstGeom prst="roundRect">
            <a:avLst>
              <a:gd name="adj" fmla="val 6834"/>
            </a:avLst>
          </a:prstGeom>
          <a:solidFill>
            <a:srgbClr val="13132B"/>
          </a:solidFill>
          <a:ln w="9525">
            <a:solidFill>
              <a:srgbClr val="8B5CF6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3328839" y="2003971"/>
            <a:ext cx="285750" cy="285750"/>
          </a:xfrm>
          <a:prstGeom prst="roundRect">
            <a:avLst>
              <a:gd name="adj" fmla="val 22667"/>
            </a:avLst>
          </a:prstGeom>
          <a:gradFill rotWithShape="1">
            <a:gsLst>
              <a:gs pos="0">
                <a:srgbClr val="8B5CF6">
                  <a:alpha val="32000"/>
                </a:srgbClr>
              </a:gs>
              <a:gs pos="100000">
                <a:srgbClr val="6D28D9">
                  <a:alpha val="18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  <a:effectLst>
            <a:outerShdw sx="100000" sy="100000" kx="0" ky="0" algn="bl" rotWithShape="0" blurRad="100330" dist="50800" dir="1620000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05345" y="2080477"/>
            <a:ext cx="132588" cy="13258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3714899" y="1996380"/>
            <a:ext cx="837810" cy="135136"/>
          </a:xfrm>
          <a:prstGeom prst="roundRect">
            <a:avLst>
              <a:gd name="adj" fmla="val 21615"/>
            </a:avLst>
          </a:prstGeom>
          <a:solidFill>
            <a:srgbClr val="8B5CF6">
              <a:alpha val="14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algn="l" indent="0" marL="0">
              <a:buNone/>
            </a:pPr>
            <a:r>
              <a:rPr lang="en-US" sz="530" b="1" spc="42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COMPLIANCE</a:t>
            </a:r>
            <a:endParaRPr lang="en-US" sz="530" dirty="0"/>
          </a:p>
        </p:txBody>
      </p:sp>
      <p:sp>
        <p:nvSpPr>
          <p:cNvPr id="45" name="Text 35"/>
          <p:cNvSpPr/>
          <p:nvPr/>
        </p:nvSpPr>
        <p:spPr>
          <a:xfrm>
            <a:off x="3714899" y="2166938"/>
            <a:ext cx="23102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spc="8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Audit &amp; QA Packs</a:t>
            </a:r>
            <a:endParaRPr lang="en-US" sz="790" dirty="0"/>
          </a:p>
        </p:txBody>
      </p:sp>
      <p:sp>
        <p:nvSpPr>
          <p:cNvPr id="46" name="Text 36"/>
          <p:cNvSpPr/>
          <p:nvPr/>
        </p:nvSpPr>
        <p:spPr>
          <a:xfrm>
            <a:off x="3714899" y="2346573"/>
            <a:ext cx="2142268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pointer, control, and route audits. Accessibility compliance reports and broken-element remediation guides for dev and QA teams.</a:t>
            </a:r>
            <a:endParaRPr lang="en-US" sz="650" dirty="0"/>
          </a:p>
        </p:txBody>
      </p:sp>
      <p:sp>
        <p:nvSpPr>
          <p:cNvPr id="47" name="Text 37"/>
          <p:cNvSpPr/>
          <p:nvPr/>
        </p:nvSpPr>
        <p:spPr>
          <a:xfrm>
            <a:off x="6009977" y="1886545"/>
            <a:ext cx="2733973" cy="1040755"/>
          </a:xfrm>
          <a:prstGeom prst="roundRect">
            <a:avLst>
              <a:gd name="adj" fmla="val 6834"/>
            </a:avLst>
          </a:prstGeom>
          <a:solidFill>
            <a:srgbClr val="13132B"/>
          </a:solidFill>
          <a:ln w="9525">
            <a:solidFill>
              <a:srgbClr val="8B5CF6">
                <a:alpha val="35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8"/>
          <p:cNvSpPr/>
          <p:nvPr/>
        </p:nvSpPr>
        <p:spPr>
          <a:xfrm>
            <a:off x="6133802" y="2003971"/>
            <a:ext cx="285750" cy="285750"/>
          </a:xfrm>
          <a:prstGeom prst="roundRect">
            <a:avLst>
              <a:gd name="adj" fmla="val 22667"/>
            </a:avLst>
          </a:prstGeom>
          <a:gradFill rotWithShape="1">
            <a:gsLst>
              <a:gs pos="0">
                <a:srgbClr val="8B5CF6">
                  <a:alpha val="32000"/>
                </a:srgbClr>
              </a:gs>
              <a:gs pos="100000">
                <a:srgbClr val="6D28D9">
                  <a:alpha val="18000"/>
                </a:srgbClr>
              </a:gs>
            </a:gsLst>
            <a:lin ang="2700000" scaled="1"/>
          </a:gradFill>
          <a:ln w="9525">
            <a:solidFill>
              <a:srgbClr val="8B5CF6">
                <a:alpha val="45000"/>
              </a:srgbClr>
            </a:solidFill>
          </a:ln>
          <a:effectLst>
            <a:outerShdw sx="100000" sy="100000" kx="0" ky="0" algn="bl" rotWithShape="0" blurRad="100330" dist="50800" dir="16200000">
              <a:srgbClr val="8b5cf6">
                <a:alpha val="3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10309" y="2080477"/>
            <a:ext cx="132588" cy="132588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6519863" y="1996380"/>
            <a:ext cx="599932" cy="135136"/>
          </a:xfrm>
          <a:prstGeom prst="roundRect">
            <a:avLst>
              <a:gd name="adj" fmla="val 21615"/>
            </a:avLst>
          </a:prstGeom>
          <a:solidFill>
            <a:srgbClr val="8B5CF6">
              <a:alpha val="14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lIns="43180" tIns="7620" rIns="43180" bIns="7620" rtlCol="0" anchor="t"/>
          <a:lstStyle/>
          <a:p>
            <a:pPr algn="l" indent="0" marL="0">
              <a:buNone/>
            </a:pPr>
            <a:r>
              <a:rPr lang="en-US" sz="530" b="1" spc="42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530" dirty="0"/>
          </a:p>
        </p:txBody>
      </p:sp>
      <p:sp>
        <p:nvSpPr>
          <p:cNvPr id="51" name="Text 40"/>
          <p:cNvSpPr/>
          <p:nvPr/>
        </p:nvSpPr>
        <p:spPr>
          <a:xfrm>
            <a:off x="6519863" y="2166938"/>
            <a:ext cx="231028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spcAft>
                <a:spcPts val="230"/>
              </a:spcAft>
              <a:buNone/>
            </a:pPr>
            <a:r>
              <a:rPr lang="en-US" sz="790" b="1" spc="8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 Integration Packs</a:t>
            </a:r>
            <a:endParaRPr lang="en-US" sz="790" dirty="0"/>
          </a:p>
        </p:txBody>
      </p:sp>
      <p:sp>
        <p:nvSpPr>
          <p:cNvPr id="52" name="Text 41"/>
          <p:cNvSpPr/>
          <p:nvPr/>
        </p:nvSpPr>
        <p:spPr>
          <a:xfrm>
            <a:off x="6519863" y="2346573"/>
            <a:ext cx="2142268" cy="376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3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Governor inputs, ORB capability snapshots, structured endpoint maps, and public API route inventories for enterprise AI orchestration layers.</a:t>
            </a:r>
            <a:endParaRPr lang="en-US" sz="650" dirty="0"/>
          </a:p>
        </p:txBody>
      </p:sp>
      <p:sp>
        <p:nvSpPr>
          <p:cNvPr id="53" name="Text 42"/>
          <p:cNvSpPr/>
          <p:nvPr/>
        </p:nvSpPr>
        <p:spPr>
          <a:xfrm>
            <a:off x="0" y="4901059"/>
            <a:ext cx="9144000" cy="242441"/>
          </a:xfrm>
          <a:prstGeom prst="rect">
            <a:avLst/>
          </a:prstGeom>
          <a:gradFill rotWithShape="1">
            <a:gsLst>
              <a:gs pos="0">
                <a:srgbClr val="8B5CF6">
                  <a:alpha val="22000"/>
                </a:srgbClr>
              </a:gs>
              <a:gs pos="50000">
                <a:srgbClr val="6D28D9">
                  <a:alpha val="10000"/>
                </a:srgbClr>
              </a:gs>
              <a:gs pos="100000">
                <a:srgbClr val="8B5CF6">
                  <a:alpha val="22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3"/>
          <p:cNvSpPr/>
          <p:nvPr/>
        </p:nvSpPr>
        <p:spPr>
          <a:xfrm>
            <a:off x="0" y="4901059"/>
            <a:ext cx="9144000" cy="9525"/>
          </a:xfrm>
          <a:prstGeom prst="rect">
            <a:avLst/>
          </a:prstGeom>
          <a:solidFill>
            <a:srgbClr val="8B5CF6">
              <a:alpha val="3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4"/>
          <p:cNvSpPr/>
          <p:nvPr/>
        </p:nvSpPr>
        <p:spPr>
          <a:xfrm>
            <a:off x="1776561" y="4968032"/>
            <a:ext cx="197369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spc="25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add-on marketplace opening Q3 2027</a:t>
            </a:r>
            <a:endParaRPr lang="en-US" sz="620" dirty="0"/>
          </a:p>
        </p:txBody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6">
            <a:alphaModFix amt="70000"/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634737" y="4960748"/>
            <a:ext cx="132588" cy="132588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3799433" y="5012382"/>
            <a:ext cx="29170" cy="2917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6"/>
          <p:cNvSpPr/>
          <p:nvPr/>
        </p:nvSpPr>
        <p:spPr>
          <a:xfrm>
            <a:off x="4165104" y="4968032"/>
            <a:ext cx="119034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spc="25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SDK in development</a:t>
            </a:r>
            <a:endParaRPr lang="en-US" sz="620" dirty="0"/>
          </a:p>
        </p:txBody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8">
            <a:alphaModFix amt="70000"/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023280" y="4960748"/>
            <a:ext cx="132588" cy="132588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5475833" y="5012382"/>
            <a:ext cx="29170" cy="2917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48"/>
          <p:cNvSpPr/>
          <p:nvPr/>
        </p:nvSpPr>
        <p:spPr>
          <a:xfrm>
            <a:off x="5841504" y="4968032"/>
            <a:ext cx="179705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spc="25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platform fee on all third-party modules</a:t>
            </a:r>
            <a:endParaRPr lang="en-US" sz="620" dirty="0"/>
          </a:p>
        </p:txBody>
      </p:sp>
      <p:pic>
        <p:nvPicPr>
          <p:cNvPr id="62" name="Image 11" descr="preencoded.png">    </p:cNvPr>
          <p:cNvPicPr>
            <a:picLocks noChangeAspect="1"/>
          </p:cNvPicPr>
          <p:nvPr/>
        </p:nvPicPr>
        <p:blipFill>
          <a:blip r:embed="rId20">
            <a:alphaModFix amt="70000"/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99680" y="4960748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18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72070" y="261491"/>
            <a:ext cx="29170" cy="22860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232" y="257770"/>
            <a:ext cx="5537942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859"/>
              </a:lnSpc>
              <a:buNone/>
            </a:pPr>
            <a:r>
              <a:rPr lang="en-US" sz="1690" spc="-34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Revenue Pillars. </a:t>
            </a:r>
            <a:pPr algn="l" indent="0" marL="0">
              <a:lnSpc>
                <a:spcPts val="1859"/>
              </a:lnSpc>
              <a:buNone/>
            </a:pPr>
            <a:r>
              <a:rPr lang="en-US" sz="1690" b="1" spc="-34" kern="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Subscriptions. No Hardware.</a:t>
            </a:r>
            <a:endParaRPr lang="en-US" sz="1690" dirty="0"/>
          </a:p>
        </p:txBody>
      </p:sp>
      <p:sp>
        <p:nvSpPr>
          <p:cNvPr id="5" name="Text 3"/>
          <p:cNvSpPr/>
          <p:nvPr/>
        </p:nvSpPr>
        <p:spPr>
          <a:xfrm>
            <a:off x="472380" y="529233"/>
            <a:ext cx="9129504" cy="140345"/>
          </a:xfrm>
          <a:prstGeom prst="rect">
            <a:avLst/>
          </a:prstGeom>
          <a:noFill/>
          <a:ln/>
        </p:spPr>
        <p:txBody>
          <a:bodyPr wrap="none" lIns="100330" tIns="0" rIns="0" bIns="0" rtlCol="0" anchor="t"/>
          <a:lstStyle/>
          <a:p>
            <a:pPr algn="l" indent="0" marL="0">
              <a:lnSpc>
                <a:spcPts val="1106"/>
              </a:lnSpc>
              <a:buNone/>
            </a:pPr>
            <a:r>
              <a:rPr lang="en-US" sz="79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Weaver monetizes through licensing, packages, and ecosystem — not monthly billing, not physical product.</a:t>
            </a:r>
            <a:endParaRPr lang="en-US" sz="790" dirty="0"/>
          </a:p>
        </p:txBody>
      </p:sp>
      <p:sp>
        <p:nvSpPr>
          <p:cNvPr id="6" name="Text 4"/>
          <p:cNvSpPr/>
          <p:nvPr/>
        </p:nvSpPr>
        <p:spPr>
          <a:xfrm>
            <a:off x="372070" y="797719"/>
            <a:ext cx="2014240" cy="3412034"/>
          </a:xfrm>
          <a:prstGeom prst="roundRect">
            <a:avLst>
              <a:gd name="adj" fmla="val 4981"/>
            </a:avLst>
          </a:prstGeom>
          <a:solidFill>
            <a:srgbClr val="F0EFFF"/>
          </a:solidFill>
          <a:ln w="9525">
            <a:solidFill>
              <a:srgbClr val="D8D3F7"/>
            </a:solidFill>
          </a:ln>
          <a:effectLst>
            <a:outerShdw sx="100000" sy="100000" kx="0" ky="0" algn="bl" rotWithShape="0" blurRad="128270" dist="29210" dir="5400000">
              <a:srgbClr val="8b5cf6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09736" y="935385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EDE9FE"/>
              </a:gs>
              <a:gs pos="100000">
                <a:srgbClr val="DDD6F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6243" y="1011891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9736" y="1284387"/>
            <a:ext cx="926616" cy="145703"/>
          </a:xfrm>
          <a:prstGeom prst="roundRect">
            <a:avLst>
              <a:gd name="adj" fmla="val 98495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lIns="71120" tIns="13970" rIns="71120" bIns="13970" rtlCol="0" anchor="t"/>
          <a:lstStyle/>
          <a:p>
            <a:pPr algn="l" indent="0" marL="0">
              <a:buNone/>
            </a:pPr>
            <a:r>
              <a:rPr lang="en-US" sz="620" b="1" spc="25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 – $2,499 / site</a:t>
            </a:r>
            <a:endParaRPr lang="en-US" sz="620" dirty="0"/>
          </a:p>
        </p:txBody>
      </p:sp>
      <p:sp>
        <p:nvSpPr>
          <p:cNvPr id="10" name="Text 7"/>
          <p:cNvSpPr/>
          <p:nvPr/>
        </p:nvSpPr>
        <p:spPr>
          <a:xfrm>
            <a:off x="509736" y="1493341"/>
            <a:ext cx="191279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-8" kern="0" dirty="0">
                <a:solidFill>
                  <a:srgbClr val="12103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Site Intelligence Packages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509736" y="1670745"/>
            <a:ext cx="1773686" cy="52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Per-site compiled </a:t>
            </a:r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World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packages licensed by scale and complexity. Refresh packages sold separately. Volume tiers for agencies and resellers.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509736" y="3901232"/>
            <a:ext cx="1738908" cy="9525"/>
          </a:xfrm>
          <a:prstGeom prst="rect">
            <a:avLst/>
          </a:prstGeom>
          <a:solidFill>
            <a:srgbClr val="D8D3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812" y="3960623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17637" y="3967907"/>
            <a:ext cx="81675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revenue driver</a:t>
            </a:r>
            <a:endParaRPr lang="en-US" sz="620" dirty="0"/>
          </a:p>
        </p:txBody>
      </p:sp>
      <p:sp>
        <p:nvSpPr>
          <p:cNvPr id="15" name="Text 11"/>
          <p:cNvSpPr/>
          <p:nvPr/>
        </p:nvSpPr>
        <p:spPr>
          <a:xfrm>
            <a:off x="2500610" y="797719"/>
            <a:ext cx="2014240" cy="3412034"/>
          </a:xfrm>
          <a:prstGeom prst="roundRect">
            <a:avLst>
              <a:gd name="adj" fmla="val 4981"/>
            </a:avLst>
          </a:prstGeom>
          <a:solidFill>
            <a:srgbClr val="F0EFFF"/>
          </a:solidFill>
          <a:ln w="9525">
            <a:solidFill>
              <a:srgbClr val="D8D3F7"/>
            </a:solidFill>
          </a:ln>
          <a:effectLst>
            <a:outerShdw sx="100000" sy="100000" kx="0" ky="0" algn="bl" rotWithShape="0" blurRad="128270" dist="29210" dir="5400000">
              <a:srgbClr val="8b5cf6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638276" y="935385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EDE9FE"/>
              </a:gs>
              <a:gs pos="100000">
                <a:srgbClr val="DDD6F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4783" y="1011891"/>
            <a:ext cx="132588" cy="1325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638276" y="1284387"/>
            <a:ext cx="959861" cy="145703"/>
          </a:xfrm>
          <a:prstGeom prst="roundRect">
            <a:avLst>
              <a:gd name="adj" fmla="val 98495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lIns="71120" tIns="13970" rIns="71120" bIns="13970" rtlCol="0" anchor="t"/>
          <a:lstStyle/>
          <a:p>
            <a:pPr algn="l" indent="0" marL="0">
              <a:buNone/>
            </a:pPr>
            <a:r>
              <a:rPr lang="en-US" sz="620" b="1" spc="25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carte + 30% fee</a:t>
            </a:r>
            <a:endParaRPr lang="en-US" sz="620" dirty="0"/>
          </a:p>
        </p:txBody>
      </p:sp>
      <p:sp>
        <p:nvSpPr>
          <p:cNvPr id="19" name="Text 14"/>
          <p:cNvSpPr/>
          <p:nvPr/>
        </p:nvSpPr>
        <p:spPr>
          <a:xfrm>
            <a:off x="2638276" y="1493341"/>
            <a:ext cx="191279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-8" kern="0" dirty="0">
                <a:solidFill>
                  <a:srgbClr val="12103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Add-On Ecosystem</a:t>
            </a:r>
            <a:endParaRPr lang="en-US" sz="840" dirty="0"/>
          </a:p>
        </p:txBody>
      </p:sp>
      <p:sp>
        <p:nvSpPr>
          <p:cNvPr id="20" name="Text 15"/>
          <p:cNvSpPr/>
          <p:nvPr/>
        </p:nvSpPr>
        <p:spPr>
          <a:xfrm>
            <a:off x="2638276" y="1670745"/>
            <a:ext cx="1773686" cy="52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packs, intent libraries, workflow modules, audit packs, and enterprise integration packs. </a:t>
            </a:r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platform fee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all third-party add-on sales.</a:t>
            </a:r>
            <a:endParaRPr lang="en-US" sz="680" dirty="0"/>
          </a:p>
        </p:txBody>
      </p:sp>
      <p:sp>
        <p:nvSpPr>
          <p:cNvPr id="21" name="Text 16"/>
          <p:cNvSpPr/>
          <p:nvPr/>
        </p:nvSpPr>
        <p:spPr>
          <a:xfrm>
            <a:off x="2638276" y="3901232"/>
            <a:ext cx="1738908" cy="9525"/>
          </a:xfrm>
          <a:prstGeom prst="rect">
            <a:avLst/>
          </a:prstGeom>
          <a:solidFill>
            <a:srgbClr val="D8D3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04352" y="3960623"/>
            <a:ext cx="132588" cy="1325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746177" y="3967907"/>
            <a:ext cx="86488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flywheel</a:t>
            </a:r>
            <a:endParaRPr lang="en-US" sz="620" dirty="0"/>
          </a:p>
        </p:txBody>
      </p:sp>
      <p:sp>
        <p:nvSpPr>
          <p:cNvPr id="24" name="Text 18"/>
          <p:cNvSpPr/>
          <p:nvPr/>
        </p:nvSpPr>
        <p:spPr>
          <a:xfrm>
            <a:off x="4629150" y="797719"/>
            <a:ext cx="2014240" cy="3412034"/>
          </a:xfrm>
          <a:prstGeom prst="roundRect">
            <a:avLst>
              <a:gd name="adj" fmla="val 4981"/>
            </a:avLst>
          </a:prstGeom>
          <a:solidFill>
            <a:srgbClr val="F0EFFF"/>
          </a:solidFill>
          <a:ln w="9525">
            <a:solidFill>
              <a:srgbClr val="D8D3F7"/>
            </a:solidFill>
          </a:ln>
          <a:effectLst>
            <a:outerShdw sx="100000" sy="100000" kx="0" ky="0" algn="bl" rotWithShape="0" blurRad="128270" dist="29210" dir="5400000">
              <a:srgbClr val="8b5cf6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766816" y="935385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EDE9FE"/>
              </a:gs>
              <a:gs pos="100000">
                <a:srgbClr val="DDD6F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43323" y="1011891"/>
            <a:ext cx="132588" cy="132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66816" y="1284387"/>
            <a:ext cx="755532" cy="145703"/>
          </a:xfrm>
          <a:prstGeom prst="roundRect">
            <a:avLst>
              <a:gd name="adj" fmla="val 98495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lIns="71120" tIns="13970" rIns="71120" bIns="13970" rtlCol="0" anchor="t"/>
          <a:lstStyle/>
          <a:p>
            <a:pPr algn="l" indent="0" marL="0">
              <a:buNone/>
            </a:pPr>
            <a:r>
              <a:rPr lang="en-US" sz="620" b="1" spc="25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license</a:t>
            </a:r>
            <a:endParaRPr lang="en-US" sz="620" dirty="0"/>
          </a:p>
        </p:txBody>
      </p:sp>
      <p:sp>
        <p:nvSpPr>
          <p:cNvPr id="28" name="Text 21"/>
          <p:cNvSpPr/>
          <p:nvPr/>
        </p:nvSpPr>
        <p:spPr>
          <a:xfrm>
            <a:off x="4766816" y="1493341"/>
            <a:ext cx="191279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-8" kern="0" dirty="0">
                <a:solidFill>
                  <a:srgbClr val="12103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Enterprise Engine License</a:t>
            </a:r>
            <a:endParaRPr lang="en-US" sz="840" dirty="0"/>
          </a:p>
        </p:txBody>
      </p:sp>
      <p:sp>
        <p:nvSpPr>
          <p:cNvPr id="29" name="Text 22"/>
          <p:cNvSpPr/>
          <p:nvPr/>
        </p:nvSpPr>
        <p:spPr>
          <a:xfrm>
            <a:off x="4766816" y="1670745"/>
            <a:ext cx="1773686" cy="52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 teams running ORB Weaver at scale. Includes </a:t>
            </a:r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scan credits, priority processing, SLA support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unlimited refresh packages.</a:t>
            </a:r>
            <a:endParaRPr lang="en-US" sz="680" dirty="0"/>
          </a:p>
        </p:txBody>
      </p:sp>
      <p:sp>
        <p:nvSpPr>
          <p:cNvPr id="30" name="Text 23"/>
          <p:cNvSpPr/>
          <p:nvPr/>
        </p:nvSpPr>
        <p:spPr>
          <a:xfrm>
            <a:off x="4766816" y="3901232"/>
            <a:ext cx="1738908" cy="9525"/>
          </a:xfrm>
          <a:prstGeom prst="rect">
            <a:avLst/>
          </a:prstGeom>
          <a:solidFill>
            <a:srgbClr val="D8D3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32892" y="3960623"/>
            <a:ext cx="132588" cy="1325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874716" y="3967907"/>
            <a:ext cx="71558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High-ACV anchor</a:t>
            </a:r>
            <a:endParaRPr lang="en-US" sz="620" dirty="0"/>
          </a:p>
        </p:txBody>
      </p:sp>
      <p:sp>
        <p:nvSpPr>
          <p:cNvPr id="33" name="Text 25"/>
          <p:cNvSpPr/>
          <p:nvPr/>
        </p:nvSpPr>
        <p:spPr>
          <a:xfrm>
            <a:off x="6757690" y="797719"/>
            <a:ext cx="2014240" cy="3412034"/>
          </a:xfrm>
          <a:prstGeom prst="roundRect">
            <a:avLst>
              <a:gd name="adj" fmla="val 4981"/>
            </a:avLst>
          </a:prstGeom>
          <a:solidFill>
            <a:srgbClr val="F0EFFF"/>
          </a:solidFill>
          <a:ln w="9525">
            <a:solidFill>
              <a:srgbClr val="D8D3F7"/>
            </a:solidFill>
          </a:ln>
          <a:effectLst>
            <a:outerShdw sx="100000" sy="100000" kx="0" ky="0" algn="bl" rotWithShape="0" blurRad="128270" dist="29210" dir="5400000">
              <a:srgbClr val="8b5cf6">
                <a:alpha val="10000"/>
              </a:srgbClr>
            </a:outerShdw>
          </a:effectLst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6895356" y="935385"/>
            <a:ext cx="285750" cy="285750"/>
          </a:xfrm>
          <a:prstGeom prst="roundRect">
            <a:avLst>
              <a:gd name="adj" fmla="val 24889"/>
            </a:avLst>
          </a:prstGeom>
          <a:gradFill rotWithShape="1">
            <a:gsLst>
              <a:gs pos="0">
                <a:srgbClr val="EDE9FE"/>
              </a:gs>
              <a:gs pos="100000">
                <a:srgbClr val="DDD6FE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71862" y="1011891"/>
            <a:ext cx="132588" cy="13258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895356" y="1284387"/>
            <a:ext cx="738985" cy="145703"/>
          </a:xfrm>
          <a:prstGeom prst="roundRect">
            <a:avLst>
              <a:gd name="adj" fmla="val 98495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lIns="71120" tIns="13970" rIns="71120" bIns="13970" rtlCol="0" anchor="t"/>
          <a:lstStyle/>
          <a:p>
            <a:pPr algn="l" indent="0" marL="0">
              <a:buNone/>
            </a:pPr>
            <a:r>
              <a:rPr lang="en-US" sz="620" b="1" spc="25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licensing</a:t>
            </a:r>
            <a:endParaRPr lang="en-US" sz="620" dirty="0"/>
          </a:p>
        </p:txBody>
      </p:sp>
      <p:sp>
        <p:nvSpPr>
          <p:cNvPr id="37" name="Text 28"/>
          <p:cNvSpPr/>
          <p:nvPr/>
        </p:nvSpPr>
        <p:spPr>
          <a:xfrm>
            <a:off x="6895356" y="1493341"/>
            <a:ext cx="1912799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spc="-8" kern="0" dirty="0">
                <a:solidFill>
                  <a:srgbClr val="12103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White-Label Platform License</a:t>
            </a:r>
            <a:endParaRPr lang="en-US" sz="840" dirty="0"/>
          </a:p>
        </p:txBody>
      </p:sp>
      <p:sp>
        <p:nvSpPr>
          <p:cNvPr id="38" name="Text 29"/>
          <p:cNvSpPr/>
          <p:nvPr/>
        </p:nvSpPr>
        <p:spPr>
          <a:xfrm>
            <a:off x="6895356" y="1670745"/>
            <a:ext cx="1773686" cy="5256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licensing of the scanning and compilation engine for </a:t>
            </a:r>
            <a:pPr algn="l" indent="0" marL="0">
              <a:lnSpc>
                <a:spcPts val="986"/>
              </a:lnSpc>
              <a:buNone/>
            </a:pPr>
            <a:r>
              <a:rPr lang="en-US" sz="68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platforms, automation vendors</a:t>
            </a:r>
            <a:pPr algn="l" indent="0" marL="0">
              <a:lnSpc>
                <a:spcPts val="986"/>
              </a:lnSpc>
              <a:buNone/>
            </a:pPr>
            <a:r>
              <a:rPr lang="en-US" sz="680" dirty="0">
                <a:solidFill>
                  <a:srgbClr val="5A5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enterprise software embedding site intelligence natively.</a:t>
            </a:r>
            <a:endParaRPr lang="en-US" sz="680" dirty="0"/>
          </a:p>
        </p:txBody>
      </p:sp>
      <p:sp>
        <p:nvSpPr>
          <p:cNvPr id="39" name="Text 30"/>
          <p:cNvSpPr/>
          <p:nvPr/>
        </p:nvSpPr>
        <p:spPr>
          <a:xfrm>
            <a:off x="6895356" y="3901232"/>
            <a:ext cx="1738908" cy="9525"/>
          </a:xfrm>
          <a:prstGeom prst="rect">
            <a:avLst/>
          </a:prstGeom>
          <a:solidFill>
            <a:srgbClr val="D8D3F7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61432" y="3960623"/>
            <a:ext cx="132588" cy="13258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003256" y="3967907"/>
            <a:ext cx="104725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2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Highest-leverage channel</a:t>
            </a:r>
            <a:endParaRPr lang="en-US" sz="620" dirty="0"/>
          </a:p>
        </p:txBody>
      </p:sp>
      <p:sp>
        <p:nvSpPr>
          <p:cNvPr id="42" name="Text 32"/>
          <p:cNvSpPr/>
          <p:nvPr/>
        </p:nvSpPr>
        <p:spPr>
          <a:xfrm>
            <a:off x="372070" y="4324052"/>
            <a:ext cx="8399859" cy="618827"/>
          </a:xfrm>
          <a:prstGeom prst="roundRect">
            <a:avLst>
              <a:gd name="adj" fmla="val 13955"/>
            </a:avLst>
          </a:prstGeom>
          <a:gradFill rotWithShape="1">
            <a:gsLst>
              <a:gs pos="0">
                <a:srgbClr val="1A1040"/>
              </a:gs>
              <a:gs pos="100000">
                <a:srgbClr val="13132B"/>
              </a:gs>
            </a:gsLst>
            <a:lin ang="0" scaled="1"/>
          </a:gradFill>
          <a:ln w="9525">
            <a:solidFill>
              <a:srgbClr val="8B5CF6"/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69723" y="4567098"/>
            <a:ext cx="132588" cy="13258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60809" y="4483001"/>
            <a:ext cx="537456" cy="3009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2370"/>
              </a:lnSpc>
              <a:buNone/>
            </a:pPr>
            <a:r>
              <a:rPr lang="en-US" sz="1580" b="1" spc="-32" kern="0" dirty="0">
                <a:solidFill>
                  <a:srgbClr val="A78BF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82%+</a:t>
            </a:r>
            <a:endParaRPr lang="en-US" sz="1580" dirty="0"/>
          </a:p>
        </p:txBody>
      </p:sp>
      <p:sp>
        <p:nvSpPr>
          <p:cNvPr id="45" name="Text 34"/>
          <p:cNvSpPr/>
          <p:nvPr/>
        </p:nvSpPr>
        <p:spPr>
          <a:xfrm>
            <a:off x="1334095" y="4568726"/>
            <a:ext cx="127039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GROSS MARGIN</a:t>
            </a:r>
            <a:endParaRPr lang="en-US" sz="680" dirty="0"/>
          </a:p>
        </p:txBody>
      </p:sp>
      <p:sp>
        <p:nvSpPr>
          <p:cNvPr id="46" name="Text 35"/>
          <p:cNvSpPr/>
          <p:nvPr/>
        </p:nvSpPr>
        <p:spPr>
          <a:xfrm>
            <a:off x="2603302" y="4504581"/>
            <a:ext cx="7590" cy="257770"/>
          </a:xfrm>
          <a:prstGeom prst="rect">
            <a:avLst/>
          </a:prstGeom>
          <a:solidFill>
            <a:srgbClr val="8B5CF6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6"/>
          <p:cNvSpPr/>
          <p:nvPr/>
        </p:nvSpPr>
        <p:spPr>
          <a:xfrm>
            <a:off x="2725192" y="4611886"/>
            <a:ext cx="43160" cy="43160"/>
          </a:xfrm>
          <a:prstGeom prst="ellipse">
            <a:avLst/>
          </a:prstGeom>
          <a:solidFill>
            <a:srgbClr val="8B5CF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37"/>
          <p:cNvSpPr/>
          <p:nvPr/>
        </p:nvSpPr>
        <p:spPr>
          <a:xfrm>
            <a:off x="2882652" y="4423321"/>
            <a:ext cx="4327496" cy="441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60" b="1" dirty="0">
                <a:solidFill>
                  <a:srgbClr val="C4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 of goods. Pure software economics.</a:t>
            </a:r>
            <a:pPr algn="l" indent="0" marL="0">
              <a:lnSpc>
                <a:spcPts val="1102"/>
              </a:lnSpc>
              <a:buNone/>
            </a:pPr>
            <a:r>
              <a:rPr lang="en-US" sz="760" dirty="0">
                <a:solidFill>
                  <a:srgbClr val="C4B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manufacturing. No infrastructure COGS. All four pillars operate at identical margin — every dollar of revenue drops nearly entirely to gross profit.</a:t>
            </a:r>
            <a:endParaRPr lang="en-US" sz="760" dirty="0"/>
          </a:p>
        </p:txBody>
      </p:sp>
      <p:sp>
        <p:nvSpPr>
          <p:cNvPr id="49" name="Text 38"/>
          <p:cNvSpPr/>
          <p:nvPr/>
        </p:nvSpPr>
        <p:spPr>
          <a:xfrm>
            <a:off x="7239595" y="4504581"/>
            <a:ext cx="7590" cy="257770"/>
          </a:xfrm>
          <a:prstGeom prst="rect">
            <a:avLst/>
          </a:prstGeom>
          <a:solidFill>
            <a:srgbClr val="8B5CF6">
              <a:alpha val="3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39"/>
          <p:cNvSpPr/>
          <p:nvPr/>
        </p:nvSpPr>
        <p:spPr>
          <a:xfrm>
            <a:off x="7361486" y="4611886"/>
            <a:ext cx="43160" cy="43160"/>
          </a:xfrm>
          <a:prstGeom prst="ellipse">
            <a:avLst/>
          </a:prstGeom>
          <a:solidFill>
            <a:srgbClr val="8B5CF6"/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485022" y="4407852"/>
            <a:ext cx="132588" cy="13258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7626846" y="4412307"/>
            <a:ext cx="71590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manufacturing</a:t>
            </a:r>
            <a:endParaRPr lang="en-US" sz="650" dirty="0"/>
          </a:p>
        </p:txBody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485022" y="4567098"/>
            <a:ext cx="132588" cy="132588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7626846" y="4571554"/>
            <a:ext cx="96278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infrastructure COGS</a:t>
            </a:r>
            <a:endParaRPr lang="en-US" sz="650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485022" y="4726344"/>
            <a:ext cx="132588" cy="132588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7626846" y="4730800"/>
            <a:ext cx="1028432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65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subscriptions required</a:t>
            </a:r>
            <a:endParaRPr lang="en-US" sz="650" dirty="0"/>
          </a:p>
        </p:txBody>
      </p:sp>
      <p:sp>
        <p:nvSpPr>
          <p:cNvPr id="57" name="Text 43"/>
          <p:cNvSpPr/>
          <p:nvPr/>
        </p:nvSpPr>
        <p:spPr>
          <a:xfrm>
            <a:off x="381595" y="807244"/>
            <a:ext cx="1995192" cy="21580"/>
          </a:xfrm>
          <a:custGeom>
            <a:avLst/>
            <a:gdLst/>
            <a:ahLst/>
            <a:cxnLst/>
            <a:rect l="l" t="t" r="r" b="b"/>
            <a:pathLst>
              <a:path w="1995192" h="21580">
                <a:moveTo>
                  <a:pt x="100330" y="0"/>
                </a:moveTo>
                <a:lnTo>
                  <a:pt x="1894863" y="0"/>
                </a:lnTo>
                <a:lnTo>
                  <a:pt x="1917971" y="2698"/>
                </a:lnTo>
                <a:lnTo>
                  <a:pt x="1927319" y="5395"/>
                </a:lnTo>
                <a:lnTo>
                  <a:pt x="1934338" y="8093"/>
                </a:lnTo>
                <a:lnTo>
                  <a:pt x="1940125" y="10790"/>
                </a:lnTo>
                <a:lnTo>
                  <a:pt x="1945107" y="13488"/>
                </a:lnTo>
                <a:lnTo>
                  <a:pt x="1949504" y="16185"/>
                </a:lnTo>
                <a:lnTo>
                  <a:pt x="1953449" y="18883"/>
                </a:lnTo>
                <a:lnTo>
                  <a:pt x="195702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4"/>
          <p:cNvSpPr/>
          <p:nvPr/>
        </p:nvSpPr>
        <p:spPr>
          <a:xfrm>
            <a:off x="2510135" y="807244"/>
            <a:ext cx="1995192" cy="21580"/>
          </a:xfrm>
          <a:custGeom>
            <a:avLst/>
            <a:gdLst/>
            <a:ahLst/>
            <a:cxnLst/>
            <a:rect l="l" t="t" r="r" b="b"/>
            <a:pathLst>
              <a:path w="1995192" h="21580">
                <a:moveTo>
                  <a:pt x="100330" y="0"/>
                </a:moveTo>
                <a:lnTo>
                  <a:pt x="1894863" y="0"/>
                </a:lnTo>
                <a:lnTo>
                  <a:pt x="1917971" y="2698"/>
                </a:lnTo>
                <a:lnTo>
                  <a:pt x="1927319" y="5395"/>
                </a:lnTo>
                <a:lnTo>
                  <a:pt x="1934338" y="8093"/>
                </a:lnTo>
                <a:lnTo>
                  <a:pt x="1940125" y="10790"/>
                </a:lnTo>
                <a:lnTo>
                  <a:pt x="1945107" y="13488"/>
                </a:lnTo>
                <a:lnTo>
                  <a:pt x="1949504" y="16185"/>
                </a:lnTo>
                <a:lnTo>
                  <a:pt x="1953449" y="18883"/>
                </a:lnTo>
                <a:lnTo>
                  <a:pt x="195702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45"/>
          <p:cNvSpPr/>
          <p:nvPr/>
        </p:nvSpPr>
        <p:spPr>
          <a:xfrm>
            <a:off x="4638675" y="807244"/>
            <a:ext cx="1995192" cy="21580"/>
          </a:xfrm>
          <a:custGeom>
            <a:avLst/>
            <a:gdLst/>
            <a:ahLst/>
            <a:cxnLst/>
            <a:rect l="l" t="t" r="r" b="b"/>
            <a:pathLst>
              <a:path w="1995192" h="21580">
                <a:moveTo>
                  <a:pt x="100330" y="0"/>
                </a:moveTo>
                <a:lnTo>
                  <a:pt x="1894863" y="0"/>
                </a:lnTo>
                <a:lnTo>
                  <a:pt x="1917971" y="2698"/>
                </a:lnTo>
                <a:lnTo>
                  <a:pt x="1927319" y="5395"/>
                </a:lnTo>
                <a:lnTo>
                  <a:pt x="1934338" y="8093"/>
                </a:lnTo>
                <a:lnTo>
                  <a:pt x="1940125" y="10790"/>
                </a:lnTo>
                <a:lnTo>
                  <a:pt x="1945107" y="13488"/>
                </a:lnTo>
                <a:lnTo>
                  <a:pt x="1949504" y="16185"/>
                </a:lnTo>
                <a:lnTo>
                  <a:pt x="1953449" y="18883"/>
                </a:lnTo>
                <a:lnTo>
                  <a:pt x="195702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46"/>
          <p:cNvSpPr/>
          <p:nvPr/>
        </p:nvSpPr>
        <p:spPr>
          <a:xfrm>
            <a:off x="6767215" y="807244"/>
            <a:ext cx="1995192" cy="21580"/>
          </a:xfrm>
          <a:custGeom>
            <a:avLst/>
            <a:gdLst/>
            <a:ahLst/>
            <a:cxnLst/>
            <a:rect l="l" t="t" r="r" b="b"/>
            <a:pathLst>
              <a:path w="1995192" h="21580">
                <a:moveTo>
                  <a:pt x="100330" y="0"/>
                </a:moveTo>
                <a:lnTo>
                  <a:pt x="1894863" y="0"/>
                </a:lnTo>
                <a:lnTo>
                  <a:pt x="1917971" y="2698"/>
                </a:lnTo>
                <a:lnTo>
                  <a:pt x="1927319" y="5395"/>
                </a:lnTo>
                <a:lnTo>
                  <a:pt x="1934338" y="8093"/>
                </a:lnTo>
                <a:lnTo>
                  <a:pt x="1940125" y="10790"/>
                </a:lnTo>
                <a:lnTo>
                  <a:pt x="1945107" y="13488"/>
                </a:lnTo>
                <a:lnTo>
                  <a:pt x="1949504" y="16185"/>
                </a:lnTo>
                <a:lnTo>
                  <a:pt x="1953449" y="18883"/>
                </a:lnTo>
                <a:lnTo>
                  <a:pt x="1957028" y="21580"/>
                </a:lnTo>
                <a:lnTo>
                  <a:pt x="38164" y="21580"/>
                </a:lnTo>
                <a:lnTo>
                  <a:pt x="41743" y="18883"/>
                </a:lnTo>
                <a:lnTo>
                  <a:pt x="45688" y="16185"/>
                </a:lnTo>
                <a:lnTo>
                  <a:pt x="50085" y="13488"/>
                </a:lnTo>
                <a:lnTo>
                  <a:pt x="55067" y="10790"/>
                </a:lnTo>
                <a:lnTo>
                  <a:pt x="60854" y="8093"/>
                </a:lnTo>
                <a:lnTo>
                  <a:pt x="67873" y="5395"/>
                </a:lnTo>
                <a:lnTo>
                  <a:pt x="77221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E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F59E0B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57770"/>
            <a:ext cx="3271552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690" spc="-30" kern="0" dirty="0">
                <a:solidFill>
                  <a:srgbClr val="1A14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Revenue Projections: </a:t>
            </a:r>
            <a:pPr algn="l" indent="0" marL="0">
              <a:lnSpc>
                <a:spcPts val="2535"/>
              </a:lnSpc>
              <a:buNone/>
            </a:pPr>
            <a:r>
              <a:rPr lang="en-US" sz="1690" b="1" spc="-30" kern="0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2026–2032</a:t>
            </a:r>
            <a:endParaRPr lang="en-US" sz="1690" dirty="0"/>
          </a:p>
        </p:txBody>
      </p:sp>
      <p:sp>
        <p:nvSpPr>
          <p:cNvPr id="4" name="Text 2"/>
          <p:cNvSpPr/>
          <p:nvPr/>
        </p:nvSpPr>
        <p:spPr>
          <a:xfrm>
            <a:off x="400050" y="601266"/>
            <a:ext cx="91782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79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package adoption. Ecosystem and white-label upside not fully modeled.</a:t>
            </a:r>
            <a:endParaRPr lang="en-US" sz="790" dirty="0"/>
          </a:p>
        </p:txBody>
      </p:sp>
      <p:sp>
        <p:nvSpPr>
          <p:cNvPr id="5" name="Text 3"/>
          <p:cNvSpPr/>
          <p:nvPr/>
        </p:nvSpPr>
        <p:spPr>
          <a:xfrm>
            <a:off x="400050" y="822722"/>
            <a:ext cx="1765033" cy="228898"/>
          </a:xfrm>
          <a:prstGeom prst="roundRect">
            <a:avLst>
              <a:gd name="adj" fmla="val 3117603"/>
            </a:avLst>
          </a:prstGeom>
          <a:solidFill>
            <a:srgbClr val="EDE9FE"/>
          </a:solidFill>
          <a:ln w="9525">
            <a:solidFill>
              <a:srgbClr val="C4B5FD"/>
            </a:solidFill>
          </a:ln>
        </p:spPr>
        <p:txBody>
          <a:bodyPr wrap="none" lIns="213012" tIns="35560" rIns="100330" bIns="3556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$110M projected Year 7 revenue</a:t>
            </a:r>
            <a:endParaRPr lang="en-US" sz="73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343" y="870802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01466" y="822722"/>
            <a:ext cx="1207606" cy="228898"/>
          </a:xfrm>
          <a:prstGeom prst="roundRect">
            <a:avLst>
              <a:gd name="adj" fmla="val 3117603"/>
            </a:avLst>
          </a:prstGeom>
          <a:solidFill>
            <a:srgbClr val="D1FAE5"/>
          </a:solidFill>
          <a:ln w="9525">
            <a:solidFill>
              <a:srgbClr val="6EE7B7"/>
            </a:solidFill>
          </a:ln>
        </p:spPr>
        <p:txBody>
          <a:bodyPr wrap="none" lIns="213012" tIns="35560" rIns="100330" bIns="3556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82%+ gross margin</a:t>
            </a:r>
            <a:endParaRPr lang="en-US" sz="73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79758" y="870802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6384" y="822722"/>
            <a:ext cx="2076992" cy="228898"/>
          </a:xfrm>
          <a:prstGeom prst="roundRect">
            <a:avLst>
              <a:gd name="adj" fmla="val 3117603"/>
            </a:avLst>
          </a:prstGeom>
          <a:solidFill>
            <a:srgbClr val="FEF3C7"/>
          </a:solidFill>
          <a:ln w="9525">
            <a:solidFill>
              <a:srgbClr val="FCD34D"/>
            </a:solidFill>
          </a:ln>
        </p:spPr>
        <p:txBody>
          <a:bodyPr wrap="none" lIns="213012" tIns="35560" rIns="100330" bIns="35560" rtlCol="0" anchor="ctr"/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1.1× ecosystem-to-package ratio by Y7</a:t>
            </a:r>
            <a:endParaRPr lang="en-US" sz="73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34677" y="870802"/>
            <a:ext cx="132588" cy="132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66780" y="894011"/>
            <a:ext cx="86320" cy="86320"/>
          </a:xfrm>
          <a:prstGeom prst="roundRect">
            <a:avLst>
              <a:gd name="adj" fmla="val 25012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5802511" y="872430"/>
            <a:ext cx="150695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Packages &amp; Enterprise License</a:t>
            </a:r>
            <a:endParaRPr lang="en-US" sz="680" dirty="0"/>
          </a:p>
        </p:txBody>
      </p:sp>
      <p:sp>
        <p:nvSpPr>
          <p:cNvPr id="13" name="Text 8"/>
          <p:cNvSpPr/>
          <p:nvPr/>
        </p:nvSpPr>
        <p:spPr>
          <a:xfrm>
            <a:off x="7300615" y="894011"/>
            <a:ext cx="86320" cy="86320"/>
          </a:xfrm>
          <a:prstGeom prst="roundRect">
            <a:avLst>
              <a:gd name="adj" fmla="val 25012"/>
            </a:avLst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7436346" y="872430"/>
            <a:ext cx="1438364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Ecosystem &amp; White-Label</a:t>
            </a:r>
            <a:endParaRPr lang="en-US" sz="680" dirty="0"/>
          </a:p>
        </p:txBody>
      </p:sp>
      <p:sp>
        <p:nvSpPr>
          <p:cNvPr id="15" name="Text 10"/>
          <p:cNvSpPr/>
          <p:nvPr/>
        </p:nvSpPr>
        <p:spPr>
          <a:xfrm>
            <a:off x="429220" y="1151930"/>
            <a:ext cx="239244" cy="723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62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$110M
</a:t>
            </a:r>
            <a:pPr algn="l" indent="0" marL="0">
              <a:lnSpc>
                <a:spcPts val="1800"/>
              </a:lnSpc>
              <a:buNone/>
            </a:pPr>
            <a:r>
              <a:rPr lang="en-US" sz="62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$82M
</a:t>
            </a:r>
            <a:pPr algn="l" indent="0" marL="0">
              <a:lnSpc>
                <a:spcPts val="1800"/>
              </a:lnSpc>
              <a:buNone/>
            </a:pPr>
            <a:r>
              <a:rPr lang="en-US" sz="62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$55M
</a:t>
            </a:r>
            <a:pPr algn="l" indent="0" marL="0">
              <a:lnSpc>
                <a:spcPts val="1800"/>
              </a:lnSpc>
              <a:buNone/>
            </a:pPr>
            <a:r>
              <a:rPr lang="en-US" sz="62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$27M
</a:t>
            </a:r>
            <a:pPr algn="l" indent="0" marL="0">
              <a:lnSpc>
                <a:spcPts val="1800"/>
              </a:lnSpc>
              <a:buNone/>
            </a:pPr>
            <a:r>
              <a:rPr lang="en-US" sz="62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29270" y="1151930"/>
            <a:ext cx="7857530" cy="7590"/>
          </a:xfrm>
          <a:prstGeom prst="rect">
            <a:avLst/>
          </a:prstGeom>
          <a:solidFill>
            <a:srgbClr val="645AB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829270" y="2054870"/>
            <a:ext cx="7857530" cy="7590"/>
          </a:xfrm>
          <a:prstGeom prst="rect">
            <a:avLst/>
          </a:prstGeom>
          <a:solidFill>
            <a:srgbClr val="645AB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829270" y="2957959"/>
            <a:ext cx="7857530" cy="7590"/>
          </a:xfrm>
          <a:prstGeom prst="rect">
            <a:avLst/>
          </a:prstGeom>
          <a:solidFill>
            <a:srgbClr val="645AB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829270" y="3860899"/>
            <a:ext cx="7857530" cy="7590"/>
          </a:xfrm>
          <a:prstGeom prst="rect">
            <a:avLst/>
          </a:prstGeom>
          <a:solidFill>
            <a:srgbClr val="645AB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829270" y="4763839"/>
            <a:ext cx="7857530" cy="7590"/>
          </a:xfrm>
          <a:prstGeom prst="rect">
            <a:avLst/>
          </a:prstGeom>
          <a:solidFill>
            <a:srgbClr val="645AB4">
              <a:alpha val="12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829270" y="4485829"/>
            <a:ext cx="7857530" cy="13841"/>
          </a:xfrm>
          <a:prstGeom prst="rect">
            <a:avLst/>
          </a:prstGeom>
          <a:solidFill>
            <a:srgbClr val="645AB4">
              <a:alpha val="2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1118094" y="3851374"/>
            <a:ext cx="27945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$700K</a:t>
            </a:r>
            <a:endParaRPr lang="en-US" sz="680" dirty="0"/>
          </a:p>
        </p:txBody>
      </p:sp>
      <p:sp>
        <p:nvSpPr>
          <p:cNvPr id="23" name="Text 18"/>
          <p:cNvSpPr/>
          <p:nvPr/>
        </p:nvSpPr>
        <p:spPr>
          <a:xfrm>
            <a:off x="1000720" y="4067175"/>
            <a:ext cx="514350" cy="100310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1000720" y="4010025"/>
            <a:ext cx="514350" cy="57150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540000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1154906" y="4210645"/>
            <a:ext cx="2265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730" dirty="0"/>
          </a:p>
        </p:txBody>
      </p:sp>
      <p:sp>
        <p:nvSpPr>
          <p:cNvPr id="26" name="Text 21"/>
          <p:cNvSpPr/>
          <p:nvPr/>
        </p:nvSpPr>
        <p:spPr>
          <a:xfrm>
            <a:off x="1214438" y="4349651"/>
            <a:ext cx="9560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560" dirty="0"/>
          </a:p>
        </p:txBody>
      </p:sp>
      <p:sp>
        <p:nvSpPr>
          <p:cNvPr id="27" name="Text 22"/>
          <p:cNvSpPr/>
          <p:nvPr/>
        </p:nvSpPr>
        <p:spPr>
          <a:xfrm>
            <a:off x="1957001" y="3636764"/>
            <a:ext cx="316290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$2.68M</a:t>
            </a:r>
            <a:endParaRPr lang="en-US" sz="680" dirty="0"/>
          </a:p>
        </p:txBody>
      </p:sp>
      <p:sp>
        <p:nvSpPr>
          <p:cNvPr id="28" name="Text 23"/>
          <p:cNvSpPr/>
          <p:nvPr/>
        </p:nvSpPr>
        <p:spPr>
          <a:xfrm>
            <a:off x="1857970" y="3917305"/>
            <a:ext cx="514350" cy="275198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$1.9M</a:t>
            </a:r>
            <a:endParaRPr lang="en-US" sz="620" dirty="0"/>
          </a:p>
        </p:txBody>
      </p:sp>
      <p:sp>
        <p:nvSpPr>
          <p:cNvPr id="29" name="Text 24"/>
          <p:cNvSpPr/>
          <p:nvPr/>
        </p:nvSpPr>
        <p:spPr>
          <a:xfrm>
            <a:off x="1857970" y="3795415"/>
            <a:ext cx="514350" cy="134079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$780K</a:t>
            </a:r>
            <a:endParaRPr lang="en-US" sz="510" dirty="0"/>
          </a:p>
        </p:txBody>
      </p:sp>
      <p:sp>
        <p:nvSpPr>
          <p:cNvPr id="30" name="Text 25"/>
          <p:cNvSpPr/>
          <p:nvPr/>
        </p:nvSpPr>
        <p:spPr>
          <a:xfrm>
            <a:off x="2012156" y="4210645"/>
            <a:ext cx="2265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730" dirty="0"/>
          </a:p>
        </p:txBody>
      </p:sp>
      <p:sp>
        <p:nvSpPr>
          <p:cNvPr id="31" name="Text 26"/>
          <p:cNvSpPr/>
          <p:nvPr/>
        </p:nvSpPr>
        <p:spPr>
          <a:xfrm>
            <a:off x="2071688" y="4349651"/>
            <a:ext cx="9560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560" dirty="0"/>
          </a:p>
        </p:txBody>
      </p:sp>
      <p:sp>
        <p:nvSpPr>
          <p:cNvPr id="32" name="Text 27"/>
          <p:cNvSpPr/>
          <p:nvPr/>
        </p:nvSpPr>
        <p:spPr>
          <a:xfrm>
            <a:off x="2840608" y="2922984"/>
            <a:ext cx="26357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$8.7M</a:t>
            </a:r>
            <a:endParaRPr lang="en-US" sz="680" dirty="0"/>
          </a:p>
        </p:txBody>
      </p:sp>
      <p:sp>
        <p:nvSpPr>
          <p:cNvPr id="33" name="Text 28"/>
          <p:cNvSpPr/>
          <p:nvPr/>
        </p:nvSpPr>
        <p:spPr>
          <a:xfrm>
            <a:off x="2715220" y="3460105"/>
            <a:ext cx="514350" cy="778118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$5.8M</a:t>
            </a:r>
            <a:endParaRPr lang="en-US" sz="620" dirty="0"/>
          </a:p>
        </p:txBody>
      </p:sp>
      <p:sp>
        <p:nvSpPr>
          <p:cNvPr id="34" name="Text 29"/>
          <p:cNvSpPr/>
          <p:nvPr/>
        </p:nvSpPr>
        <p:spPr>
          <a:xfrm>
            <a:off x="2715220" y="3081784"/>
            <a:ext cx="514350" cy="416153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$2.9M</a:t>
            </a:r>
            <a:endParaRPr lang="en-US" sz="620" dirty="0"/>
          </a:p>
        </p:txBody>
      </p:sp>
      <p:sp>
        <p:nvSpPr>
          <p:cNvPr id="35" name="Text 30"/>
          <p:cNvSpPr/>
          <p:nvPr/>
        </p:nvSpPr>
        <p:spPr>
          <a:xfrm>
            <a:off x="2869406" y="4210645"/>
            <a:ext cx="2265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730" dirty="0"/>
          </a:p>
        </p:txBody>
      </p:sp>
      <p:sp>
        <p:nvSpPr>
          <p:cNvPr id="36" name="Text 31"/>
          <p:cNvSpPr/>
          <p:nvPr/>
        </p:nvSpPr>
        <p:spPr>
          <a:xfrm>
            <a:off x="2928938" y="4349651"/>
            <a:ext cx="9560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560" dirty="0"/>
          </a:p>
        </p:txBody>
      </p:sp>
      <p:sp>
        <p:nvSpPr>
          <p:cNvPr id="37" name="Text 32"/>
          <p:cNvSpPr/>
          <p:nvPr/>
        </p:nvSpPr>
        <p:spPr>
          <a:xfrm>
            <a:off x="5496602" y="2201763"/>
            <a:ext cx="237217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$32M</a:t>
            </a:r>
            <a:endParaRPr lang="en-US" sz="680" dirty="0"/>
          </a:p>
        </p:txBody>
      </p:sp>
      <p:sp>
        <p:nvSpPr>
          <p:cNvPr id="38" name="Text 33"/>
          <p:cNvSpPr/>
          <p:nvPr/>
        </p:nvSpPr>
        <p:spPr>
          <a:xfrm>
            <a:off x="5358110" y="3152775"/>
            <a:ext cx="514350" cy="1116181"/>
          </a:xfrm>
          <a:prstGeom prst="rect">
            <a:avLst/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$18M</a:t>
            </a:r>
            <a:endParaRPr lang="en-US" sz="620" dirty="0"/>
          </a:p>
        </p:txBody>
      </p:sp>
      <p:sp>
        <p:nvSpPr>
          <p:cNvPr id="39" name="Text 34"/>
          <p:cNvSpPr/>
          <p:nvPr/>
        </p:nvSpPr>
        <p:spPr>
          <a:xfrm>
            <a:off x="5358110" y="2360414"/>
            <a:ext cx="514350" cy="871597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$14M</a:t>
            </a:r>
            <a:endParaRPr lang="en-US" sz="620" dirty="0"/>
          </a:p>
        </p:txBody>
      </p:sp>
      <p:sp>
        <p:nvSpPr>
          <p:cNvPr id="40" name="Text 35"/>
          <p:cNvSpPr/>
          <p:nvPr/>
        </p:nvSpPr>
        <p:spPr>
          <a:xfrm>
            <a:off x="5512296" y="4210645"/>
            <a:ext cx="2265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1A1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730" dirty="0"/>
          </a:p>
        </p:txBody>
      </p:sp>
      <p:sp>
        <p:nvSpPr>
          <p:cNvPr id="41" name="Text 36"/>
          <p:cNvSpPr/>
          <p:nvPr/>
        </p:nvSpPr>
        <p:spPr>
          <a:xfrm>
            <a:off x="5571827" y="4349651"/>
            <a:ext cx="9560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</a:t>
            </a:r>
            <a:endParaRPr lang="en-US" sz="560" dirty="0"/>
          </a:p>
        </p:txBody>
      </p:sp>
      <p:sp>
        <p:nvSpPr>
          <p:cNvPr id="42" name="Text 37"/>
          <p:cNvSpPr/>
          <p:nvPr/>
        </p:nvSpPr>
        <p:spPr>
          <a:xfrm>
            <a:off x="8092671" y="1772989"/>
            <a:ext cx="33086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$110M</a:t>
            </a:r>
            <a:endParaRPr lang="en-US" sz="790" dirty="0"/>
          </a:p>
        </p:txBody>
      </p:sp>
      <p:sp>
        <p:nvSpPr>
          <p:cNvPr id="43" name="Text 38"/>
          <p:cNvSpPr/>
          <p:nvPr/>
        </p:nvSpPr>
        <p:spPr>
          <a:xfrm>
            <a:off x="8001000" y="3131195"/>
            <a:ext cx="514350" cy="1036290"/>
          </a:xfrm>
          <a:custGeom>
            <a:avLst/>
            <a:gdLst/>
            <a:ahLst/>
            <a:cxnLst/>
            <a:rect l="l" t="t" r="r" b="b"/>
            <a:pathLst>
              <a:path w="514350" h="1036290">
                <a:moveTo>
                  <a:pt x="0" y="0"/>
                </a:moveTo>
                <a:lnTo>
                  <a:pt x="0" y="993110"/>
                </a:lnTo>
                <a:lnTo>
                  <a:pt x="830" y="1001534"/>
                </a:lnTo>
                <a:lnTo>
                  <a:pt x="3287" y="1009635"/>
                </a:lnTo>
                <a:lnTo>
                  <a:pt x="7277" y="1017100"/>
                </a:lnTo>
                <a:lnTo>
                  <a:pt x="12647" y="1023643"/>
                </a:lnTo>
                <a:lnTo>
                  <a:pt x="19190" y="1029013"/>
                </a:lnTo>
                <a:lnTo>
                  <a:pt x="26656" y="1033003"/>
                </a:lnTo>
                <a:lnTo>
                  <a:pt x="34756" y="1035461"/>
                </a:lnTo>
                <a:lnTo>
                  <a:pt x="43180" y="1036290"/>
                </a:lnTo>
                <a:lnTo>
                  <a:pt x="471170" y="1036290"/>
                </a:lnTo>
                <a:lnTo>
                  <a:pt x="479594" y="1035461"/>
                </a:lnTo>
                <a:lnTo>
                  <a:pt x="487694" y="1033003"/>
                </a:lnTo>
                <a:lnTo>
                  <a:pt x="495160" y="1029013"/>
                </a:lnTo>
                <a:lnTo>
                  <a:pt x="501703" y="1023643"/>
                </a:lnTo>
                <a:lnTo>
                  <a:pt x="507073" y="1017100"/>
                </a:lnTo>
                <a:lnTo>
                  <a:pt x="511063" y="1009635"/>
                </a:lnTo>
                <a:lnTo>
                  <a:pt x="513520" y="1001534"/>
                </a:lnTo>
                <a:lnTo>
                  <a:pt x="514350" y="993110"/>
                </a:lnTo>
                <a:lnTo>
                  <a:pt x="514350" y="0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8001000" y="3131195"/>
            <a:ext cx="514350" cy="11399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$52M</a:t>
            </a:r>
            <a:endParaRPr lang="en-US" sz="730" dirty="0"/>
          </a:p>
        </p:txBody>
      </p:sp>
      <p:sp>
        <p:nvSpPr>
          <p:cNvPr id="45" name="Text 40"/>
          <p:cNvSpPr/>
          <p:nvPr/>
        </p:nvSpPr>
        <p:spPr>
          <a:xfrm>
            <a:off x="8001000" y="1952774"/>
            <a:ext cx="514350" cy="1296263"/>
          </a:xfrm>
          <a:prstGeom prst="rect">
            <a:avLst/>
          </a:prstGeom>
          <a:gradFill rotWithShape="1">
            <a:gsLst>
              <a:gs pos="0">
                <a:srgbClr val="F59E0B"/>
              </a:gs>
              <a:gs pos="100000">
                <a:srgbClr val="D97706"/>
              </a:gs>
            </a:gsLst>
            <a:lin ang="5400000" scaled="1"/>
          </a:gra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$58M</a:t>
            </a:r>
            <a:endParaRPr lang="en-US" sz="730" dirty="0"/>
          </a:p>
        </p:txBody>
      </p:sp>
      <p:sp>
        <p:nvSpPr>
          <p:cNvPr id="46" name="Text 41"/>
          <p:cNvSpPr/>
          <p:nvPr/>
        </p:nvSpPr>
        <p:spPr>
          <a:xfrm>
            <a:off x="8155186" y="4210645"/>
            <a:ext cx="2265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</a:t>
            </a:r>
            <a:endParaRPr lang="en-US" sz="730" dirty="0"/>
          </a:p>
        </p:txBody>
      </p:sp>
      <p:sp>
        <p:nvSpPr>
          <p:cNvPr id="47" name="Text 42"/>
          <p:cNvSpPr/>
          <p:nvPr/>
        </p:nvSpPr>
        <p:spPr>
          <a:xfrm>
            <a:off x="8214717" y="4349651"/>
            <a:ext cx="9560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56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Y7</a:t>
            </a:r>
            <a:endParaRPr lang="en-US" sz="560" dirty="0"/>
          </a:p>
        </p:txBody>
      </p:sp>
      <p:sp>
        <p:nvSpPr>
          <p:cNvPr id="48" name="Text 43"/>
          <p:cNvSpPr/>
          <p:nvPr/>
        </p:nvSpPr>
        <p:spPr>
          <a:xfrm>
            <a:off x="400050" y="4814590"/>
            <a:ext cx="8510778" cy="157460"/>
          </a:xfrm>
          <a:prstGeom prst="rect">
            <a:avLst/>
          </a:prstGeom>
          <a:noFill/>
          <a:ln/>
        </p:spPr>
        <p:txBody>
          <a:bodyPr wrap="none" lIns="0" tIns="43180" rIns="0" bIns="0" rtlCol="0" anchor="t"/>
          <a:lstStyle/>
          <a:p>
            <a:pPr algn="l" indent="0" marL="0">
              <a:buNone/>
            </a:pPr>
            <a:r>
              <a:rPr lang="en-US" sz="590" dirty="0">
                <a:solidFill>
                  <a:srgbClr val="6B6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based on 0.005% of live website TAM at scale. White-label OEM revenue not included in base case. Enterprise license assumed at 3% of total package volume.</a:t>
            </a:r>
            <a:endParaRPr lang="en-US" sz="590" dirty="0"/>
          </a:p>
        </p:txBody>
      </p:sp>
      <p:sp>
        <p:nvSpPr>
          <p:cNvPr id="49" name="Text 44"/>
          <p:cNvSpPr/>
          <p:nvPr/>
        </p:nvSpPr>
        <p:spPr>
          <a:xfrm>
            <a:off x="400050" y="4814590"/>
            <a:ext cx="8343900" cy="9525"/>
          </a:xfrm>
          <a:prstGeom prst="rect">
            <a:avLst/>
          </a:prstGeom>
          <a:solidFill>
            <a:srgbClr val="645AB4">
              <a:alpha val="15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1656904"/>
            <a:ext cx="2638720" cy="13841"/>
          </a:xfrm>
          <a:custGeom>
            <a:avLst/>
            <a:gdLst/>
            <a:ahLst/>
            <a:cxnLst/>
            <a:rect l="l" t="t" r="r" b="b"/>
            <a:pathLst>
              <a:path w="2638720" h="13841">
                <a:moveTo>
                  <a:pt x="86360" y="0"/>
                </a:moveTo>
                <a:lnTo>
                  <a:pt x="2552360" y="0"/>
                </a:lnTo>
                <a:lnTo>
                  <a:pt x="2569560" y="1730"/>
                </a:lnTo>
                <a:lnTo>
                  <a:pt x="2576561" y="3460"/>
                </a:lnTo>
                <a:lnTo>
                  <a:pt x="2581848" y="5190"/>
                </a:lnTo>
                <a:lnTo>
                  <a:pt x="2586234" y="6920"/>
                </a:lnTo>
                <a:lnTo>
                  <a:pt x="2590034" y="8651"/>
                </a:lnTo>
                <a:lnTo>
                  <a:pt x="2593411" y="10381"/>
                </a:lnTo>
                <a:lnTo>
                  <a:pt x="2596464" y="12111"/>
                </a:lnTo>
                <a:lnTo>
                  <a:pt x="25992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252639" y="1656904"/>
            <a:ext cx="2638720" cy="13841"/>
          </a:xfrm>
          <a:custGeom>
            <a:avLst/>
            <a:gdLst/>
            <a:ahLst/>
            <a:cxnLst/>
            <a:rect l="l" t="t" r="r" b="b"/>
            <a:pathLst>
              <a:path w="2638720" h="13841">
                <a:moveTo>
                  <a:pt x="86360" y="0"/>
                </a:moveTo>
                <a:lnTo>
                  <a:pt x="2552360" y="0"/>
                </a:lnTo>
                <a:lnTo>
                  <a:pt x="2569560" y="1730"/>
                </a:lnTo>
                <a:lnTo>
                  <a:pt x="2576561" y="3460"/>
                </a:lnTo>
                <a:lnTo>
                  <a:pt x="2581848" y="5190"/>
                </a:lnTo>
                <a:lnTo>
                  <a:pt x="2586234" y="6920"/>
                </a:lnTo>
                <a:lnTo>
                  <a:pt x="2590034" y="8651"/>
                </a:lnTo>
                <a:lnTo>
                  <a:pt x="2593411" y="10381"/>
                </a:lnTo>
                <a:lnTo>
                  <a:pt x="2596464" y="12111"/>
                </a:lnTo>
                <a:lnTo>
                  <a:pt x="25992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38552" y="1656904"/>
            <a:ext cx="2638720" cy="13841"/>
          </a:xfrm>
          <a:custGeom>
            <a:avLst/>
            <a:gdLst/>
            <a:ahLst/>
            <a:cxnLst/>
            <a:rect l="l" t="t" r="r" b="b"/>
            <a:pathLst>
              <a:path w="2638720" h="13841">
                <a:moveTo>
                  <a:pt x="86360" y="0"/>
                </a:moveTo>
                <a:lnTo>
                  <a:pt x="2552360" y="0"/>
                </a:lnTo>
                <a:lnTo>
                  <a:pt x="2569560" y="1730"/>
                </a:lnTo>
                <a:lnTo>
                  <a:pt x="2576561" y="3460"/>
                </a:lnTo>
                <a:lnTo>
                  <a:pt x="2581848" y="5190"/>
                </a:lnTo>
                <a:lnTo>
                  <a:pt x="2586234" y="6920"/>
                </a:lnTo>
                <a:lnTo>
                  <a:pt x="2590034" y="8651"/>
                </a:lnTo>
                <a:lnTo>
                  <a:pt x="2593411" y="10381"/>
                </a:lnTo>
                <a:lnTo>
                  <a:pt x="2596464" y="12111"/>
                </a:lnTo>
                <a:lnTo>
                  <a:pt x="2599254" y="13841"/>
                </a:lnTo>
                <a:lnTo>
                  <a:pt x="39466" y="13841"/>
                </a:lnTo>
                <a:lnTo>
                  <a:pt x="42257" y="12111"/>
                </a:lnTo>
                <a:lnTo>
                  <a:pt x="45309" y="10381"/>
                </a:lnTo>
                <a:lnTo>
                  <a:pt x="48686" y="8651"/>
                </a:lnTo>
                <a:lnTo>
                  <a:pt x="52487" y="6920"/>
                </a:lnTo>
                <a:lnTo>
                  <a:pt x="56872" y="5190"/>
                </a:lnTo>
                <a:lnTo>
                  <a:pt x="62159" y="3460"/>
                </a:lnTo>
                <a:lnTo>
                  <a:pt x="69160" y="1730"/>
                </a:lnTo>
                <a:close/>
              </a:path>
            </a:pathLst>
          </a:cu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8B5CF6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8B5CF6">
                  <a:alpha val="10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8000" r="50000" b="42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2D3EE">
                  <a:alpha val="6000"/>
                </a:srgbClr>
              </a:gs>
              <a:gs pos="60000">
                <a:srgbClr val="000000">
                  <a:alpha val="0"/>
                </a:srgbClr>
              </a:gs>
            </a:gsLst>
            <a:path path="circle">
              <a:fillToRect l="50000" t="58000" r="50000" b="42000"/>
            </a:path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80818">
                  <a:alpha val="55000"/>
                </a:srgbClr>
              </a:gs>
              <a:gs pos="60000">
                <a:srgbClr val="080818">
                  <a:alpha val="80000"/>
                </a:srgbClr>
              </a:gs>
              <a:gs pos="100000">
                <a:srgbClr val="080818">
                  <a:alpha val="98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290888" y="257770"/>
            <a:ext cx="2613318" cy="206871"/>
          </a:xfrm>
          <a:prstGeom prst="roundRect">
            <a:avLst>
              <a:gd name="adj" fmla="val 69372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>
                <a:alpha val="45000"/>
              </a:srgbClr>
            </a:solidFill>
          </a:ln>
        </p:spPr>
        <p:txBody>
          <a:bodyPr wrap="none" lIns="114300" tIns="29210" rIns="114300" bIns="2921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spc="82" kern="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OPPORTUNITY · ORB WEAVER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1438448" y="564952"/>
            <a:ext cx="6267105" cy="72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14"/>
              </a:lnSpc>
              <a:spcAft>
                <a:spcPts val="340"/>
              </a:spcAft>
              <a:buNone/>
            </a:pPr>
            <a:r>
              <a:rPr lang="en-US" sz="2360" spc="-24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Are Building the </a:t>
            </a:r>
            <a:pPr algn="ctr" indent="0" marL="0">
              <a:lnSpc>
                <a:spcPts val="2714"/>
              </a:lnSpc>
              <a:spcAft>
                <a:spcPts val="340"/>
              </a:spcAft>
              <a:buNone/>
            </a:pPr>
            <a:r>
              <a:rPr lang="en-US" sz="2360" spc="-24" kern="0" dirty="0">
                <a:gradFill rotWithShape="1">
                  <a:gsLst>
                    <a:gs pos="0">
                      <a:srgbClr val="C4B5FD"/>
                    </a:gs>
                    <a:gs pos="50000">
                      <a:srgbClr val="8B5CF6"/>
                    </a:gs>
                    <a:gs pos="100000">
                      <a:srgbClr val="22D3EE"/>
                    </a:gs>
                  </a:gsLst>
                  <a:lin ang="0" scaled="1"/>
                </a:gra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Intelligence Layer</a:t>
            </a:r>
            <a:pPr algn="ctr" indent="0" marL="0">
              <a:lnSpc>
                <a:spcPts val="2714"/>
              </a:lnSpc>
              <a:spcAft>
                <a:spcPts val="340"/>
              </a:spcAft>
              <a:buNone/>
            </a:pPr>
            <a:r>
              <a:rPr lang="en-US" sz="2360" spc="-24" kern="0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of the Agentic Web.</a:t>
            </a:r>
            <a:endParaRPr lang="en-US" sz="2360" dirty="0"/>
          </a:p>
        </p:txBody>
      </p:sp>
      <p:sp>
        <p:nvSpPr>
          <p:cNvPr id="11" name="Text 8"/>
          <p:cNvSpPr/>
          <p:nvPr/>
        </p:nvSpPr>
        <p:spPr>
          <a:xfrm>
            <a:off x="2994816" y="1297484"/>
            <a:ext cx="3154219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15"/>
              </a:lnSpc>
              <a:spcAft>
                <a:spcPts val="1240"/>
              </a:spcAft>
              <a:buNone/>
            </a:pPr>
            <a:r>
              <a:rPr lang="en-US" sz="1010" i="1" spc="20" kern="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agent needs a map.  We build the map.</a:t>
            </a:r>
            <a:endParaRPr lang="en-US" sz="1010" dirty="0"/>
          </a:p>
        </p:txBody>
      </p:sp>
      <p:sp>
        <p:nvSpPr>
          <p:cNvPr id="12" name="Text 9"/>
          <p:cNvSpPr/>
          <p:nvPr/>
        </p:nvSpPr>
        <p:spPr>
          <a:xfrm>
            <a:off x="457200" y="1647379"/>
            <a:ext cx="2657773" cy="1834753"/>
          </a:xfrm>
          <a:prstGeom prst="roundRect">
            <a:avLst>
              <a:gd name="adj" fmla="val 4707"/>
            </a:avLst>
          </a:prstGeom>
          <a:solidFill>
            <a:srgbClr val="13132B">
              <a:alpha val="88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8982" y="1845171"/>
            <a:ext cx="139005" cy="13900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4185" y="2099965"/>
            <a:ext cx="2370278" cy="395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1240" b="1" dirty="0">
                <a:gradFill rotWithShape="1">
                  <a:gsLst>
                    <a:gs pos="0">
                      <a:srgbClr val="C4B5FD"/>
                    </a:gs>
                    <a:gs pos="100000">
                      <a:srgbClr val="22D3EE"/>
                    </a:gs>
                  </a:gsLst>
                  <a:lin ang="0" scaled="1"/>
                </a:gradFill>
                <a:latin typeface="Calibri" pitchFamily="34" charset="0"/>
                <a:ea typeface="Calibri" pitchFamily="34" charset="-122"/>
                <a:cs typeface="Calibri" pitchFamily="34" charset="-120"/>
              </a:rPr>
              <a:t>$3.5M Pre-Seed Round</a:t>
            </a:r>
            <a:pPr algn="l" indent="0" marL="0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Currently Open</a:t>
            </a:r>
            <a:endParaRPr lang="en-US" sz="960" dirty="0"/>
          </a:p>
        </p:txBody>
      </p:sp>
      <p:sp>
        <p:nvSpPr>
          <p:cNvPr id="15" name="Text 11"/>
          <p:cNvSpPr/>
          <p:nvPr/>
        </p:nvSpPr>
        <p:spPr>
          <a:xfrm>
            <a:off x="624185" y="2547789"/>
            <a:ext cx="228600" cy="759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24185" y="2626370"/>
            <a:ext cx="2370278" cy="7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valuation:</a:t>
            </a:r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$18M</a:t>
            </a:r>
            <a:br/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</a:t>
            </a:r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SAFE</a:t>
            </a:r>
            <a:br/>
            <a:pPr algn="l" indent="0" marL="0">
              <a:lnSpc>
                <a:spcPts val="1132"/>
              </a:lnSpc>
              <a:buNone/>
            </a:pP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Join at the inflection point — before the agentic web demands the infrastructure we are already building.</a:t>
            </a:r>
            <a:endParaRPr lang="en-US" sz="730" dirty="0"/>
          </a:p>
        </p:txBody>
      </p:sp>
      <p:sp>
        <p:nvSpPr>
          <p:cNvPr id="17" name="Text 13"/>
          <p:cNvSpPr/>
          <p:nvPr/>
        </p:nvSpPr>
        <p:spPr>
          <a:xfrm>
            <a:off x="3243114" y="1647379"/>
            <a:ext cx="2657773" cy="1834753"/>
          </a:xfrm>
          <a:prstGeom prst="roundRect">
            <a:avLst>
              <a:gd name="adj" fmla="val 4707"/>
            </a:avLst>
          </a:prstGeom>
          <a:solidFill>
            <a:srgbClr val="13132B">
              <a:alpha val="88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54896" y="1845171"/>
            <a:ext cx="139005" cy="13900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10099" y="2099965"/>
            <a:ext cx="255618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 of Funds</a:t>
            </a:r>
            <a:endParaRPr lang="en-US" sz="960" dirty="0"/>
          </a:p>
        </p:txBody>
      </p:sp>
      <p:sp>
        <p:nvSpPr>
          <p:cNvPr id="20" name="Text 15"/>
          <p:cNvSpPr/>
          <p:nvPr/>
        </p:nvSpPr>
        <p:spPr>
          <a:xfrm>
            <a:off x="3410099" y="2329309"/>
            <a:ext cx="228600" cy="759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3410099" y="2407890"/>
            <a:ext cx="102106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680" dirty="0"/>
          </a:p>
        </p:txBody>
      </p:sp>
      <p:sp>
        <p:nvSpPr>
          <p:cNvPr id="22" name="Text 17"/>
          <p:cNvSpPr/>
          <p:nvPr/>
        </p:nvSpPr>
        <p:spPr>
          <a:xfrm>
            <a:off x="4395490" y="2458045"/>
            <a:ext cx="1080641" cy="29170"/>
          </a:xfrm>
          <a:prstGeom prst="roundRect">
            <a:avLst>
              <a:gd name="adj" fmla="val 100137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395490" y="2458045"/>
            <a:ext cx="540246" cy="29170"/>
          </a:xfrm>
          <a:prstGeom prst="roundRect">
            <a:avLst>
              <a:gd name="adj" fmla="val 100137"/>
            </a:avLst>
          </a:prstGeom>
          <a:gradFill rotWithShape="1">
            <a:gsLst>
              <a:gs pos="0">
                <a:srgbClr val="8B5CF6"/>
              </a:gs>
              <a:gs pos="100000">
                <a:srgbClr val="C4B5FD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5513219" y="2413546"/>
            <a:ext cx="2206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620" dirty="0"/>
          </a:p>
        </p:txBody>
      </p:sp>
      <p:sp>
        <p:nvSpPr>
          <p:cNvPr id="25" name="Text 20"/>
          <p:cNvSpPr/>
          <p:nvPr/>
        </p:nvSpPr>
        <p:spPr>
          <a:xfrm>
            <a:off x="3410099" y="2580531"/>
            <a:ext cx="102106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680" dirty="0"/>
          </a:p>
        </p:txBody>
      </p:sp>
      <p:sp>
        <p:nvSpPr>
          <p:cNvPr id="26" name="Text 21"/>
          <p:cNvSpPr/>
          <p:nvPr/>
        </p:nvSpPr>
        <p:spPr>
          <a:xfrm>
            <a:off x="4395490" y="2630686"/>
            <a:ext cx="1080641" cy="29170"/>
          </a:xfrm>
          <a:prstGeom prst="roundRect">
            <a:avLst>
              <a:gd name="adj" fmla="val 100137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395490" y="2630686"/>
            <a:ext cx="270123" cy="29170"/>
          </a:xfrm>
          <a:prstGeom prst="roundRect">
            <a:avLst>
              <a:gd name="adj" fmla="val 100137"/>
            </a:avLst>
          </a:prstGeom>
          <a:gradFill rotWithShape="1">
            <a:gsLst>
              <a:gs pos="0">
                <a:srgbClr val="22D3EE"/>
              </a:gs>
              <a:gs pos="100000">
                <a:srgbClr val="67E8F9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5513219" y="2586186"/>
            <a:ext cx="2206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620" dirty="0"/>
          </a:p>
        </p:txBody>
      </p:sp>
      <p:sp>
        <p:nvSpPr>
          <p:cNvPr id="29" name="Text 24"/>
          <p:cNvSpPr/>
          <p:nvPr/>
        </p:nvSpPr>
        <p:spPr>
          <a:xfrm>
            <a:off x="3410099" y="2753171"/>
            <a:ext cx="102106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Dev</a:t>
            </a:r>
            <a:endParaRPr lang="en-US" sz="680" dirty="0"/>
          </a:p>
        </p:txBody>
      </p:sp>
      <p:sp>
        <p:nvSpPr>
          <p:cNvPr id="30" name="Text 25"/>
          <p:cNvSpPr/>
          <p:nvPr/>
        </p:nvSpPr>
        <p:spPr>
          <a:xfrm>
            <a:off x="4395490" y="2803327"/>
            <a:ext cx="1080641" cy="29170"/>
          </a:xfrm>
          <a:prstGeom prst="roundRect">
            <a:avLst>
              <a:gd name="adj" fmla="val 100137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4395490" y="2803327"/>
            <a:ext cx="162074" cy="29170"/>
          </a:xfrm>
          <a:prstGeom prst="roundRect">
            <a:avLst>
              <a:gd name="adj" fmla="val 100137"/>
            </a:avLst>
          </a:prstGeom>
          <a:gradFill rotWithShape="1">
            <a:gsLst>
              <a:gs pos="0">
                <a:srgbClr val="A78BFA"/>
              </a:gs>
              <a:gs pos="100000">
                <a:srgbClr val="8B5CF6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5513219" y="2758827"/>
            <a:ext cx="2206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620" dirty="0"/>
          </a:p>
        </p:txBody>
      </p:sp>
      <p:sp>
        <p:nvSpPr>
          <p:cNvPr id="33" name="Text 28"/>
          <p:cNvSpPr/>
          <p:nvPr/>
        </p:nvSpPr>
        <p:spPr>
          <a:xfrm>
            <a:off x="3410099" y="2925812"/>
            <a:ext cx="102106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68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680" dirty="0"/>
          </a:p>
        </p:txBody>
      </p:sp>
      <p:sp>
        <p:nvSpPr>
          <p:cNvPr id="34" name="Text 29"/>
          <p:cNvSpPr/>
          <p:nvPr/>
        </p:nvSpPr>
        <p:spPr>
          <a:xfrm>
            <a:off x="4395490" y="2975967"/>
            <a:ext cx="1080641" cy="29170"/>
          </a:xfrm>
          <a:prstGeom prst="roundRect">
            <a:avLst>
              <a:gd name="adj" fmla="val 100137"/>
            </a:avLst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0"/>
          <p:cNvSpPr/>
          <p:nvPr/>
        </p:nvSpPr>
        <p:spPr>
          <a:xfrm>
            <a:off x="4395490" y="2975967"/>
            <a:ext cx="108049" cy="29170"/>
          </a:xfrm>
          <a:prstGeom prst="roundRect">
            <a:avLst>
              <a:gd name="adj" fmla="val 100137"/>
            </a:avLst>
          </a:prstGeom>
          <a:gradFill rotWithShape="1">
            <a:gsLst>
              <a:gs pos="0">
                <a:srgbClr val="34D399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5513219" y="2931468"/>
            <a:ext cx="22068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620" dirty="0"/>
          </a:p>
        </p:txBody>
      </p:sp>
      <p:sp>
        <p:nvSpPr>
          <p:cNvPr id="37" name="Text 32"/>
          <p:cNvSpPr/>
          <p:nvPr/>
        </p:nvSpPr>
        <p:spPr>
          <a:xfrm>
            <a:off x="6029027" y="1647379"/>
            <a:ext cx="2657773" cy="1834753"/>
          </a:xfrm>
          <a:prstGeom prst="roundRect">
            <a:avLst>
              <a:gd name="adj" fmla="val 4707"/>
            </a:avLst>
          </a:prstGeom>
          <a:solidFill>
            <a:srgbClr val="13132B">
              <a:alpha val="88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square" rtlCol="0" anchor="t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0810" y="1845171"/>
            <a:ext cx="139005" cy="139005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196013" y="2099965"/>
            <a:ext cx="2556183" cy="158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48"/>
              </a:lnSpc>
              <a:buNone/>
            </a:pPr>
            <a:r>
              <a:rPr lang="en-US" sz="960" b="1" dirty="0">
                <a:solidFill>
                  <a:srgbClr val="EEEE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Strategic Moat</a:t>
            </a:r>
            <a:endParaRPr lang="en-US" sz="960" dirty="0"/>
          </a:p>
        </p:txBody>
      </p:sp>
      <p:sp>
        <p:nvSpPr>
          <p:cNvPr id="40" name="Text 34"/>
          <p:cNvSpPr/>
          <p:nvPr/>
        </p:nvSpPr>
        <p:spPr>
          <a:xfrm>
            <a:off x="6196013" y="2329309"/>
            <a:ext cx="228600" cy="759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6296323" y="2407890"/>
            <a:ext cx="226796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pointer system for machine-readable site knowledge</a:t>
            </a:r>
            <a:endParaRPr lang="en-US" sz="730" dirty="0"/>
          </a:p>
        </p:txBody>
      </p:sp>
      <p:sp>
        <p:nvSpPr>
          <p:cNvPr id="42" name="Text 36"/>
          <p:cNvSpPr/>
          <p:nvPr/>
        </p:nvSpPr>
        <p:spPr>
          <a:xfrm>
            <a:off x="6196013" y="2437061"/>
            <a:ext cx="43160" cy="431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43180" dist="50800" dir="16200000">
              <a:srgbClr val="8b5cf6">
                <a:alpha val="7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7"/>
          <p:cNvSpPr/>
          <p:nvPr/>
        </p:nvSpPr>
        <p:spPr>
          <a:xfrm>
            <a:off x="6296323" y="2716857"/>
            <a:ext cx="226796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World compilation IP — the only structured map of agentic surface area</a:t>
            </a:r>
            <a:endParaRPr lang="en-US" sz="730" dirty="0"/>
          </a:p>
        </p:txBody>
      </p:sp>
      <p:sp>
        <p:nvSpPr>
          <p:cNvPr id="44" name="Text 38"/>
          <p:cNvSpPr/>
          <p:nvPr/>
        </p:nvSpPr>
        <p:spPr>
          <a:xfrm>
            <a:off x="6196013" y="2746028"/>
            <a:ext cx="43160" cy="431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43180" dist="50800" dir="16200000">
              <a:srgbClr val="8b5cf6">
                <a:alpha val="7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9"/>
          <p:cNvSpPr/>
          <p:nvPr/>
        </p:nvSpPr>
        <p:spPr>
          <a:xfrm>
            <a:off x="6296323" y="3025825"/>
            <a:ext cx="2267962" cy="272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2"/>
              </a:lnSpc>
              <a:buNone/>
            </a:pPr>
            <a:r>
              <a:rPr lang="en-US" sz="73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position in agentic site intelligence at infrastructure layer</a:t>
            </a:r>
            <a:endParaRPr lang="en-US" sz="730" dirty="0"/>
          </a:p>
        </p:txBody>
      </p:sp>
      <p:sp>
        <p:nvSpPr>
          <p:cNvPr id="46" name="Text 40"/>
          <p:cNvSpPr/>
          <p:nvPr/>
        </p:nvSpPr>
        <p:spPr>
          <a:xfrm>
            <a:off x="6196013" y="3054995"/>
            <a:ext cx="43160" cy="4316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43180" dist="50800" dir="16200000">
              <a:srgbClr val="8b5cf6">
                <a:alpha val="70000"/>
              </a:srgbClr>
            </a:outerShdw>
          </a:effectLst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3747492" y="3625602"/>
            <a:ext cx="18135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spc="34" kern="0" dirty="0">
                <a:solidFill>
                  <a:srgbClr val="90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 the map with us?</a:t>
            </a:r>
            <a:endParaRPr lang="en-US" sz="840" dirty="0"/>
          </a:p>
        </p:txBody>
      </p:sp>
      <p:sp>
        <p:nvSpPr>
          <p:cNvPr id="48" name="Text 42"/>
          <p:cNvSpPr/>
          <p:nvPr/>
        </p:nvSpPr>
        <p:spPr>
          <a:xfrm>
            <a:off x="3068985" y="3828752"/>
            <a:ext cx="1576795" cy="304800"/>
          </a:xfrm>
          <a:prstGeom prst="roundRect">
            <a:avLst>
              <a:gd name="adj" fmla="val 70417"/>
            </a:avLst>
          </a:prstGeom>
          <a:gradFill rotWithShape="1">
            <a:gsLst>
              <a:gs pos="0">
                <a:srgbClr val="8B5CF6">
                  <a:alpha val="25000"/>
                </a:srgbClr>
              </a:gs>
              <a:gs pos="100000">
                <a:srgbClr val="22D3EE">
                  <a:alpha val="15000"/>
                </a:srgbClr>
              </a:gs>
            </a:gsLst>
            <a:lin ang="2700000" scaled="1"/>
          </a:gradFill>
          <a:ln w="9525">
            <a:solidFill>
              <a:srgbClr val="8B5CF6">
                <a:alpha val="50000"/>
              </a:srgbClr>
            </a:solidFill>
          </a:ln>
        </p:spPr>
        <p:txBody>
          <a:bodyPr wrap="none" lIns="308521" tIns="57150" rIns="171450" bIns="57150" rtlCol="0" anchor="ctr"/>
          <a:lstStyle/>
          <a:p>
            <a:pPr algn="l" indent="0" marL="0">
              <a:buNone/>
            </a:pPr>
            <a:r>
              <a:rPr lang="en-US" sz="900" spc="18" kern="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hello@orbweaver.io</a:t>
            </a:r>
            <a:endParaRPr lang="en-US" sz="900" dirty="0"/>
          </a:p>
        </p:txBody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23626" y="3914784"/>
            <a:ext cx="132588" cy="13258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4743004" y="3966567"/>
            <a:ext cx="29170" cy="29170"/>
          </a:xfrm>
          <a:prstGeom prst="ellipse">
            <a:avLst/>
          </a:prstGeom>
          <a:solidFill>
            <a:srgbClr val="8B5CF6">
              <a:alpha val="50000"/>
            </a:srgbClr>
          </a:solidFill>
          <a:ln/>
        </p:spPr>
        <p:txBody>
          <a:bodyPr wrap="none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4900315" y="3828752"/>
            <a:ext cx="1198043" cy="304800"/>
          </a:xfrm>
          <a:prstGeom prst="roundRect">
            <a:avLst>
              <a:gd name="adj" fmla="val 70417"/>
            </a:avLst>
          </a:prstGeom>
          <a:gradFill rotWithShape="1">
            <a:gsLst>
              <a:gs pos="0">
                <a:srgbClr val="8B5CF6">
                  <a:alpha val="25000"/>
                </a:srgbClr>
              </a:gs>
              <a:gs pos="100000">
                <a:srgbClr val="22D3EE">
                  <a:alpha val="15000"/>
                </a:srgbClr>
              </a:gs>
            </a:gsLst>
            <a:lin ang="2700000" scaled="1"/>
          </a:gradFill>
          <a:ln w="9525">
            <a:solidFill>
              <a:srgbClr val="8B5CF6">
                <a:alpha val="50000"/>
              </a:srgbClr>
            </a:solidFill>
          </a:ln>
        </p:spPr>
        <p:txBody>
          <a:bodyPr wrap="none" lIns="308521" tIns="57150" rIns="171450" bIns="57150" rtlCol="0" anchor="ctr"/>
          <a:lstStyle/>
          <a:p>
            <a:pPr algn="l" indent="0" marL="0">
              <a:buNone/>
            </a:pPr>
            <a:r>
              <a:rPr lang="en-US" sz="900" spc="18" kern="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orbweaver.io</a:t>
            </a:r>
            <a:endParaRPr lang="en-US" sz="900" dirty="0"/>
          </a:p>
        </p:txBody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54956" y="3914784"/>
            <a:ext cx="132588" cy="132588"/>
          </a:xfrm>
          <a:prstGeom prst="rect">
            <a:avLst/>
          </a:prstGeom>
        </p:spPr>
      </p:pic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20240" y="4903821"/>
            <a:ext cx="132588" cy="132588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2945271" y="4911179"/>
            <a:ext cx="339290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30"/>
              </a:lnSpc>
              <a:buNone/>
            </a:pPr>
            <a:r>
              <a:rPr lang="en-US" sz="620" dirty="0">
                <a:solidFill>
                  <a:srgbClr val="9090B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financials and technical documentation available under NDA.  ·  Jul 25, 2026.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docgen</cp:lastModifiedBy>
  <cp:revision>1</cp:revision>
  <dcterms:created xsi:type="dcterms:W3CDTF">2026-08-20T20:21:23Z</dcterms:created>
  <dcterms:modified xsi:type="dcterms:W3CDTF">2026-08-20T20:21:23Z</dcterms:modified>
</cp:coreProperties>
</file>