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610"/>
  </p:normalViewPr>
  <p:slideViewPr>
    <p:cSldViewPr snapToGrid="0" snapToObjects="1">
      <p:cViewPr>
        <p:scale>
          <a:sx n="123" d="100"/>
          <a:sy n="123" d="100"/>
        </p:scale>
        <p:origin x="187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92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Relationship Id="rId9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sv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11" Type="http://schemas.openxmlformats.org/officeDocument/2006/relationships/image" Target="../media/image50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png"/><Relationship Id="rId9" Type="http://schemas.openxmlformats.org/officeDocument/2006/relationships/image" Target="../media/image48.svg"/><Relationship Id="rId14" Type="http://schemas.openxmlformats.org/officeDocument/2006/relationships/image" Target="../media/image5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sv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12" Type="http://schemas.openxmlformats.org/officeDocument/2006/relationships/image" Target="../media/image6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sv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svg"/><Relationship Id="rId14" Type="http://schemas.openxmlformats.org/officeDocument/2006/relationships/image" Target="../media/image6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5" Type="http://schemas.openxmlformats.org/officeDocument/2006/relationships/image" Target="../media/image71.svg"/><Relationship Id="rId4" Type="http://schemas.openxmlformats.org/officeDocument/2006/relationships/image" Target="../media/image70.svg"/><Relationship Id="rId9" Type="http://schemas.openxmlformats.org/officeDocument/2006/relationships/image" Target="../media/image7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205680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11561" y="462855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9200" y="720030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6471" y="308521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46690" y="977205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440061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03890" y="1697236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761" y="2160240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78180" y="2983111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780" y="3446115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7961" y="3754636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74690" y="4166146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52071" y="4526161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37271" y="4783336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0761" y="4989165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361" y="617190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62980" y="2468761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92180" y="2674590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17490" y="1131540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9090" y="3960465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72070" y="4824859"/>
            <a:ext cx="22010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12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· JUL 25, 2026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4826987" y="4824859"/>
            <a:ext cx="39449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kern="0" spc="112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INTELLIGENCE · KNOWLEDGE COMPILATION · AI DEPLOYMENT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7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5000" t="90000" r="95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5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95000" t="10000" r="5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0235" y="1004887"/>
            <a:ext cx="2341512" cy="21580"/>
          </a:xfrm>
          <a:custGeom>
            <a:avLst/>
            <a:gdLst/>
            <a:ahLst/>
            <a:cxnLst/>
            <a:rect l="l" t="t" r="r" b="b"/>
            <a:pathLst>
              <a:path w="2341512" h="21580">
                <a:moveTo>
                  <a:pt x="0" y="0"/>
                </a:moveTo>
                <a:lnTo>
                  <a:pt x="2341512" y="0"/>
                </a:lnTo>
                <a:lnTo>
                  <a:pt x="2341512" y="0"/>
                </a:lnTo>
                <a:lnTo>
                  <a:pt x="2341512" y="0"/>
                </a:lnTo>
                <a:lnTo>
                  <a:pt x="2340950" y="0"/>
                </a:lnTo>
                <a:lnTo>
                  <a:pt x="2339288" y="3548"/>
                </a:lnTo>
                <a:lnTo>
                  <a:pt x="2336589" y="8598"/>
                </a:lnTo>
                <a:lnTo>
                  <a:pt x="2332956" y="13025"/>
                </a:lnTo>
                <a:lnTo>
                  <a:pt x="2328530" y="16657"/>
                </a:lnTo>
                <a:lnTo>
                  <a:pt x="2323480" y="19357"/>
                </a:lnTo>
                <a:lnTo>
                  <a:pt x="2318000" y="21019"/>
                </a:lnTo>
                <a:lnTo>
                  <a:pt x="2312302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01209" y="1004887"/>
            <a:ext cx="2341664" cy="21580"/>
          </a:xfrm>
          <a:custGeom>
            <a:avLst/>
            <a:gdLst/>
            <a:ahLst/>
            <a:cxnLst/>
            <a:rect l="l" t="t" r="r" b="b"/>
            <a:pathLst>
              <a:path w="2341664" h="21580">
                <a:moveTo>
                  <a:pt x="0" y="0"/>
                </a:moveTo>
                <a:lnTo>
                  <a:pt x="2341664" y="0"/>
                </a:lnTo>
                <a:lnTo>
                  <a:pt x="2341664" y="0"/>
                </a:lnTo>
                <a:lnTo>
                  <a:pt x="2341664" y="0"/>
                </a:lnTo>
                <a:lnTo>
                  <a:pt x="2341103" y="0"/>
                </a:lnTo>
                <a:lnTo>
                  <a:pt x="2339441" y="3548"/>
                </a:lnTo>
                <a:lnTo>
                  <a:pt x="2336741" y="8598"/>
                </a:lnTo>
                <a:lnTo>
                  <a:pt x="2333109" y="13025"/>
                </a:lnTo>
                <a:lnTo>
                  <a:pt x="2328682" y="16657"/>
                </a:lnTo>
                <a:lnTo>
                  <a:pt x="2323632" y="19357"/>
                </a:lnTo>
                <a:lnTo>
                  <a:pt x="2318153" y="21019"/>
                </a:lnTo>
                <a:lnTo>
                  <a:pt x="2312454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2332" y="1004887"/>
            <a:ext cx="2341512" cy="21580"/>
          </a:xfrm>
          <a:custGeom>
            <a:avLst/>
            <a:gdLst/>
            <a:ahLst/>
            <a:cxnLst/>
            <a:rect l="l" t="t" r="r" b="b"/>
            <a:pathLst>
              <a:path w="2341512" h="21580">
                <a:moveTo>
                  <a:pt x="0" y="0"/>
                </a:moveTo>
                <a:lnTo>
                  <a:pt x="2341512" y="0"/>
                </a:lnTo>
                <a:lnTo>
                  <a:pt x="2341512" y="0"/>
                </a:lnTo>
                <a:lnTo>
                  <a:pt x="2341512" y="0"/>
                </a:lnTo>
                <a:lnTo>
                  <a:pt x="2340950" y="0"/>
                </a:lnTo>
                <a:lnTo>
                  <a:pt x="2339288" y="3548"/>
                </a:lnTo>
                <a:lnTo>
                  <a:pt x="2336589" y="8598"/>
                </a:lnTo>
                <a:lnTo>
                  <a:pt x="2332956" y="13025"/>
                </a:lnTo>
                <a:lnTo>
                  <a:pt x="2328530" y="16657"/>
                </a:lnTo>
                <a:lnTo>
                  <a:pt x="2323480" y="19357"/>
                </a:lnTo>
                <a:lnTo>
                  <a:pt x="2318000" y="21019"/>
                </a:lnTo>
                <a:lnTo>
                  <a:pt x="2312302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14920"/>
            <a:ext cx="8805672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110"/>
              </a:spcAft>
              <a:buNone/>
            </a:pPr>
            <a:r>
              <a:rPr lang="en-US" sz="2140" kern="0" spc="-30" dirty="0">
                <a:solidFill>
                  <a:srgbClr val="1A1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Agents Are Navigating Websites </a:t>
            </a:r>
            <a:r>
              <a:rPr lang="en-US" sz="2140" b="1" kern="0" spc="-3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Blind.</a:t>
            </a:r>
            <a:endParaRPr lang="en-US" sz="2140" dirty="0"/>
          </a:p>
        </p:txBody>
      </p:sp>
      <p:sp>
        <p:nvSpPr>
          <p:cNvPr id="9" name="Text 7"/>
          <p:cNvSpPr/>
          <p:nvPr/>
        </p:nvSpPr>
        <p:spPr>
          <a:xfrm>
            <a:off x="457200" y="641152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350"/>
              </a:spcAft>
              <a:buNone/>
            </a:pPr>
            <a:r>
              <a:rPr lang="en-US" sz="960" kern="0" spc="1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was built for humans. AI agents have no native map.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57200" y="995363"/>
            <a:ext cx="2647504" cy="1508075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9525">
            <a:solidFill>
              <a:srgbClr val="C4B5FD"/>
            </a:solidFill>
          </a:ln>
          <a:effectLst>
            <a:outerShdw blurRad="128270" dist="13970" dir="5400000" algn="bl" rotWithShape="0">
              <a:srgbClr val="7C3AED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185" y="117633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DE9F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913" y="1287066"/>
            <a:ext cx="150465" cy="15046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4185" y="1648718"/>
            <a:ext cx="254488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spcAft>
                <a:spcPts val="450"/>
              </a:spcAft>
              <a:buNone/>
            </a:pPr>
            <a:r>
              <a:rPr lang="en-US" sz="96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Structural Intelligence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624185" y="1852017"/>
            <a:ext cx="235980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no pre-compiled knowledge of site routes, elements, controls, or workflows. Every session starts from zero.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3248174" y="995363"/>
            <a:ext cx="2647652" cy="1508075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9525">
            <a:solidFill>
              <a:srgbClr val="C4B5FD"/>
            </a:solidFill>
          </a:ln>
          <a:effectLst>
            <a:outerShdw blurRad="128270" dist="13970" dir="5400000" algn="bl" rotWithShape="0">
              <a:srgbClr val="7C3AED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15159" y="117633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DE9F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5887" y="1287066"/>
            <a:ext cx="150465" cy="1504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15159" y="1648718"/>
            <a:ext cx="254505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spcAft>
                <a:spcPts val="450"/>
              </a:spcAft>
              <a:buNone/>
            </a:pPr>
            <a:r>
              <a:rPr lang="en-US" sz="96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Interaction Precision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3415159" y="1852017"/>
            <a:ext cx="2359956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pointer map, AI guesses at buttons, forms, and CTAs — causing failures, retries, and costly errors.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6039296" y="995363"/>
            <a:ext cx="2647504" cy="1508075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9525">
            <a:solidFill>
              <a:srgbClr val="C4B5FD"/>
            </a:solidFill>
          </a:ln>
          <a:effectLst>
            <a:outerShdw blurRad="128270" dist="13970" dir="5400000" algn="bl" rotWithShape="0">
              <a:srgbClr val="7C3AED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06282" y="117633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DE9F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7010" y="1287066"/>
            <a:ext cx="150465" cy="1504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6282" y="1648718"/>
            <a:ext cx="254488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spcAft>
                <a:spcPts val="450"/>
              </a:spcAft>
              <a:buNone/>
            </a:pPr>
            <a:r>
              <a:rPr lang="en-US" sz="96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Perpetually Brittle</a:t>
            </a:r>
            <a:endParaRPr lang="en-US" sz="960" dirty="0"/>
          </a:p>
        </p:txBody>
      </p:sp>
      <p:sp>
        <p:nvSpPr>
          <p:cNvPr id="24" name="Text 19"/>
          <p:cNvSpPr/>
          <p:nvPr/>
        </p:nvSpPr>
        <p:spPr>
          <a:xfrm>
            <a:off x="6206282" y="1852017"/>
            <a:ext cx="235980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coded site knowledge breaks every time a page changes, a form moves, or a workflow updates. There is no automated fix.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457200" y="2646908"/>
            <a:ext cx="8229600" cy="501551"/>
          </a:xfrm>
          <a:prstGeom prst="roundRect">
            <a:avLst>
              <a:gd name="adj" fmla="val 17219"/>
            </a:avLst>
          </a:prstGeom>
          <a:gradFill rotWithShape="1">
            <a:gsLst>
              <a:gs pos="0">
                <a:srgbClr val="6D28D9"/>
              </a:gs>
              <a:gs pos="40000">
                <a:srgbClr val="7C3AED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970" y="2768798"/>
            <a:ext cx="193328" cy="1933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00882" y="2814935"/>
            <a:ext cx="7288575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930" kern="0" spc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 today that compiles complete, verified, </a:t>
            </a:r>
            <a:r>
              <a:rPr lang="en-US" sz="930" b="1" kern="0" spc="1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ORB-ready</a:t>
            </a:r>
            <a:r>
              <a:rPr lang="en-US" sz="930" kern="0" spc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website intelligence automatically. </a:t>
            </a:r>
            <a:r>
              <a:rPr lang="en-US" sz="930" b="1" kern="0" spc="1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9E0B">
                  <a:alpha val="5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20000" t="70000" r="8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90000" t="85000" r="10000" b="1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75000" t="60000" r="25000" b="4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40000" t="90000" r="6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20000" t="45000" r="80000" b="5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5275" y="4592092"/>
            <a:ext cx="8553450" cy="413742"/>
          </a:xfrm>
          <a:prstGeom prst="roundRect">
            <a:avLst>
              <a:gd name="adj" fmla="val 10436"/>
            </a:avLst>
          </a:prstGeom>
          <a:gradFill rotWithShape="1">
            <a:gsLst>
              <a:gs pos="0">
                <a:srgbClr val="F59E0B">
                  <a:alpha val="4000"/>
                </a:srgbClr>
              </a:gs>
              <a:gs pos="40000">
                <a:srgbClr val="000000">
                  <a:alpha val="0"/>
                </a:srgbClr>
              </a:gs>
              <a:gs pos="100000">
                <a:srgbClr val="8B5CF6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-14288" y="200620"/>
            <a:ext cx="917257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2030" kern="0" spc="6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Second Talkie Revolution.</a:t>
            </a:r>
            <a:endParaRPr lang="en-US" sz="2030" dirty="0"/>
          </a:p>
        </p:txBody>
      </p:sp>
      <p:sp>
        <p:nvSpPr>
          <p:cNvPr id="10" name="Text 8"/>
          <p:cNvSpPr/>
          <p:nvPr/>
        </p:nvSpPr>
        <p:spPr>
          <a:xfrm>
            <a:off x="-142875" y="513308"/>
            <a:ext cx="942975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40"/>
              </a:lnSpc>
              <a:buNone/>
            </a:pPr>
            <a:r>
              <a:rPr lang="en-US" sz="760" i="1" kern="0" spc="3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does not repeat. It rhymes. And it runs on a 33-year clock.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285750" y="758428"/>
            <a:ext cx="8572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8B5CF6"/>
              </a:gs>
              <a:gs pos="66667">
                <a:srgbClr val="F59E0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5750" y="852339"/>
            <a:ext cx="457310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kern="0" spc="84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1895 → 1927  |  CINEMA FINDS ITS VOICE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5750" y="1092101"/>
            <a:ext cx="45731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 — THE LUMIÈRE BROTHERS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85750" y="1231702"/>
            <a:ext cx="4240512" cy="280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silent film is projected. Cinema is born — visual, kinetic, captivating. But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cannot speak.</a:t>
            </a: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Audiences watch in wonder as images move in silence.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85750" y="1548705"/>
            <a:ext cx="4157365" cy="53100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YEARS OF THE SILENT ERA</a:t>
            </a:r>
            <a:endParaRPr lang="en-US" sz="62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Silent film grows into a global art form. Studios build empires. Stars become icons. Storytelling matures. And yet — something profound is missing.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sees everything. It can say nothing.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285750" y="1548705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5750" y="2064246"/>
            <a:ext cx="4157365" cy="66881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1927 — THE JAZZ SINGER</a:t>
            </a:r>
            <a:endParaRPr lang="en-US" sz="62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Warner Bros. releases The Jazz Singer. A voice comes out of the screen. The audience goes still — then erupts. Within 36 months, silent film is commercially extinct.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30-year industry vanishes almost overnight.</a:t>
            </a: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talkie does not improve cinema.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redefines what cinema is.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285750" y="2064246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750" y="2713583"/>
            <a:ext cx="4240512" cy="246013"/>
          </a:xfrm>
          <a:prstGeom prst="rect">
            <a:avLst/>
          </a:prstGeom>
          <a:noFill/>
          <a:ln/>
        </p:spPr>
        <p:txBody>
          <a:bodyPr wrap="none" lIns="0" tIns="49530" rIns="0" bIns="4953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ain't heard nothin' yet." — First words spoken in a commercial sound film, 1927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85750" y="2713583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66940" y="852339"/>
            <a:ext cx="10120" cy="3579168"/>
          </a:xfrm>
          <a:prstGeom prst="roundRect">
            <a:avLst>
              <a:gd name="adj" fmla="val 13804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F59E0B"/>
              </a:gs>
              <a:gs pos="40000">
                <a:srgbClr val="FCD34D"/>
              </a:gs>
              <a:gs pos="60000">
                <a:srgbClr val="A78BFA"/>
              </a:gs>
              <a:gs pos="80000">
                <a:srgbClr val="8B5CF6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blurRad="43180" dist="50800" dir="16200000" algn="bl" rotWithShape="0">
              <a:srgbClr val="F59E0B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36504" y="2606353"/>
            <a:ext cx="70991" cy="70991"/>
          </a:xfrm>
          <a:prstGeom prst="ellipse">
            <a:avLst/>
          </a:prstGeom>
          <a:gradFill rotWithShape="1">
            <a:gsLst>
              <a:gs pos="0">
                <a:srgbClr val="F59E0B"/>
              </a:gs>
              <a:gs pos="100000">
                <a:srgbClr val="8B5CF6"/>
              </a:gs>
            </a:gsLst>
            <a:lin ang="2700000" scaled="1"/>
          </a:gradFill>
          <a:ln/>
          <a:effectLst>
            <a:outerShdw blurRad="7112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0885" y="852339"/>
            <a:ext cx="457310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kern="0" spc="84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1993 → 2026  |  THE WEB FINDS ITS INTELLIGENCE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00885" y="1092101"/>
            <a:ext cx="45731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— THE FIRST GRAPHICAL WEB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4700885" y="1231702"/>
            <a:ext cx="4240512" cy="280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launches. The web is born — informational, hyperlinked, navigable. But pages cannot understand you. They cannot respond. They cannot guide.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web, like early cinema, is silent.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4700885" y="1548705"/>
            <a:ext cx="4157365" cy="66881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YEARS OF THE SILENT WEB</a:t>
            </a:r>
            <a:endParaRPr lang="en-US" sz="62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web becomes civilization's infrastructure. Billions of pages. Trillions of links. Entire economies built upon it. And yet — a website in 2010 still cannot hold a conversation. It presents. It waits.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web has no voice.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4700885" y="1548705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0885" y="2198043"/>
            <a:ext cx="4157365" cy="66881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ORB WEAVER ARRIVES</a:t>
            </a:r>
            <a:endParaRPr lang="en-US" sz="62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first time, a website can be fully mapped, understood, and intelligently navigated by an AI that knows every route, every control, every workflow.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does not just display — it communicates. It responds. It guides.</a:t>
            </a: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silent web ends. </a:t>
            </a: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web begins.</a:t>
            </a: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4700885" y="2198043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0885" y="2847380"/>
            <a:ext cx="4240512" cy="246013"/>
          </a:xfrm>
          <a:prstGeom prst="rect">
            <a:avLst/>
          </a:prstGeom>
          <a:noFill/>
          <a:ln/>
        </p:spPr>
        <p:txBody>
          <a:bodyPr wrap="none" lIns="0" tIns="49530" rIns="0" bIns="4953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talkie is not audio. It is agency. It is intent. It is the web that finally understands you.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700885" y="2847380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85750" y="4517827"/>
            <a:ext cx="8572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5750" y="4582567"/>
            <a:ext cx="8572500" cy="445776"/>
          </a:xfrm>
          <a:prstGeom prst="roundRect">
            <a:avLst>
              <a:gd name="adj" fmla="val 9686"/>
            </a:avLst>
          </a:prstGeom>
          <a:gradFill rotWithShape="1">
            <a:gsLst>
              <a:gs pos="0">
                <a:srgbClr val="8B5CF6">
                  <a:alpha val="10000"/>
                </a:srgbClr>
              </a:gs>
              <a:gs pos="50000">
                <a:srgbClr val="13132B">
                  <a:alpha val="80000"/>
                </a:srgbClr>
              </a:gs>
              <a:gs pos="100000">
                <a:srgbClr val="8B5CF6">
                  <a:alpha val="7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</p:spPr>
        <p:txBody>
          <a:bodyPr wrap="none" lIns="143510" tIns="64770" rIns="143510" bIns="6477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 → 1927 = 32 years.</a:t>
            </a: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→ 2026 = 33 years.</a:t>
            </a: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generational arc. The same category-defining rupture. The same overnight extinction of what came before.</a:t>
            </a: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is not a feature. It is the moment the web learns to speak.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62475" y="4582567"/>
            <a:ext cx="4295775" cy="7590"/>
          </a:xfrm>
          <a:custGeom>
            <a:avLst/>
            <a:gdLst/>
            <a:ahLst/>
            <a:cxnLst/>
            <a:rect l="l" t="t" r="r" b="b"/>
            <a:pathLst>
              <a:path w="4295775" h="7590">
                <a:moveTo>
                  <a:pt x="0" y="0"/>
                </a:moveTo>
                <a:lnTo>
                  <a:pt x="0" y="7590"/>
                </a:lnTo>
                <a:lnTo>
                  <a:pt x="4295775" y="7590"/>
                </a:lnTo>
                <a:lnTo>
                  <a:pt x="4276585" y="7277"/>
                </a:lnTo>
                <a:lnTo>
                  <a:pt x="4269119" y="3287"/>
                </a:lnTo>
                <a:lnTo>
                  <a:pt x="4261019" y="830"/>
                </a:lnTo>
                <a:lnTo>
                  <a:pt x="4252595" y="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2857500" cy="3429000"/>
          </a:xfrm>
          <a:prstGeom prst="ellipse">
            <a:avLst/>
          </a:prstGeom>
          <a:gradFill rotWithShape="1">
            <a:gsLst>
              <a:gs pos="0">
                <a:srgbClr val="8B5CF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286720"/>
            <a:ext cx="2286000" cy="1856780"/>
          </a:xfrm>
          <a:prstGeom prst="ellipse">
            <a:avLst/>
          </a:prstGeom>
          <a:gradFill rotWithShape="1">
            <a:gsLst>
              <a:gs pos="0">
                <a:srgbClr val="8B5C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8B5CF6">
                  <a:alpha val="70000"/>
                </a:srgbClr>
              </a:gs>
              <a:gs pos="60000">
                <a:srgbClr val="C4B5FD">
                  <a:alpha val="70000"/>
                </a:srgbClr>
              </a:gs>
              <a:gs pos="80000">
                <a:srgbClr val="8B5CF6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gradFill rotWithShape="1">
            <a:gsLst>
              <a:gs pos="0">
                <a:srgbClr val="8B5CF6">
                  <a:alpha val="18000"/>
                </a:srgbClr>
              </a:gs>
              <a:gs pos="50000">
                <a:srgbClr val="8B5CF6">
                  <a:alpha val="10000"/>
                </a:srgbClr>
              </a:gs>
              <a:gs pos="100000">
                <a:srgbClr val="8B5CF6">
                  <a:alpha val="18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8B5CF6">
              <a:alpha val="2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91085" y="4940647"/>
            <a:ext cx="43160" cy="4316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1124" y="4895933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20591" y="4876502"/>
            <a:ext cx="38529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8D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blank website to fully ORB-ready in a single scan run.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139" y="4895933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9606" y="4940647"/>
            <a:ext cx="43160" cy="4316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9575" y="1190476"/>
            <a:ext cx="2514152" cy="2269179"/>
          </a:xfrm>
          <a:prstGeom prst="roundRect">
            <a:avLst>
              <a:gd name="adj" fmla="val 5653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231654" y="1350318"/>
            <a:ext cx="66675" cy="762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314849" y="1190476"/>
            <a:ext cx="2514305" cy="2269179"/>
          </a:xfrm>
          <a:prstGeom prst="roundRect">
            <a:avLst>
              <a:gd name="adj" fmla="val 5653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137077" y="1350318"/>
            <a:ext cx="66675" cy="762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220271" y="1190476"/>
            <a:ext cx="2514152" cy="2113807"/>
          </a:xfrm>
          <a:prstGeom prst="roundRect">
            <a:avLst>
              <a:gd name="adj" fmla="val 6068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00050" y="412998"/>
            <a:ext cx="29170" cy="257770"/>
          </a:xfrm>
          <a:prstGeom prst="roundRect">
            <a:avLst>
              <a:gd name="adj" fmla="val 47892"/>
            </a:avLst>
          </a:prstGeom>
          <a:solidFill>
            <a:srgbClr val="8B5CF6"/>
          </a:solidFill>
          <a:ln/>
          <a:effectLst>
            <a:outerShdw blurRad="8636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15541" y="314920"/>
            <a:ext cx="34947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ORB WEAVER WORKS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515541" y="454521"/>
            <a:ext cx="339942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kern="0" spc="45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Scan. </a:t>
            </a:r>
            <a:r>
              <a:rPr lang="en-US" sz="2250" kern="0" spc="45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Compile.</a:t>
            </a:r>
            <a:r>
              <a:rPr lang="en-US" sz="2250" kern="0" spc="45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Deploy.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772120" y="825847"/>
            <a:ext cx="8769013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7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stages. One complete Site Intelligence package, ready for any ORB-powered AI agent.</a:t>
            </a:r>
            <a:endParaRPr lang="en-US" sz="870" dirty="0"/>
          </a:p>
        </p:txBody>
      </p:sp>
      <p:sp>
        <p:nvSpPr>
          <p:cNvPr id="23" name="Text 19"/>
          <p:cNvSpPr/>
          <p:nvPr/>
        </p:nvSpPr>
        <p:spPr>
          <a:xfrm>
            <a:off x="400050" y="1180951"/>
            <a:ext cx="2533204" cy="2288232"/>
          </a:xfrm>
          <a:prstGeom prst="roundRect">
            <a:avLst>
              <a:gd name="adj" fmla="val 5606"/>
            </a:avLst>
          </a:prstGeom>
          <a:solidFill>
            <a:srgbClr val="13132B"/>
          </a:solidFill>
          <a:ln w="9525">
            <a:solidFill>
              <a:srgbClr val="8B5C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94866" y="1090166"/>
            <a:ext cx="602665" cy="176361"/>
          </a:xfrm>
          <a:prstGeom prst="roundRect">
            <a:avLst>
              <a:gd name="adj" fmla="val 81373"/>
            </a:avLst>
          </a:prstGeom>
          <a:solidFill>
            <a:srgbClr val="8B5CF6"/>
          </a:solidFill>
          <a:ln/>
          <a:effectLst>
            <a:outerShdw blurRad="11430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lIns="100330" tIns="29210" rIns="100330" bIns="29210" rtlCol="0" anchor="t"/>
          <a:lstStyle/>
          <a:p>
            <a:pPr marL="0" indent="0" algn="l">
              <a:buNone/>
            </a:pPr>
            <a:r>
              <a:rPr lang="en-US" sz="620" b="1" kern="0" spc="87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01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594866" y="1391096"/>
            <a:ext cx="413891" cy="413891"/>
          </a:xfrm>
          <a:prstGeom prst="roundRect">
            <a:avLst>
              <a:gd name="adj" fmla="val 27616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>
                <a:alpha val="35000"/>
              </a:srgbClr>
            </a:solidFill>
          </a:ln>
          <a:effectLst>
            <a:outerShdw blurRad="143510" dist="50800" dir="16200000" algn="bl" rotWithShape="0">
              <a:srgbClr val="8B5CF6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370" y="1517600"/>
            <a:ext cx="160883" cy="16088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866" y="1905298"/>
            <a:ext cx="2357929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99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</a:t>
            </a:r>
            <a:endParaRPr lang="en-US" sz="1240" dirty="0"/>
          </a:p>
        </p:txBody>
      </p:sp>
      <p:sp>
        <p:nvSpPr>
          <p:cNvPr id="28" name="Text 23"/>
          <p:cNvSpPr/>
          <p:nvPr/>
        </p:nvSpPr>
        <p:spPr>
          <a:xfrm>
            <a:off x="594866" y="2241798"/>
            <a:ext cx="2186443" cy="97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dispatches </a:t>
            </a:r>
            <a:r>
              <a:rPr lang="en-US" sz="7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220+ scan types</a:t>
            </a: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every layer of a target website — structure, navigation, UI elements, accessibility, content, flows, brand, schema, and more. Nothing is left undiscovered. Every control, route, pointer target, and workflow is mapped.</a:t>
            </a:r>
            <a:endParaRPr lang="en-US" sz="790" dirty="0"/>
          </a:p>
        </p:txBody>
      </p:sp>
      <p:sp>
        <p:nvSpPr>
          <p:cNvPr id="29" name="Text 24"/>
          <p:cNvSpPr/>
          <p:nvPr/>
        </p:nvSpPr>
        <p:spPr>
          <a:xfrm>
            <a:off x="594866" y="3274368"/>
            <a:ext cx="2143571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8B5C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090714" y="1324421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blurRad="7112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947839" y="1381571"/>
            <a:ext cx="342900" cy="13841"/>
          </a:xfrm>
          <a:prstGeom prst="rect">
            <a:avLst/>
          </a:prstGeom>
          <a:gradFill rotWithShape="1">
            <a:gsLst>
              <a:gs pos="0">
                <a:srgbClr val="8B5CF6">
                  <a:alpha val="30000"/>
                </a:srgbClr>
              </a:gs>
              <a:gs pos="50000">
                <a:srgbClr val="8B5CF6"/>
              </a:gs>
              <a:gs pos="100000">
                <a:srgbClr val="8B5C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090714" y="1395413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blurRad="7112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305324" y="1180951"/>
            <a:ext cx="2533352" cy="2288232"/>
          </a:xfrm>
          <a:prstGeom prst="roundRect">
            <a:avLst>
              <a:gd name="adj" fmla="val 5606"/>
            </a:avLst>
          </a:prstGeom>
          <a:solidFill>
            <a:srgbClr val="13132B"/>
          </a:solidFill>
          <a:ln w="9525">
            <a:solidFill>
              <a:srgbClr val="8B5CF6">
                <a:alpha val="3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500140" y="1090166"/>
            <a:ext cx="602665" cy="176361"/>
          </a:xfrm>
          <a:prstGeom prst="roundRect">
            <a:avLst>
              <a:gd name="adj" fmla="val 81373"/>
            </a:avLst>
          </a:prstGeom>
          <a:solidFill>
            <a:srgbClr val="8B5CF6"/>
          </a:solidFill>
          <a:ln/>
          <a:effectLst>
            <a:outerShdw blurRad="11430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lIns="100330" tIns="29210" rIns="100330" bIns="29210" rtlCol="0" anchor="t"/>
          <a:lstStyle/>
          <a:p>
            <a:pPr marL="0" indent="0" algn="l">
              <a:buNone/>
            </a:pPr>
            <a:r>
              <a:rPr lang="en-US" sz="620" b="1" kern="0" spc="87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02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3500140" y="1391096"/>
            <a:ext cx="413891" cy="413891"/>
          </a:xfrm>
          <a:prstGeom prst="roundRect">
            <a:avLst>
              <a:gd name="adj" fmla="val 27616"/>
            </a:avLst>
          </a:prstGeom>
          <a:solidFill>
            <a:srgbClr val="8B5CF6">
              <a:alpha val="28000"/>
            </a:srgbClr>
          </a:solidFill>
          <a:ln w="9525">
            <a:solidFill>
              <a:srgbClr val="8B5CF6">
                <a:alpha val="55000"/>
              </a:srgbClr>
            </a:solidFill>
          </a:ln>
          <a:effectLst>
            <a:outerShdw blurRad="20066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6644" y="1517600"/>
            <a:ext cx="160883" cy="16088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500140" y="1905298"/>
            <a:ext cx="235809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99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COMPILE</a:t>
            </a:r>
            <a:endParaRPr lang="en-US" sz="1240" dirty="0"/>
          </a:p>
        </p:txBody>
      </p:sp>
      <p:sp>
        <p:nvSpPr>
          <p:cNvPr id="38" name="Text 32"/>
          <p:cNvSpPr/>
          <p:nvPr/>
        </p:nvSpPr>
        <p:spPr>
          <a:xfrm>
            <a:off x="3500140" y="2241798"/>
            <a:ext cx="2186595" cy="97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scan data is normalized, deduplicated, cross-referenced, and compiled into a </a:t>
            </a:r>
            <a:r>
              <a:rPr lang="en-US" sz="7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World</a:t>
            </a: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structured knowledge graph, pointer manifest, route capsule set, and workflow map. Fully versioned, timestamped, and confidence-scored.</a:t>
            </a:r>
            <a:endParaRPr lang="en-US" sz="790" dirty="0"/>
          </a:p>
        </p:txBody>
      </p:sp>
      <p:sp>
        <p:nvSpPr>
          <p:cNvPr id="39" name="Text 33"/>
          <p:cNvSpPr/>
          <p:nvPr/>
        </p:nvSpPr>
        <p:spPr>
          <a:xfrm>
            <a:off x="3500140" y="3274368"/>
            <a:ext cx="21437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8B5CF6">
                  <a:alpha val="70000"/>
                </a:srgbClr>
              </a:gs>
              <a:gs pos="50000">
                <a:srgbClr val="C4B5FD">
                  <a:alpha val="5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996136" y="1324421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blurRad="7112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853261" y="1381571"/>
            <a:ext cx="342900" cy="13841"/>
          </a:xfrm>
          <a:prstGeom prst="rect">
            <a:avLst/>
          </a:prstGeom>
          <a:gradFill rotWithShape="1">
            <a:gsLst>
              <a:gs pos="0">
                <a:srgbClr val="8B5CF6">
                  <a:alpha val="30000"/>
                </a:srgbClr>
              </a:gs>
              <a:gs pos="50000">
                <a:srgbClr val="8B5CF6"/>
              </a:gs>
              <a:gs pos="100000">
                <a:srgbClr val="8B5C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5996136" y="1395413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blurRad="7112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210746" y="1180951"/>
            <a:ext cx="2533204" cy="2132856"/>
          </a:xfrm>
          <a:prstGeom prst="roundRect">
            <a:avLst>
              <a:gd name="adj" fmla="val 6014"/>
            </a:avLst>
          </a:prstGeom>
          <a:solidFill>
            <a:srgbClr val="13132B"/>
          </a:solidFill>
          <a:ln w="9525">
            <a:solidFill>
              <a:srgbClr val="8B5C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405563" y="1090166"/>
            <a:ext cx="602665" cy="176361"/>
          </a:xfrm>
          <a:prstGeom prst="roundRect">
            <a:avLst>
              <a:gd name="adj" fmla="val 81373"/>
            </a:avLst>
          </a:prstGeom>
          <a:solidFill>
            <a:srgbClr val="8B5CF6"/>
          </a:solidFill>
          <a:ln/>
          <a:effectLst>
            <a:outerShdw blurRad="114300" dist="50800" dir="16200000" algn="bl" rotWithShape="0">
              <a:srgbClr val="8B5CF6">
                <a:alpha val="55000"/>
              </a:srgbClr>
            </a:outerShdw>
          </a:effectLst>
        </p:spPr>
        <p:txBody>
          <a:bodyPr wrap="none" lIns="100330" tIns="29210" rIns="100330" bIns="29210" rtlCol="0" anchor="t"/>
          <a:lstStyle/>
          <a:p>
            <a:pPr marL="0" indent="0" algn="l">
              <a:buNone/>
            </a:pPr>
            <a:r>
              <a:rPr lang="en-US" sz="620" b="1" kern="0" spc="87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03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6405563" y="1391096"/>
            <a:ext cx="413891" cy="413891"/>
          </a:xfrm>
          <a:prstGeom prst="roundRect">
            <a:avLst>
              <a:gd name="adj" fmla="val 27616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>
                <a:alpha val="35000"/>
              </a:srgbClr>
            </a:solidFill>
          </a:ln>
          <a:effectLst>
            <a:outerShdw blurRad="143510" dist="50800" dir="16200000" algn="bl" rotWithShape="0">
              <a:srgbClr val="8B5CF6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2066" y="1517600"/>
            <a:ext cx="160883" cy="16088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405563" y="1905298"/>
            <a:ext cx="2357929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99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</a:t>
            </a:r>
            <a:endParaRPr lang="en-US" sz="1240" dirty="0"/>
          </a:p>
        </p:txBody>
      </p:sp>
      <p:sp>
        <p:nvSpPr>
          <p:cNvPr id="48" name="Text 41"/>
          <p:cNvSpPr/>
          <p:nvPr/>
        </p:nvSpPr>
        <p:spPr>
          <a:xfrm>
            <a:off x="6405563" y="2241798"/>
            <a:ext cx="2186443" cy="81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ORB intelligence package is delivered as a </a:t>
            </a:r>
            <a:r>
              <a:rPr lang="en-US" sz="7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deployment artifact</a:t>
            </a: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Any ORB-powered AI receives complete site knowledge instantly — no guessing, no custom coding, no integration work.</a:t>
            </a:r>
            <a:endParaRPr lang="en-US" sz="790" dirty="0"/>
          </a:p>
        </p:txBody>
      </p:sp>
      <p:sp>
        <p:nvSpPr>
          <p:cNvPr id="49" name="Text 42"/>
          <p:cNvSpPr/>
          <p:nvPr/>
        </p:nvSpPr>
        <p:spPr>
          <a:xfrm>
            <a:off x="6405563" y="3118991"/>
            <a:ext cx="2143571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8B5C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0818"/>
              </a:gs>
              <a:gs pos="60000">
                <a:srgbClr val="0E0A2A"/>
              </a:gs>
              <a:gs pos="100000">
                <a:srgbClr val="12082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50000">
                <a:srgbClr val="C4B5FD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2412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867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5322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368796"/>
            <a:ext cx="228600" cy="21580"/>
          </a:xfrm>
          <a:prstGeom prst="roundRect">
            <a:avLst>
              <a:gd name="adj" fmla="val 64736"/>
            </a:avLst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9641" y="314920"/>
            <a:ext cx="146848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OPPORTUNITY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400050" y="48756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280"/>
              </a:spcAft>
              <a:buNone/>
            </a:pPr>
            <a:r>
              <a:rPr lang="en-US" sz="1910" b="1" kern="0" spc="-2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Three Exploding Markets Converge.</a:t>
            </a:r>
            <a:endParaRPr lang="en-US" sz="1910" dirty="0"/>
          </a:p>
        </p:txBody>
      </p:sp>
      <p:sp>
        <p:nvSpPr>
          <p:cNvPr id="11" name="Text 9"/>
          <p:cNvSpPr/>
          <p:nvPr/>
        </p:nvSpPr>
        <p:spPr>
          <a:xfrm>
            <a:off x="400050" y="801886"/>
            <a:ext cx="6444317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sits at the intersection of AI infrastructure, web automation, and enterprise knowledge management.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40005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blurRad="171450" dist="29210" dir="5400000" algn="bl" rotWithShape="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304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562" y="1314161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304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$47B</a:t>
            </a:r>
            <a:endParaRPr lang="en-US" sz="2590" dirty="0"/>
          </a:p>
        </p:txBody>
      </p:sp>
      <p:sp>
        <p:nvSpPr>
          <p:cNvPr id="16" name="Text 13"/>
          <p:cNvSpPr/>
          <p:nvPr/>
        </p:nvSpPr>
        <p:spPr>
          <a:xfrm>
            <a:off x="553045" y="1967657"/>
            <a:ext cx="1728145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&amp; Autonomous Workflow Market by 2030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553045" y="2279154"/>
            <a:ext cx="1728145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segment in enterprise software infrastructure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553045" y="2593181"/>
            <a:ext cx="1694259" cy="160273"/>
          </a:xfrm>
          <a:prstGeom prst="roundRect">
            <a:avLst>
              <a:gd name="adj" fmla="val 89541"/>
            </a:avLst>
          </a:prstGeom>
          <a:solidFill>
            <a:srgbClr val="EDE9FE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43%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251460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blurRad="171450" dist="29210" dir="5400000" algn="bl" rotWithShape="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6759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0112" y="1314161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66759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1.97B</a:t>
            </a:r>
            <a:endParaRPr lang="en-US" sz="2590" dirty="0"/>
          </a:p>
        </p:txBody>
      </p:sp>
      <p:sp>
        <p:nvSpPr>
          <p:cNvPr id="23" name="Text 19"/>
          <p:cNvSpPr/>
          <p:nvPr/>
        </p:nvSpPr>
        <p:spPr>
          <a:xfrm>
            <a:off x="2667595" y="1967657"/>
            <a:ext cx="18636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websites worldwide</a:t>
            </a:r>
            <a:endParaRPr lang="en-US" sz="760" dirty="0"/>
          </a:p>
        </p:txBody>
      </p:sp>
      <p:sp>
        <p:nvSpPr>
          <p:cNvPr id="24" name="Text 20"/>
          <p:cNvSpPr/>
          <p:nvPr/>
        </p:nvSpPr>
        <p:spPr>
          <a:xfrm>
            <a:off x="2667595" y="2148780"/>
            <a:ext cx="1728145" cy="380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requiring structured, AI-navigable intelligence to function with autonomous agents</a:t>
            </a:r>
            <a:endParaRPr lang="en-US" sz="680" dirty="0"/>
          </a:p>
        </p:txBody>
      </p:sp>
      <p:sp>
        <p:nvSpPr>
          <p:cNvPr id="25" name="Text 21"/>
          <p:cNvSpPr/>
          <p:nvPr/>
        </p:nvSpPr>
        <p:spPr>
          <a:xfrm>
            <a:off x="462915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blurRad="171450" dist="29210" dir="5400000" algn="bl" rotWithShape="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8214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4662" y="1314161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8214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$29B</a:t>
            </a:r>
            <a:endParaRPr lang="en-US" sz="2590" dirty="0"/>
          </a:p>
        </p:txBody>
      </p:sp>
      <p:sp>
        <p:nvSpPr>
          <p:cNvPr id="29" name="Text 24"/>
          <p:cNvSpPr/>
          <p:nvPr/>
        </p:nvSpPr>
        <p:spPr>
          <a:xfrm>
            <a:off x="4782145" y="1967657"/>
            <a:ext cx="1728145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 &amp; Web Automation Software Market, 2026</a:t>
            </a:r>
            <a:endParaRPr lang="en-US" sz="760" dirty="0"/>
          </a:p>
        </p:txBody>
      </p:sp>
      <p:sp>
        <p:nvSpPr>
          <p:cNvPr id="30" name="Text 25"/>
          <p:cNvSpPr/>
          <p:nvPr/>
        </p:nvSpPr>
        <p:spPr>
          <a:xfrm>
            <a:off x="4782145" y="2279154"/>
            <a:ext cx="1728145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rapidly as enterprises demand full-stack workflow orchestration</a:t>
            </a:r>
            <a:endParaRPr lang="en-US" sz="680" dirty="0"/>
          </a:p>
        </p:txBody>
      </p:sp>
      <p:sp>
        <p:nvSpPr>
          <p:cNvPr id="31" name="Text 26"/>
          <p:cNvSpPr/>
          <p:nvPr/>
        </p:nvSpPr>
        <p:spPr>
          <a:xfrm>
            <a:off x="674370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blurRad="171450" dist="29210" dir="5400000" algn="bl" rotWithShape="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89669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9212" y="1314161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9669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$18B</a:t>
            </a:r>
            <a:endParaRPr lang="en-US" sz="2590" dirty="0"/>
          </a:p>
        </p:txBody>
      </p:sp>
      <p:sp>
        <p:nvSpPr>
          <p:cNvPr id="35" name="Text 29"/>
          <p:cNvSpPr/>
          <p:nvPr/>
        </p:nvSpPr>
        <p:spPr>
          <a:xfrm>
            <a:off x="6896695" y="1967657"/>
            <a:ext cx="1728145" cy="41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Graph &amp; Structured Intelligence Market by 2029</a:t>
            </a:r>
            <a:endParaRPr lang="en-US" sz="760" dirty="0"/>
          </a:p>
        </p:txBody>
      </p:sp>
      <p:sp>
        <p:nvSpPr>
          <p:cNvPr id="36" name="Text 30"/>
          <p:cNvSpPr/>
          <p:nvPr/>
        </p:nvSpPr>
        <p:spPr>
          <a:xfrm>
            <a:off x="6896695" y="2409527"/>
            <a:ext cx="1728145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investing heavily in verified, queryable intelligence at scale</a:t>
            </a:r>
            <a:endParaRPr lang="en-US" sz="680" dirty="0"/>
          </a:p>
        </p:txBody>
      </p:sp>
      <p:sp>
        <p:nvSpPr>
          <p:cNvPr id="37" name="Text 31"/>
          <p:cNvSpPr/>
          <p:nvPr/>
        </p:nvSpPr>
        <p:spPr>
          <a:xfrm>
            <a:off x="400050" y="4387751"/>
            <a:ext cx="8343900" cy="527149"/>
          </a:xfrm>
          <a:prstGeom prst="roundRect">
            <a:avLst>
              <a:gd name="adj" fmla="val 16382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752" y="4584957"/>
            <a:ext cx="132588" cy="132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85366" y="4489847"/>
            <a:ext cx="7947431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platform, every enterprise automation stack, every customer-facing deployment needs what ORB Weaver produces: </a:t>
            </a:r>
            <a:r>
              <a:rPr lang="en-US" sz="82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structured, deployment-ready site intelligence.</a:t>
            </a:r>
            <a:r>
              <a:rPr lang="en-US" sz="8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are the intelligence layer the agentic web is missing.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100072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816025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14539" y="816025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19502" y="816025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575" y="1701701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4539" y="1701701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19502" y="1701701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2919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820" y="171450"/>
            <a:ext cx="13278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SCANNING ENGINE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400050" y="31477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spcAft>
                <a:spcPts val="110"/>
              </a:spcAft>
              <a:buNone/>
            </a:pPr>
            <a:r>
              <a:rPr lang="en-US" sz="169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220+ Scan Types.</a:t>
            </a:r>
            <a:r>
              <a:rPr lang="en-US" sz="169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14 Intelligence Categories.</a:t>
            </a:r>
            <a:endParaRPr lang="en-US" sz="1690" dirty="0"/>
          </a:p>
        </p:txBody>
      </p:sp>
      <p:sp>
        <p:nvSpPr>
          <p:cNvPr id="14" name="Text 12"/>
          <p:cNvSpPr/>
          <p:nvPr/>
        </p:nvSpPr>
        <p:spPr>
          <a:xfrm>
            <a:off x="400050" y="575370"/>
            <a:ext cx="917829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comprehensive website intelligence system ever built.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00050" y="806500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885" y="902345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397" y="971857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7966" y="902345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Discovery &amp; Structure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867966" y="1076325"/>
            <a:ext cx="2199346" cy="479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scan, subdomain discovery, sitemap parsing, robots.txt scan, route discovery, page crawl, internal/external link inventory, redirect detection, broken-link detection, HTTP status collection.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5014" y="806500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314849" y="902345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4360" y="971857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72929" y="902345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Page Intelligence</a:t>
            </a:r>
            <a:endParaRPr lang="en-US" sz="760" dirty="0"/>
          </a:p>
        </p:txBody>
      </p:sp>
      <p:sp>
        <p:nvSpPr>
          <p:cNvPr id="24" name="Text 20"/>
          <p:cNvSpPr/>
          <p:nvPr/>
        </p:nvSpPr>
        <p:spPr>
          <a:xfrm>
            <a:off x="3672929" y="1076325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URLs, page titles, meta-descriptions, heading &amp; section-heading collection, page-text extraction, content-block extraction, page-purpose and page-type classification.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6009977" y="806500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119813" y="902345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9324" y="971857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7893" y="902345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Navigation Mapping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6477893" y="1076325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footer, sidebar &amp; breadcrumb menus; button, link, CTA discovery; modal, dialog, accordion, tab, dropdown, carousel &amp; pagination control detection.</a:t>
            </a:r>
            <a:endParaRPr lang="en-US" sz="620" dirty="0"/>
          </a:p>
        </p:txBody>
      </p:sp>
      <p:sp>
        <p:nvSpPr>
          <p:cNvPr id="30" name="Text 25"/>
          <p:cNvSpPr/>
          <p:nvPr/>
        </p:nvSpPr>
        <p:spPr>
          <a:xfrm>
            <a:off x="400050" y="1692176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09885" y="1788021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397" y="1857533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67966" y="1788021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 Element &amp; Form Intelligence</a:t>
            </a:r>
            <a:endParaRPr lang="en-US" sz="760" dirty="0"/>
          </a:p>
        </p:txBody>
      </p:sp>
      <p:sp>
        <p:nvSpPr>
          <p:cNvPr id="34" name="Text 28"/>
          <p:cNvSpPr/>
          <p:nvPr/>
        </p:nvSpPr>
        <p:spPr>
          <a:xfrm>
            <a:off x="867966" y="1962001"/>
            <a:ext cx="2199346" cy="479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form discovery — fields, inputs, selects, checkboxes, radio buttons, text areas, submit &amp; search controls; disabled, hidden, visibility &amp; interactive-state detection.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3205014" y="1692176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3314849" y="1788021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84360" y="1857533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72929" y="1788021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Accessibility &amp; DOM</a:t>
            </a:r>
            <a:endParaRPr lang="en-US" sz="760" dirty="0"/>
          </a:p>
        </p:txBody>
      </p:sp>
      <p:sp>
        <p:nvSpPr>
          <p:cNvPr id="39" name="Text 32"/>
          <p:cNvSpPr/>
          <p:nvPr/>
        </p:nvSpPr>
        <p:spPr>
          <a:xfrm>
            <a:off x="3672929" y="1962001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IDs, DOM anchors, ARIA labels, accessible names, visible labels, data attributes, element roles, types, states, bounding boxes, screen positions.</a:t>
            </a:r>
            <a:endParaRPr lang="en-US" sz="620" dirty="0"/>
          </a:p>
        </p:txBody>
      </p:sp>
      <p:sp>
        <p:nvSpPr>
          <p:cNvPr id="40" name="Text 33"/>
          <p:cNvSpPr/>
          <p:nvPr/>
        </p:nvSpPr>
        <p:spPr>
          <a:xfrm>
            <a:off x="6009977" y="1692176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119813" y="1788021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9324" y="1857533"/>
            <a:ext cx="132588" cy="13258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477893" y="1788021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&amp; Workflow Mapping</a:t>
            </a:r>
            <a:endParaRPr lang="en-US" sz="760" dirty="0"/>
          </a:p>
        </p:txBody>
      </p:sp>
      <p:sp>
        <p:nvSpPr>
          <p:cNvPr id="44" name="Text 36"/>
          <p:cNvSpPr/>
          <p:nvPr/>
        </p:nvSpPr>
        <p:spPr>
          <a:xfrm>
            <a:off x="6477893" y="1962001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signup, login, purchase, cart, checkout, lead-gen, multi-step workflows; required fields, validation rules, error messages, success &amp; confirmation states.</a:t>
            </a:r>
            <a:endParaRPr lang="en-US" sz="620" dirty="0"/>
          </a:p>
        </p:txBody>
      </p:sp>
      <p:sp>
        <p:nvSpPr>
          <p:cNvPr id="45" name="Text 37"/>
          <p:cNvSpPr/>
          <p:nvPr/>
        </p:nvSpPr>
        <p:spPr>
          <a:xfrm>
            <a:off x="400050" y="2577852"/>
            <a:ext cx="8510778" cy="214313"/>
          </a:xfrm>
          <a:prstGeom prst="rect">
            <a:avLst/>
          </a:prstGeom>
          <a:solidFill>
            <a:srgbClr val="13132B">
              <a:alpha val="60000"/>
            </a:srgbClr>
          </a:solidFill>
          <a:ln/>
        </p:spPr>
        <p:txBody>
          <a:bodyPr wrap="none" lIns="100330" tIns="49530" rIns="100330" bIns="43180" rtlCol="0" anchor="t"/>
          <a:lstStyle/>
          <a:p>
            <a:pPr marL="0" indent="0" algn="l">
              <a:buNone/>
            </a:pPr>
            <a:r>
              <a:rPr lang="en-US" sz="590" b="1" kern="0" spc="12" dirty="0">
                <a:solidFill>
                  <a:srgbClr val="8B5CF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</a:t>
            </a:r>
            <a:r>
              <a:rPr lang="en-US" sz="590" kern="0" spc="12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 System · Layout Intelligence · Content &amp; Product · Brand &amp; Schema · Site World Compilation · Change Detection · Scan Management · ORB Configuration Generation</a:t>
            </a:r>
            <a:endParaRPr lang="en-US" sz="590" dirty="0"/>
          </a:p>
        </p:txBody>
      </p:sp>
      <p:sp>
        <p:nvSpPr>
          <p:cNvPr id="46" name="Text 38"/>
          <p:cNvSpPr/>
          <p:nvPr/>
        </p:nvSpPr>
        <p:spPr>
          <a:xfrm>
            <a:off x="400050" y="2577852"/>
            <a:ext cx="8343900" cy="9525"/>
          </a:xfrm>
          <a:prstGeom prst="rect">
            <a:avLst/>
          </a:prstGeom>
          <a:solidFill>
            <a:srgbClr val="8B5CF6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38582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259" y="0"/>
            <a:ext cx="4928741" cy="35001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030" y="2000250"/>
            <a:ext cx="5286970" cy="31432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7295" y="711101"/>
            <a:ext cx="2799455" cy="13841"/>
          </a:xfrm>
          <a:custGeom>
            <a:avLst/>
            <a:gdLst/>
            <a:ahLst/>
            <a:cxnLst/>
            <a:rect l="l" t="t" r="r" b="b"/>
            <a:pathLst>
              <a:path w="2799455" h="13841">
                <a:moveTo>
                  <a:pt x="100330" y="0"/>
                </a:moveTo>
                <a:lnTo>
                  <a:pt x="2699125" y="0"/>
                </a:lnTo>
                <a:lnTo>
                  <a:pt x="2717677" y="1730"/>
                </a:lnTo>
                <a:lnTo>
                  <a:pt x="2725247" y="3460"/>
                </a:lnTo>
                <a:lnTo>
                  <a:pt x="2730977" y="5190"/>
                </a:lnTo>
                <a:lnTo>
                  <a:pt x="2735741" y="6920"/>
                </a:lnTo>
                <a:lnTo>
                  <a:pt x="2739880" y="8651"/>
                </a:lnTo>
                <a:lnTo>
                  <a:pt x="2743569" y="10381"/>
                </a:lnTo>
                <a:lnTo>
                  <a:pt x="2746911" y="12111"/>
                </a:lnTo>
                <a:lnTo>
                  <a:pt x="274997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172123" y="711101"/>
            <a:ext cx="2799607" cy="13841"/>
          </a:xfrm>
          <a:custGeom>
            <a:avLst/>
            <a:gdLst/>
            <a:ahLst/>
            <a:cxnLst/>
            <a:rect l="l" t="t" r="r" b="b"/>
            <a:pathLst>
              <a:path w="2799607" h="13841">
                <a:moveTo>
                  <a:pt x="100330" y="0"/>
                </a:moveTo>
                <a:lnTo>
                  <a:pt x="2699277" y="0"/>
                </a:lnTo>
                <a:lnTo>
                  <a:pt x="2717829" y="1730"/>
                </a:lnTo>
                <a:lnTo>
                  <a:pt x="2725399" y="3460"/>
                </a:lnTo>
                <a:lnTo>
                  <a:pt x="2731129" y="5190"/>
                </a:lnTo>
                <a:lnTo>
                  <a:pt x="2735894" y="6920"/>
                </a:lnTo>
                <a:lnTo>
                  <a:pt x="2740033" y="8651"/>
                </a:lnTo>
                <a:lnTo>
                  <a:pt x="2743721" y="10381"/>
                </a:lnTo>
                <a:lnTo>
                  <a:pt x="2747063" y="12111"/>
                </a:lnTo>
                <a:lnTo>
                  <a:pt x="2750128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59E0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077099" y="711101"/>
            <a:ext cx="2799607" cy="13841"/>
          </a:xfrm>
          <a:custGeom>
            <a:avLst/>
            <a:gdLst/>
            <a:ahLst/>
            <a:cxnLst/>
            <a:rect l="l" t="t" r="r" b="b"/>
            <a:pathLst>
              <a:path w="2799607" h="13841">
                <a:moveTo>
                  <a:pt x="100330" y="0"/>
                </a:moveTo>
                <a:lnTo>
                  <a:pt x="2699277" y="0"/>
                </a:lnTo>
                <a:lnTo>
                  <a:pt x="2717829" y="1730"/>
                </a:lnTo>
                <a:lnTo>
                  <a:pt x="2725399" y="3460"/>
                </a:lnTo>
                <a:lnTo>
                  <a:pt x="2731129" y="5190"/>
                </a:lnTo>
                <a:lnTo>
                  <a:pt x="2735894" y="6920"/>
                </a:lnTo>
                <a:lnTo>
                  <a:pt x="2740033" y="8651"/>
                </a:lnTo>
                <a:lnTo>
                  <a:pt x="2743721" y="10381"/>
                </a:lnTo>
                <a:lnTo>
                  <a:pt x="2747063" y="12111"/>
                </a:lnTo>
                <a:lnTo>
                  <a:pt x="2750128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6B6D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67295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714798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3162449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610100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057602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505254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267295" y="2884140"/>
            <a:ext cx="8609409" cy="7590"/>
          </a:xfrm>
          <a:custGeom>
            <a:avLst/>
            <a:gdLst/>
            <a:ahLst/>
            <a:cxnLst/>
            <a:rect l="l" t="t" r="r" b="b"/>
            <a:pathLst>
              <a:path w="8609409" h="7590">
                <a:moveTo>
                  <a:pt x="71120" y="0"/>
                </a:moveTo>
                <a:lnTo>
                  <a:pt x="8538289" y="0"/>
                </a:lnTo>
                <a:lnTo>
                  <a:pt x="8549868" y="949"/>
                </a:lnTo>
                <a:lnTo>
                  <a:pt x="8554608" y="1898"/>
                </a:lnTo>
                <a:lnTo>
                  <a:pt x="8558208" y="2846"/>
                </a:lnTo>
                <a:lnTo>
                  <a:pt x="8561211" y="3795"/>
                </a:lnTo>
                <a:lnTo>
                  <a:pt x="8563829" y="4744"/>
                </a:lnTo>
                <a:lnTo>
                  <a:pt x="8566170" y="5693"/>
                </a:lnTo>
                <a:lnTo>
                  <a:pt x="8568299" y="6641"/>
                </a:lnTo>
                <a:lnTo>
                  <a:pt x="8570258" y="7590"/>
                </a:lnTo>
                <a:lnTo>
                  <a:pt x="39151" y="7590"/>
                </a:lnTo>
                <a:lnTo>
                  <a:pt x="41110" y="6641"/>
                </a:lnTo>
                <a:lnTo>
                  <a:pt x="43240" y="5693"/>
                </a:lnTo>
                <a:lnTo>
                  <a:pt x="45581" y="4744"/>
                </a:lnTo>
                <a:lnTo>
                  <a:pt x="48198" y="3795"/>
                </a:lnTo>
                <a:lnTo>
                  <a:pt x="51201" y="2846"/>
                </a:lnTo>
                <a:lnTo>
                  <a:pt x="54801" y="1898"/>
                </a:lnTo>
                <a:lnTo>
                  <a:pt x="59542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257770" y="157460"/>
            <a:ext cx="433611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b="1" kern="0" spc="-2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Product is Live. The Numbers Are Real.</a:t>
            </a:r>
            <a:endParaRPr lang="en-US" sz="1580" dirty="0"/>
          </a:p>
        </p:txBody>
      </p:sp>
      <p:sp>
        <p:nvSpPr>
          <p:cNvPr id="18" name="Text 13"/>
          <p:cNvSpPr/>
          <p:nvPr/>
        </p:nvSpPr>
        <p:spPr>
          <a:xfrm>
            <a:off x="257770" y="407194"/>
            <a:ext cx="44576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i="1" kern="0" spc="7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Job #55 · Audit #29 · orbweaver.spruked.com · August 20, 2026 · ORB Weaver scanning itself.</a:t>
            </a:r>
            <a:endParaRPr lang="en-US" sz="680" dirty="0"/>
          </a:p>
        </p:txBody>
      </p:sp>
      <p:sp>
        <p:nvSpPr>
          <p:cNvPr id="19" name="Text 14"/>
          <p:cNvSpPr/>
          <p:nvPr/>
        </p:nvSpPr>
        <p:spPr>
          <a:xfrm>
            <a:off x="7290346" y="186630"/>
            <a:ext cx="655037" cy="168920"/>
          </a:xfrm>
          <a:prstGeom prst="roundRect">
            <a:avLst>
              <a:gd name="adj" fmla="val 8495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5000"/>
              </a:srgbClr>
            </a:solidFill>
          </a:ln>
        </p:spPr>
        <p:txBody>
          <a:bodyPr wrap="none" lIns="71120" tIns="21590" rIns="71120" bIns="2159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34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7989689" y="186630"/>
            <a:ext cx="914471" cy="168920"/>
          </a:xfrm>
          <a:prstGeom prst="roundRect">
            <a:avLst>
              <a:gd name="adj" fmla="val 84958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PRIME SERIES</a:t>
            </a:r>
            <a:endParaRPr lang="en-US" sz="560" dirty="0"/>
          </a:p>
        </p:txBody>
      </p:sp>
      <p:sp>
        <p:nvSpPr>
          <p:cNvPr id="21" name="Text 16"/>
          <p:cNvSpPr/>
          <p:nvPr/>
        </p:nvSpPr>
        <p:spPr>
          <a:xfrm>
            <a:off x="257770" y="622995"/>
            <a:ext cx="862845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257770" y="701576"/>
            <a:ext cx="2818507" cy="1264146"/>
          </a:xfrm>
          <a:prstGeom prst="roundRect">
            <a:avLst>
              <a:gd name="adj" fmla="val 7937"/>
            </a:avLst>
          </a:prstGeom>
          <a:gradFill rotWithShape="1">
            <a:gsLst>
              <a:gs pos="0">
                <a:srgbClr val="16163A"/>
              </a:gs>
              <a:gs pos="100000">
                <a:srgbClr val="0F0F28"/>
              </a:gs>
            </a:gsLst>
            <a:lin ang="4200000" scaled="1"/>
          </a:gra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10766" y="839242"/>
            <a:ext cx="2763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A78BFA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POINTER TARGETS</a:t>
            </a:r>
            <a:endParaRPr lang="en-US" sz="560" dirty="0"/>
          </a:p>
        </p:txBody>
      </p:sp>
      <p:sp>
        <p:nvSpPr>
          <p:cNvPr id="24" name="Text 19"/>
          <p:cNvSpPr/>
          <p:nvPr/>
        </p:nvSpPr>
        <p:spPr>
          <a:xfrm>
            <a:off x="410766" y="975122"/>
            <a:ext cx="263814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kern="0" spc="-110" dirty="0">
                <a:solidFill>
                  <a:srgbClr val="A78BFA"/>
                </a:solidFill>
                <a:effectLst>
                  <a:glow rad="2143125">
                    <a:srgbClr val="8B5CF6">
                      <a:alpha val="9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1,885</a:t>
            </a:r>
            <a:endParaRPr lang="en-US" sz="4500" dirty="0"/>
          </a:p>
        </p:txBody>
      </p:sp>
      <p:sp>
        <p:nvSpPr>
          <p:cNvPr id="25" name="Text 20"/>
          <p:cNvSpPr/>
          <p:nvPr/>
        </p:nvSpPr>
        <p:spPr>
          <a:xfrm>
            <a:off x="410766" y="1589782"/>
            <a:ext cx="276376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15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Pointer Targets Extracted</a:t>
            </a:r>
            <a:endParaRPr lang="en-US" sz="730" dirty="0"/>
          </a:p>
        </p:txBody>
      </p:sp>
      <p:sp>
        <p:nvSpPr>
          <p:cNvPr id="26" name="Text 21"/>
          <p:cNvSpPr/>
          <p:nvPr/>
        </p:nvSpPr>
        <p:spPr>
          <a:xfrm>
            <a:off x="410766" y="1731764"/>
            <a:ext cx="276376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routes mapped  ·  0 duplicate IDs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2556867" y="1446312"/>
            <a:ext cx="519410" cy="519410"/>
          </a:xfrm>
          <a:custGeom>
            <a:avLst/>
            <a:gdLst/>
            <a:ahLst/>
            <a:cxnLst/>
            <a:rect l="l" t="t" r="r" b="b"/>
            <a:pathLst>
              <a:path w="519410" h="519410">
                <a:moveTo>
                  <a:pt x="41239" y="519410"/>
                </a:moveTo>
                <a:lnTo>
                  <a:pt x="27212" y="494289"/>
                </a:lnTo>
                <a:lnTo>
                  <a:pt x="15393" y="461258"/>
                </a:lnTo>
                <a:lnTo>
                  <a:pt x="6869" y="427227"/>
                </a:lnTo>
                <a:lnTo>
                  <a:pt x="1721" y="392525"/>
                </a:lnTo>
                <a:lnTo>
                  <a:pt x="0" y="357485"/>
                </a:lnTo>
                <a:lnTo>
                  <a:pt x="1721" y="322445"/>
                </a:lnTo>
                <a:lnTo>
                  <a:pt x="6869" y="287743"/>
                </a:lnTo>
                <a:lnTo>
                  <a:pt x="15393" y="253713"/>
                </a:lnTo>
                <a:lnTo>
                  <a:pt x="27212" y="220682"/>
                </a:lnTo>
                <a:lnTo>
                  <a:pt x="42211" y="188968"/>
                </a:lnTo>
                <a:lnTo>
                  <a:pt x="60247" y="158877"/>
                </a:lnTo>
                <a:lnTo>
                  <a:pt x="81145" y="130699"/>
                </a:lnTo>
                <a:lnTo>
                  <a:pt x="104705" y="104705"/>
                </a:lnTo>
                <a:lnTo>
                  <a:pt x="130699" y="81145"/>
                </a:lnTo>
                <a:lnTo>
                  <a:pt x="158877" y="60247"/>
                </a:lnTo>
                <a:lnTo>
                  <a:pt x="188968" y="42211"/>
                </a:lnTo>
                <a:lnTo>
                  <a:pt x="220682" y="27212"/>
                </a:lnTo>
                <a:lnTo>
                  <a:pt x="253713" y="15393"/>
                </a:lnTo>
                <a:lnTo>
                  <a:pt x="287743" y="6869"/>
                </a:lnTo>
                <a:lnTo>
                  <a:pt x="322445" y="1721"/>
                </a:lnTo>
                <a:lnTo>
                  <a:pt x="357485" y="0"/>
                </a:lnTo>
                <a:lnTo>
                  <a:pt x="392525" y="1721"/>
                </a:lnTo>
                <a:lnTo>
                  <a:pt x="427227" y="6869"/>
                </a:lnTo>
                <a:lnTo>
                  <a:pt x="461258" y="15393"/>
                </a:lnTo>
                <a:lnTo>
                  <a:pt x="494289" y="27212"/>
                </a:lnTo>
                <a:lnTo>
                  <a:pt x="519410" y="41239"/>
                </a:lnTo>
                <a:lnTo>
                  <a:pt x="519410" y="419080"/>
                </a:lnTo>
                <a:lnTo>
                  <a:pt x="517482" y="438654"/>
                </a:lnTo>
                <a:lnTo>
                  <a:pt x="511773" y="457475"/>
                </a:lnTo>
                <a:lnTo>
                  <a:pt x="502502" y="474821"/>
                </a:lnTo>
                <a:lnTo>
                  <a:pt x="490024" y="490024"/>
                </a:lnTo>
                <a:lnTo>
                  <a:pt x="474821" y="502502"/>
                </a:lnTo>
                <a:lnTo>
                  <a:pt x="457475" y="511773"/>
                </a:lnTo>
                <a:lnTo>
                  <a:pt x="438654" y="517482"/>
                </a:lnTo>
                <a:lnTo>
                  <a:pt x="419080" y="519410"/>
                </a:lnTo>
                <a:close/>
              </a:path>
            </a:pathLst>
          </a:custGeom>
          <a:solidFill>
            <a:srgbClr val="8B5CF6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162598" y="701576"/>
            <a:ext cx="2818656" cy="1264146"/>
          </a:xfrm>
          <a:prstGeom prst="roundRect">
            <a:avLst>
              <a:gd name="adj" fmla="val 7937"/>
            </a:avLst>
          </a:prstGeom>
          <a:gradFill rotWithShape="1">
            <a:gsLst>
              <a:gs pos="0">
                <a:srgbClr val="16163A"/>
              </a:gs>
              <a:gs pos="100000">
                <a:srgbClr val="0F0F28"/>
              </a:gs>
            </a:gsLst>
            <a:lin ang="4200000" scaled="1"/>
          </a:gra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315593" y="839242"/>
            <a:ext cx="27639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FCD34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TERM RESOLUTION</a:t>
            </a:r>
            <a:endParaRPr lang="en-US" sz="560" dirty="0"/>
          </a:p>
        </p:txBody>
      </p:sp>
      <p:sp>
        <p:nvSpPr>
          <p:cNvPr id="30" name="Text 25"/>
          <p:cNvSpPr/>
          <p:nvPr/>
        </p:nvSpPr>
        <p:spPr>
          <a:xfrm>
            <a:off x="3315593" y="975122"/>
            <a:ext cx="263829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kern="0" spc="-110" dirty="0">
                <a:solidFill>
                  <a:srgbClr val="FCD34D"/>
                </a:solidFill>
                <a:effectLst>
                  <a:glow rad="2143125">
                    <a:srgbClr val="F59E0B">
                      <a:alpha val="9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7,487</a:t>
            </a:r>
            <a:endParaRPr lang="en-US" sz="4500" dirty="0"/>
          </a:p>
        </p:txBody>
      </p:sp>
      <p:sp>
        <p:nvSpPr>
          <p:cNvPr id="31" name="Text 26"/>
          <p:cNvSpPr/>
          <p:nvPr/>
        </p:nvSpPr>
        <p:spPr>
          <a:xfrm>
            <a:off x="3315593" y="1589782"/>
            <a:ext cx="276393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15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Terms Resolved</a:t>
            </a:r>
            <a:endParaRPr lang="en-US" sz="730" dirty="0"/>
          </a:p>
        </p:txBody>
      </p:sp>
      <p:sp>
        <p:nvSpPr>
          <p:cNvPr id="32" name="Text 27"/>
          <p:cNvSpPr/>
          <p:nvPr/>
        </p:nvSpPr>
        <p:spPr>
          <a:xfrm>
            <a:off x="3315593" y="1731764"/>
            <a:ext cx="276393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canonical terms indexed  ·  full lexical map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5461847" y="1446312"/>
            <a:ext cx="519407" cy="519410"/>
          </a:xfrm>
          <a:custGeom>
            <a:avLst/>
            <a:gdLst/>
            <a:ahLst/>
            <a:cxnLst/>
            <a:rect l="l" t="t" r="r" b="b"/>
            <a:pathLst>
              <a:path w="519407" h="519410">
                <a:moveTo>
                  <a:pt x="41239" y="519410"/>
                </a:moveTo>
                <a:lnTo>
                  <a:pt x="27212" y="494289"/>
                </a:lnTo>
                <a:lnTo>
                  <a:pt x="15393" y="461258"/>
                </a:lnTo>
                <a:lnTo>
                  <a:pt x="6869" y="427227"/>
                </a:lnTo>
                <a:lnTo>
                  <a:pt x="1721" y="392525"/>
                </a:lnTo>
                <a:lnTo>
                  <a:pt x="0" y="357485"/>
                </a:lnTo>
                <a:lnTo>
                  <a:pt x="1721" y="322445"/>
                </a:lnTo>
                <a:lnTo>
                  <a:pt x="6869" y="287743"/>
                </a:lnTo>
                <a:lnTo>
                  <a:pt x="15393" y="253713"/>
                </a:lnTo>
                <a:lnTo>
                  <a:pt x="27212" y="220682"/>
                </a:lnTo>
                <a:lnTo>
                  <a:pt x="42211" y="188968"/>
                </a:lnTo>
                <a:lnTo>
                  <a:pt x="60247" y="158877"/>
                </a:lnTo>
                <a:lnTo>
                  <a:pt x="81145" y="130699"/>
                </a:lnTo>
                <a:lnTo>
                  <a:pt x="104705" y="104705"/>
                </a:lnTo>
                <a:lnTo>
                  <a:pt x="130699" y="81145"/>
                </a:lnTo>
                <a:lnTo>
                  <a:pt x="158877" y="60247"/>
                </a:lnTo>
                <a:lnTo>
                  <a:pt x="188968" y="42211"/>
                </a:lnTo>
                <a:lnTo>
                  <a:pt x="220682" y="27212"/>
                </a:lnTo>
                <a:lnTo>
                  <a:pt x="253713" y="15393"/>
                </a:lnTo>
                <a:lnTo>
                  <a:pt x="287743" y="6869"/>
                </a:lnTo>
                <a:lnTo>
                  <a:pt x="322445" y="1721"/>
                </a:lnTo>
                <a:lnTo>
                  <a:pt x="357485" y="0"/>
                </a:lnTo>
                <a:lnTo>
                  <a:pt x="392525" y="1721"/>
                </a:lnTo>
                <a:lnTo>
                  <a:pt x="427227" y="6869"/>
                </a:lnTo>
                <a:lnTo>
                  <a:pt x="461258" y="15393"/>
                </a:lnTo>
                <a:lnTo>
                  <a:pt x="494289" y="27212"/>
                </a:lnTo>
                <a:lnTo>
                  <a:pt x="519407" y="41239"/>
                </a:lnTo>
                <a:lnTo>
                  <a:pt x="519407" y="419080"/>
                </a:lnTo>
                <a:lnTo>
                  <a:pt x="517479" y="438654"/>
                </a:lnTo>
                <a:lnTo>
                  <a:pt x="511769" y="457475"/>
                </a:lnTo>
                <a:lnTo>
                  <a:pt x="502498" y="474821"/>
                </a:lnTo>
                <a:lnTo>
                  <a:pt x="490021" y="490024"/>
                </a:lnTo>
                <a:lnTo>
                  <a:pt x="474817" y="502502"/>
                </a:lnTo>
                <a:lnTo>
                  <a:pt x="457471" y="511773"/>
                </a:lnTo>
                <a:lnTo>
                  <a:pt x="438650" y="517482"/>
                </a:lnTo>
                <a:lnTo>
                  <a:pt x="419077" y="519410"/>
                </a:lnTo>
                <a:close/>
              </a:path>
            </a:pathLst>
          </a:custGeom>
          <a:solidFill>
            <a:srgbClr val="F59E0B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067574" y="701576"/>
            <a:ext cx="2818656" cy="1264146"/>
          </a:xfrm>
          <a:prstGeom prst="roundRect">
            <a:avLst>
              <a:gd name="adj" fmla="val 7937"/>
            </a:avLst>
          </a:prstGeom>
          <a:gradFill rotWithShape="1">
            <a:gsLst>
              <a:gs pos="0">
                <a:srgbClr val="16163A"/>
              </a:gs>
              <a:gs pos="100000">
                <a:srgbClr val="0F0F28"/>
              </a:gs>
            </a:gsLst>
            <a:lin ang="4200000" scaled="1"/>
          </a:gra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220569" y="839242"/>
            <a:ext cx="27639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67E8F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RELATIONSHIP GRAPH</a:t>
            </a:r>
            <a:endParaRPr lang="en-US" sz="560" dirty="0"/>
          </a:p>
        </p:txBody>
      </p:sp>
      <p:sp>
        <p:nvSpPr>
          <p:cNvPr id="36" name="Text 31"/>
          <p:cNvSpPr/>
          <p:nvPr/>
        </p:nvSpPr>
        <p:spPr>
          <a:xfrm>
            <a:off x="6220569" y="975122"/>
            <a:ext cx="263829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kern="0" spc="-110" dirty="0">
                <a:solidFill>
                  <a:srgbClr val="67E8F9"/>
                </a:solidFill>
                <a:effectLst>
                  <a:glow rad="2143125">
                    <a:srgbClr val="06B6D4">
                      <a:alpha val="9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1,708</a:t>
            </a:r>
            <a:endParaRPr lang="en-US" sz="4500" dirty="0"/>
          </a:p>
        </p:txBody>
      </p:sp>
      <p:sp>
        <p:nvSpPr>
          <p:cNvPr id="37" name="Text 32"/>
          <p:cNvSpPr/>
          <p:nvPr/>
        </p:nvSpPr>
        <p:spPr>
          <a:xfrm>
            <a:off x="6220569" y="1589782"/>
            <a:ext cx="276393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15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Relationships Mapped</a:t>
            </a:r>
            <a:endParaRPr lang="en-US" sz="730" dirty="0"/>
          </a:p>
        </p:txBody>
      </p:sp>
      <p:sp>
        <p:nvSpPr>
          <p:cNvPr id="38" name="Text 33"/>
          <p:cNvSpPr/>
          <p:nvPr/>
        </p:nvSpPr>
        <p:spPr>
          <a:xfrm>
            <a:off x="6220569" y="1731764"/>
            <a:ext cx="276393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 unique entities extracted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8366823" y="1446312"/>
            <a:ext cx="519407" cy="519410"/>
          </a:xfrm>
          <a:custGeom>
            <a:avLst/>
            <a:gdLst/>
            <a:ahLst/>
            <a:cxnLst/>
            <a:rect l="l" t="t" r="r" b="b"/>
            <a:pathLst>
              <a:path w="519407" h="519410">
                <a:moveTo>
                  <a:pt x="41239" y="519410"/>
                </a:moveTo>
                <a:lnTo>
                  <a:pt x="27212" y="494289"/>
                </a:lnTo>
                <a:lnTo>
                  <a:pt x="15393" y="461258"/>
                </a:lnTo>
                <a:lnTo>
                  <a:pt x="6869" y="427227"/>
                </a:lnTo>
                <a:lnTo>
                  <a:pt x="1721" y="392525"/>
                </a:lnTo>
                <a:lnTo>
                  <a:pt x="0" y="357485"/>
                </a:lnTo>
                <a:lnTo>
                  <a:pt x="1721" y="322445"/>
                </a:lnTo>
                <a:lnTo>
                  <a:pt x="6869" y="287743"/>
                </a:lnTo>
                <a:lnTo>
                  <a:pt x="15393" y="253713"/>
                </a:lnTo>
                <a:lnTo>
                  <a:pt x="27212" y="220682"/>
                </a:lnTo>
                <a:lnTo>
                  <a:pt x="42211" y="188968"/>
                </a:lnTo>
                <a:lnTo>
                  <a:pt x="60247" y="158877"/>
                </a:lnTo>
                <a:lnTo>
                  <a:pt x="81145" y="130699"/>
                </a:lnTo>
                <a:lnTo>
                  <a:pt x="104705" y="104705"/>
                </a:lnTo>
                <a:lnTo>
                  <a:pt x="130699" y="81145"/>
                </a:lnTo>
                <a:lnTo>
                  <a:pt x="158877" y="60247"/>
                </a:lnTo>
                <a:lnTo>
                  <a:pt x="188968" y="42211"/>
                </a:lnTo>
                <a:lnTo>
                  <a:pt x="220682" y="27212"/>
                </a:lnTo>
                <a:lnTo>
                  <a:pt x="253713" y="15393"/>
                </a:lnTo>
                <a:lnTo>
                  <a:pt x="287743" y="6869"/>
                </a:lnTo>
                <a:lnTo>
                  <a:pt x="322445" y="1721"/>
                </a:lnTo>
                <a:lnTo>
                  <a:pt x="357485" y="0"/>
                </a:lnTo>
                <a:lnTo>
                  <a:pt x="392525" y="1721"/>
                </a:lnTo>
                <a:lnTo>
                  <a:pt x="427227" y="6869"/>
                </a:lnTo>
                <a:lnTo>
                  <a:pt x="461258" y="15393"/>
                </a:lnTo>
                <a:lnTo>
                  <a:pt x="494289" y="27212"/>
                </a:lnTo>
                <a:lnTo>
                  <a:pt x="519407" y="41239"/>
                </a:lnTo>
                <a:lnTo>
                  <a:pt x="519407" y="419080"/>
                </a:lnTo>
                <a:lnTo>
                  <a:pt x="517479" y="438654"/>
                </a:lnTo>
                <a:lnTo>
                  <a:pt x="511769" y="457475"/>
                </a:lnTo>
                <a:lnTo>
                  <a:pt x="502498" y="474821"/>
                </a:lnTo>
                <a:lnTo>
                  <a:pt x="490021" y="490024"/>
                </a:lnTo>
                <a:lnTo>
                  <a:pt x="474817" y="502502"/>
                </a:lnTo>
                <a:lnTo>
                  <a:pt x="457471" y="511773"/>
                </a:lnTo>
                <a:lnTo>
                  <a:pt x="438650" y="517482"/>
                </a:lnTo>
                <a:lnTo>
                  <a:pt x="419077" y="519410"/>
                </a:lnTo>
                <a:close/>
              </a:path>
            </a:pathLst>
          </a:custGeom>
          <a:solidFill>
            <a:srgbClr val="06B6D4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257770" y="2036713"/>
            <a:ext cx="1390352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367605" y="2323654"/>
            <a:ext cx="55035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182</a:t>
            </a:r>
            <a:endParaRPr lang="en-US" sz="1580" dirty="0"/>
          </a:p>
        </p:txBody>
      </p:sp>
      <p:sp>
        <p:nvSpPr>
          <p:cNvPr id="42" name="Text 37"/>
          <p:cNvSpPr/>
          <p:nvPr/>
        </p:nvSpPr>
        <p:spPr>
          <a:xfrm>
            <a:off x="968276" y="2124968"/>
            <a:ext cx="581412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Sections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968276" y="2353419"/>
            <a:ext cx="581412" cy="38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· Semantic indexing complete</a:t>
            </a:r>
            <a:endParaRPr lang="en-US" sz="560" dirty="0"/>
          </a:p>
        </p:txBody>
      </p:sp>
      <p:sp>
        <p:nvSpPr>
          <p:cNvPr id="44" name="Text 39"/>
          <p:cNvSpPr/>
          <p:nvPr/>
        </p:nvSpPr>
        <p:spPr>
          <a:xfrm>
            <a:off x="1705273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1815108" y="2323654"/>
            <a:ext cx="55035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67E8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62</a:t>
            </a:r>
            <a:endParaRPr lang="en-US" sz="1580" dirty="0"/>
          </a:p>
        </p:txBody>
      </p:sp>
      <p:sp>
        <p:nvSpPr>
          <p:cNvPr id="46" name="Text 41"/>
          <p:cNvSpPr/>
          <p:nvPr/>
        </p:nvSpPr>
        <p:spPr>
          <a:xfrm>
            <a:off x="2415778" y="2217390"/>
            <a:ext cx="581564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Crawled</a:t>
            </a:r>
            <a:endParaRPr lang="en-US" sz="650" dirty="0"/>
          </a:p>
        </p:txBody>
      </p:sp>
      <p:sp>
        <p:nvSpPr>
          <p:cNvPr id="47" name="Text 42"/>
          <p:cNvSpPr/>
          <p:nvPr/>
        </p:nvSpPr>
        <p:spPr>
          <a:xfrm>
            <a:off x="2415778" y="2445841"/>
            <a:ext cx="58156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51m 34s · 62 of 62 fetched</a:t>
            </a:r>
            <a:endParaRPr lang="en-US" sz="560" dirty="0"/>
          </a:p>
        </p:txBody>
      </p:sp>
      <p:sp>
        <p:nvSpPr>
          <p:cNvPr id="48" name="Text 43"/>
          <p:cNvSpPr/>
          <p:nvPr/>
        </p:nvSpPr>
        <p:spPr>
          <a:xfrm>
            <a:off x="3152924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3262759" y="2323654"/>
            <a:ext cx="55035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CD3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753</a:t>
            </a:r>
            <a:endParaRPr lang="en-US" sz="1580" dirty="0"/>
          </a:p>
        </p:txBody>
      </p:sp>
      <p:sp>
        <p:nvSpPr>
          <p:cNvPr id="50" name="Text 45"/>
          <p:cNvSpPr/>
          <p:nvPr/>
        </p:nvSpPr>
        <p:spPr>
          <a:xfrm>
            <a:off x="3863429" y="2270968"/>
            <a:ext cx="62717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</a:t>
            </a:r>
            <a:endParaRPr lang="en-US" sz="650" dirty="0"/>
          </a:p>
        </p:txBody>
      </p:sp>
      <p:sp>
        <p:nvSpPr>
          <p:cNvPr id="51" name="Text 46"/>
          <p:cNvSpPr/>
          <p:nvPr/>
        </p:nvSpPr>
        <p:spPr>
          <a:xfrm>
            <a:off x="3863429" y="2392114"/>
            <a:ext cx="58156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Inventoried · 66 external links</a:t>
            </a:r>
            <a:endParaRPr lang="en-US" sz="560" dirty="0"/>
          </a:p>
        </p:txBody>
      </p:sp>
      <p:sp>
        <p:nvSpPr>
          <p:cNvPr id="52" name="Text 47"/>
          <p:cNvSpPr/>
          <p:nvPr/>
        </p:nvSpPr>
        <p:spPr>
          <a:xfrm>
            <a:off x="4600575" y="2036713"/>
            <a:ext cx="1390352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4710410" y="2345234"/>
            <a:ext cx="5657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24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</a:t>
            </a:r>
            <a:r>
              <a:rPr lang="en-US" sz="730" b="1" dirty="0">
                <a:solidFill>
                  <a:srgbClr val="90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/100</a:t>
            </a:r>
            <a:endParaRPr lang="en-US" sz="1240" dirty="0"/>
          </a:p>
        </p:txBody>
      </p:sp>
      <p:sp>
        <p:nvSpPr>
          <p:cNvPr id="54" name="Text 49"/>
          <p:cNvSpPr/>
          <p:nvPr/>
        </p:nvSpPr>
        <p:spPr>
          <a:xfrm>
            <a:off x="5311080" y="2217390"/>
            <a:ext cx="581412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</a:t>
            </a:r>
            <a:endParaRPr lang="en-US" sz="650" dirty="0"/>
          </a:p>
        </p:txBody>
      </p:sp>
      <p:sp>
        <p:nvSpPr>
          <p:cNvPr id="55" name="Text 50"/>
          <p:cNvSpPr/>
          <p:nvPr/>
        </p:nvSpPr>
        <p:spPr>
          <a:xfrm>
            <a:off x="5311080" y="2445841"/>
            <a:ext cx="581412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#29 · Perfect score</a:t>
            </a:r>
            <a:endParaRPr lang="en-US" sz="560" dirty="0"/>
          </a:p>
        </p:txBody>
      </p:sp>
      <p:sp>
        <p:nvSpPr>
          <p:cNvPr id="56" name="Text 51"/>
          <p:cNvSpPr/>
          <p:nvPr/>
        </p:nvSpPr>
        <p:spPr>
          <a:xfrm>
            <a:off x="6048077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6157913" y="2345234"/>
            <a:ext cx="5657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240" dirty="0">
                <a:solidFill>
                  <a:srgbClr val="A7F3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</a:t>
            </a:r>
            <a:r>
              <a:rPr lang="en-US" sz="730" b="1" dirty="0">
                <a:solidFill>
                  <a:srgbClr val="90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/100</a:t>
            </a:r>
            <a:endParaRPr lang="en-US" sz="1240" dirty="0"/>
          </a:p>
        </p:txBody>
      </p:sp>
      <p:sp>
        <p:nvSpPr>
          <p:cNvPr id="58" name="Text 53"/>
          <p:cNvSpPr/>
          <p:nvPr/>
        </p:nvSpPr>
        <p:spPr>
          <a:xfrm>
            <a:off x="6758583" y="2217390"/>
            <a:ext cx="581564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</a:t>
            </a:r>
            <a:endParaRPr lang="en-US" sz="650" dirty="0"/>
          </a:p>
        </p:txBody>
      </p:sp>
      <p:sp>
        <p:nvSpPr>
          <p:cNvPr id="59" name="Text 54"/>
          <p:cNvSpPr/>
          <p:nvPr/>
        </p:nvSpPr>
        <p:spPr>
          <a:xfrm>
            <a:off x="6758583" y="2445841"/>
            <a:ext cx="58156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#29 · Top-tier infrastructure</a:t>
            </a:r>
            <a:endParaRPr lang="en-US" sz="560" dirty="0"/>
          </a:p>
        </p:txBody>
      </p:sp>
      <p:sp>
        <p:nvSpPr>
          <p:cNvPr id="60" name="Text 55"/>
          <p:cNvSpPr/>
          <p:nvPr/>
        </p:nvSpPr>
        <p:spPr>
          <a:xfrm>
            <a:off x="7495729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7605564" y="2345234"/>
            <a:ext cx="5657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240" dirty="0">
                <a:solidFill>
                  <a:srgbClr val="7DD3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</a:t>
            </a:r>
            <a:r>
              <a:rPr lang="en-US" sz="730" b="1" dirty="0">
                <a:solidFill>
                  <a:srgbClr val="90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/100</a:t>
            </a:r>
            <a:endParaRPr lang="en-US" sz="1240" dirty="0"/>
          </a:p>
        </p:txBody>
      </p:sp>
      <p:sp>
        <p:nvSpPr>
          <p:cNvPr id="62" name="Text 57"/>
          <p:cNvSpPr/>
          <p:nvPr/>
        </p:nvSpPr>
        <p:spPr>
          <a:xfrm>
            <a:off x="8206234" y="2224832"/>
            <a:ext cx="62717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Score</a:t>
            </a:r>
            <a:endParaRPr lang="en-US" sz="650" dirty="0"/>
          </a:p>
        </p:txBody>
      </p:sp>
      <p:sp>
        <p:nvSpPr>
          <p:cNvPr id="63" name="Text 58"/>
          <p:cNvSpPr/>
          <p:nvPr/>
        </p:nvSpPr>
        <p:spPr>
          <a:xfrm>
            <a:off x="8206234" y="2345978"/>
            <a:ext cx="581564" cy="29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#29 · Full responsive coverage</a:t>
            </a:r>
            <a:endParaRPr lang="en-US" sz="560" dirty="0"/>
          </a:p>
        </p:txBody>
      </p:sp>
      <p:sp>
        <p:nvSpPr>
          <p:cNvPr id="64" name="Text 59"/>
          <p:cNvSpPr/>
          <p:nvPr/>
        </p:nvSpPr>
        <p:spPr>
          <a:xfrm>
            <a:off x="257770" y="2874615"/>
            <a:ext cx="8628459" cy="418802"/>
          </a:xfrm>
          <a:prstGeom prst="roundRect">
            <a:avLst>
              <a:gd name="adj" fmla="val 16982"/>
            </a:avLst>
          </a:prstGeom>
          <a:gradFill rotWithShape="1">
            <a:gsLst>
              <a:gs pos="0">
                <a:srgbClr val="8B5CF6">
                  <a:alpha val="8000"/>
                </a:srgbClr>
              </a:gs>
              <a:gs pos="100000">
                <a:srgbClr val="0D0D22">
                  <a:alpha val="95000"/>
                </a:srgbClr>
              </a:gs>
            </a:gsLst>
            <a:lin ang="2700000" scaled="1"/>
          </a:gradFill>
          <a:ln w="9525">
            <a:solidFill>
              <a:srgbClr val="8B5CF6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381595" y="3019127"/>
            <a:ext cx="114892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7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Pointer Map Status:</a:t>
            </a:r>
            <a:endParaRPr lang="en-US" sz="680" dirty="0"/>
          </a:p>
        </p:txBody>
      </p:sp>
      <p:sp>
        <p:nvSpPr>
          <p:cNvPr id="66" name="Text 61"/>
          <p:cNvSpPr/>
          <p:nvPr/>
        </p:nvSpPr>
        <p:spPr>
          <a:xfrm>
            <a:off x="1497062" y="2991892"/>
            <a:ext cx="1179978" cy="184100"/>
          </a:xfrm>
          <a:prstGeom prst="roundRect">
            <a:avLst>
              <a:gd name="adj" fmla="val 23455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64770" tIns="29210" rIns="64770" bIns="2921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22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COMPLETE</a:t>
            </a:r>
            <a:endParaRPr lang="en-US" sz="560" dirty="0"/>
          </a:p>
        </p:txBody>
      </p:sp>
      <p:sp>
        <p:nvSpPr>
          <p:cNvPr id="67" name="Text 62"/>
          <p:cNvSpPr/>
          <p:nvPr/>
        </p:nvSpPr>
        <p:spPr>
          <a:xfrm>
            <a:off x="2724894" y="2991892"/>
            <a:ext cx="2025378" cy="184100"/>
          </a:xfrm>
          <a:prstGeom prst="roundRect">
            <a:avLst>
              <a:gd name="adj" fmla="val 23455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64770" tIns="29210" rIns="64770" bIns="2921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22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VERIFICATION: 143 STABLE TARGETS</a:t>
            </a:r>
            <a:endParaRPr lang="en-US" sz="560" dirty="0"/>
          </a:p>
        </p:txBody>
      </p:sp>
      <p:sp>
        <p:nvSpPr>
          <p:cNvPr id="68" name="Text 63"/>
          <p:cNvSpPr/>
          <p:nvPr/>
        </p:nvSpPr>
        <p:spPr>
          <a:xfrm>
            <a:off x="4781550" y="2991892"/>
            <a:ext cx="3086037" cy="184100"/>
          </a:xfrm>
          <a:prstGeom prst="roundRect">
            <a:avLst>
              <a:gd name="adj" fmla="val 23455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64770" tIns="29210" rIns="64770" bIns="2921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22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REQUIRED: 462 ROUTE+LOCATOR CONFLICTS — AS DESIGNED</a:t>
            </a:r>
            <a:endParaRPr lang="en-US" sz="560" dirty="0"/>
          </a:p>
        </p:txBody>
      </p:sp>
      <p:sp>
        <p:nvSpPr>
          <p:cNvPr id="69" name="Text 64"/>
          <p:cNvSpPr/>
          <p:nvPr/>
        </p:nvSpPr>
        <p:spPr>
          <a:xfrm>
            <a:off x="7950547" y="2955131"/>
            <a:ext cx="7590" cy="25777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8101608" y="2969865"/>
            <a:ext cx="2623185" cy="239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620" i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is a feature, not a bug. ORB Weaver surfaces pointer recovery needs before runtime — preventing silent AI failures.</a:t>
            </a:r>
            <a:endParaRPr lang="en-US" sz="620" dirty="0"/>
          </a:p>
        </p:txBody>
      </p:sp>
      <p:sp>
        <p:nvSpPr>
          <p:cNvPr id="71" name="Text 66"/>
          <p:cNvSpPr/>
          <p:nvPr/>
        </p:nvSpPr>
        <p:spPr>
          <a:xfrm>
            <a:off x="-173653" y="3364409"/>
            <a:ext cx="949130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95"/>
              </a:lnSpc>
              <a:buNone/>
            </a:pPr>
            <a:r>
              <a:rPr lang="en-US" sz="530" kern="0" spc="11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Live production data from Crawl Job #55 and Audit #29  ·  orbweaver.spruked.com  ·  August 20, 2026  ·  Pro Prime Series instance  ·  All figures verified at scan time.</a:t>
            </a:r>
            <a:endParaRPr lang="en-US" sz="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030" y="0"/>
            <a:ext cx="1857970" cy="1857970"/>
          </a:xfrm>
          <a:prstGeom prst="ellipse">
            <a:avLst/>
          </a:prstGeom>
          <a:gradFill rotWithShape="1">
            <a:gsLst>
              <a:gs pos="0">
                <a:srgbClr val="8B5CF6">
                  <a:alpha val="15000"/>
                </a:srgbClr>
              </a:gs>
              <a:gs pos="60000">
                <a:srgbClr val="A78BFA">
                  <a:alpha val="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4316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60000">
                <a:srgbClr val="A78BFA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1117550"/>
            <a:ext cx="27339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4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OUTPUT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372070" y="1306562"/>
            <a:ext cx="2535138" cy="1053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spcAft>
                <a:spcPts val="680"/>
              </a:spcAft>
              <a:buNone/>
            </a:pPr>
            <a:r>
              <a:rPr lang="en-US" sz="1580" dirty="0">
                <a:solidFill>
                  <a:srgbClr val="1A12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Site World:</a:t>
            </a:r>
            <a:br/>
            <a:r>
              <a:rPr lang="en-US" sz="158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Machine-</a:t>
            </a:r>
            <a:br/>
            <a:r>
              <a:rPr lang="en-US" sz="158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Readable Brain</a:t>
            </a:r>
            <a:br/>
            <a:r>
              <a:rPr lang="en-US" sz="1580" dirty="0">
                <a:solidFill>
                  <a:srgbClr val="1A12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Any Website.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372070" y="2395984"/>
            <a:ext cx="2535138" cy="452400"/>
          </a:xfrm>
          <a:prstGeom prst="rect">
            <a:avLst/>
          </a:prstGeom>
          <a:noFill/>
          <a:ln/>
        </p:spPr>
        <p:txBody>
          <a:bodyPr wrap="square" lIns="0" tIns="0" rIns="114300" bIns="0" rtlCol="0" anchor="t"/>
          <a:lstStyle/>
          <a:p>
            <a:pPr marL="0" indent="0" algn="l">
              <a:lnSpc>
                <a:spcPts val="1132"/>
              </a:lnSpc>
              <a:spcAft>
                <a:spcPts val="1130"/>
              </a:spcAft>
              <a:buNone/>
            </a:pPr>
            <a:r>
              <a:rPr lang="en-US" sz="73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ORB Weaver scan compiles into a structured, versioned Site World package — ready for immediate AI deployment.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372070" y="2970312"/>
            <a:ext cx="2341959" cy="1055489"/>
          </a:xfrm>
          <a:prstGeom prst="roundRect">
            <a:avLst>
              <a:gd name="adj" fmla="val 6738"/>
            </a:avLst>
          </a:prstGeom>
          <a:gradFill rotWithShape="1">
            <a:gsLst>
              <a:gs pos="0">
                <a:srgbClr val="7C3AED"/>
              </a:gs>
              <a:gs pos="100000">
                <a:srgbClr val="5B21B6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370" y="3062883"/>
            <a:ext cx="232469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ARTIFACTS</a:t>
            </a:r>
            <a:endParaRPr lang="en-US" sz="530" dirty="0"/>
          </a:p>
        </p:txBody>
      </p:sp>
      <p:sp>
        <p:nvSpPr>
          <p:cNvPr id="11" name="Text 9"/>
          <p:cNvSpPr/>
          <p:nvPr/>
        </p:nvSpPr>
        <p:spPr>
          <a:xfrm>
            <a:off x="486370" y="3213199"/>
            <a:ext cx="899071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Site Package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1420862" y="3213199"/>
            <a:ext cx="587127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Map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486370" y="3402062"/>
            <a:ext cx="560933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Audit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1082725" y="3402062"/>
            <a:ext cx="517475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Audit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1635621" y="3402062"/>
            <a:ext cx="634603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Audit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486370" y="3590925"/>
            <a:ext cx="799058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Intelligence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1320850" y="3590925"/>
            <a:ext cx="875258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Deployment Data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486370" y="3779788"/>
            <a:ext cx="709613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Update Data</a:t>
            </a:r>
            <a:endParaRPr lang="en-US" sz="560" dirty="0"/>
          </a:p>
        </p:txBody>
      </p:sp>
      <p:sp>
        <p:nvSpPr>
          <p:cNvPr id="19" name="Text 17"/>
          <p:cNvSpPr/>
          <p:nvPr/>
        </p:nvSpPr>
        <p:spPr>
          <a:xfrm>
            <a:off x="2857500" y="143470"/>
            <a:ext cx="7590" cy="4856559"/>
          </a:xfrm>
          <a:prstGeom prst="rect">
            <a:avLst/>
          </a:prstGeom>
          <a:gradFill rotWithShape="1">
            <a:gsLst>
              <a:gs pos="4000">
                <a:srgbClr val="000000">
                  <a:alpha val="0"/>
                </a:srgbClr>
              </a:gs>
              <a:gs pos="20000">
                <a:srgbClr val="DDD6FE"/>
              </a:gs>
              <a:gs pos="80000">
                <a:srgbClr val="DDD6FE"/>
              </a:gs>
              <a:gs pos="96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04406" y="1374577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3918" y="1444088"/>
            <a:ext cx="132588" cy="1325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476476" y="1366986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Knowledge Graph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3476476" y="1496616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page-to-page, product-to-page, service-to-page, FAQ-to-page &amp; control-to-workflow relationship mapping. Site terminology, synonyms, aliases, and visitor-language alias mapping included.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104406" y="1899345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3918" y="1968856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476476" y="1891754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Capsule Set</a:t>
            </a:r>
            <a:endParaRPr lang="en-US" sz="760" dirty="0"/>
          </a:p>
        </p:txBody>
      </p:sp>
      <p:sp>
        <p:nvSpPr>
          <p:cNvPr id="27" name="Text 23"/>
          <p:cNvSpPr/>
          <p:nvPr/>
        </p:nvSpPr>
        <p:spPr>
          <a:xfrm>
            <a:off x="3476476" y="2021384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page, section, control, product, service &amp; workflow capsules — one structured data unit per site element, forming a complete machine-readable anatomy.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3104406" y="242411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3918" y="2493624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476476" y="2416522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and Capability Mapping</a:t>
            </a:r>
            <a:endParaRPr lang="en-US" sz="760" dirty="0"/>
          </a:p>
        </p:txBody>
      </p:sp>
      <p:sp>
        <p:nvSpPr>
          <p:cNvPr id="31" name="Text 26"/>
          <p:cNvSpPr/>
          <p:nvPr/>
        </p:nvSpPr>
        <p:spPr>
          <a:xfrm>
            <a:off x="3476476" y="2546152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Intent-to-page, intent-to-section, intent-to-control &amp; intent-to-workflow maps. Tool-to-capability, capability-to-route &amp; capability-to-control binding. Stage mapping &amp; Stage Governor input generation.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3104406" y="2948880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3918" y="3018392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476476" y="2941290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Configuration Artifacts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3476476" y="3070920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site-specific ORB knowledge, tool configuration, pointer configuration, navigation configuration, workflow configuration, articulation context &amp; ORB capability snapshot.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3104406" y="3473648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73918" y="3543160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476476" y="3466058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and Scan Management</a:t>
            </a:r>
            <a:endParaRPr lang="en-US" sz="760" dirty="0"/>
          </a:p>
        </p:txBody>
      </p:sp>
      <p:sp>
        <p:nvSpPr>
          <p:cNvPr id="39" name="Text 32"/>
          <p:cNvSpPr/>
          <p:nvPr/>
        </p:nvSpPr>
        <p:spPr>
          <a:xfrm>
            <a:off x="3476476" y="3595688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timestamping, version tracking, provenance tracking, confidence scoring, result validation, deduplication, normalization, indexing, persistence &amp; full audit logging.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14500" y="0"/>
            <a:ext cx="5715000" cy="1286470"/>
          </a:xfrm>
          <a:prstGeom prst="rect">
            <a:avLst/>
          </a:prstGeom>
          <a:gradFill rotWithShape="1">
            <a:gsLst>
              <a:gs pos="0">
                <a:srgbClr val="8B5CF6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36356" y="2468086"/>
            <a:ext cx="70991" cy="70991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50800" dir="16200000" algn="bl" rotWithShape="0">
              <a:srgbClr val="8B5CF6">
                <a:alpha val="9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52710"/>
            <a:ext cx="143470" cy="13841"/>
          </a:xfrm>
          <a:prstGeom prst="roundRect">
            <a:avLst>
              <a:gd name="adj" fmla="val 100932"/>
            </a:avLst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670" y="200620"/>
            <a:ext cx="138810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7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POINTER SYSTEM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400050" y="36180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spcAft>
                <a:spcPts val="230"/>
              </a:spcAft>
              <a:buNone/>
            </a:pPr>
            <a:r>
              <a:rPr lang="en-US" sz="169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 Targeting for </a:t>
            </a:r>
            <a:r>
              <a:rPr lang="en-US" sz="169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Navigation.</a:t>
            </a:r>
            <a:endParaRPr lang="en-US" sz="1690" dirty="0"/>
          </a:p>
        </p:txBody>
      </p:sp>
      <p:sp>
        <p:nvSpPr>
          <p:cNvPr id="9" name="Text 7"/>
          <p:cNvSpPr/>
          <p:nvPr/>
        </p:nvSpPr>
        <p:spPr>
          <a:xfrm>
            <a:off x="400050" y="637729"/>
            <a:ext cx="644431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builds the world's only automated pointer intelligence layer for websites — making AI interaction exact.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400050" y="1181398"/>
            <a:ext cx="3936355" cy="9525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881807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056" y="929813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641" y="935980"/>
            <a:ext cx="1846496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kern="0" spc="2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Pointer System Collects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49771" y="1326654"/>
            <a:ext cx="229293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bounding-box and screen-position collection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1355824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9771" y="1560463"/>
            <a:ext cx="237937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Pointer-target extraction from every interactive element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1589633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9771" y="1794272"/>
            <a:ext cx="2537356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Pointer-anchor generation and pointer-manifest generation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1823442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9771" y="2028081"/>
            <a:ext cx="2184068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plot-map generation for full visual targeting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200" y="2057251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49771" y="2261890"/>
            <a:ext cx="2504450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Pointer-target alias generation (multiple names per target)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57200" y="2291060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49771" y="2495699"/>
            <a:ext cx="273806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Target-to-route, target-to-section, and target-to-control mapping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7200" y="2524869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9771" y="2729508"/>
            <a:ext cx="1792798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Scroll-target and viewport-target mapping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2758678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49771" y="2963317"/>
            <a:ext cx="1499428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and sticky element detection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57200" y="2992487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9771" y="3197126"/>
            <a:ext cx="212791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Overlay, z-order, and depth relationship detection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57200" y="3226296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49771" y="3430935"/>
            <a:ext cx="2010207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anchor collection and ARIA-label binding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57200" y="3460105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565005" y="952798"/>
            <a:ext cx="13841" cy="3101578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8B5CF6">
                  <a:alpha val="60000"/>
                </a:srgbClr>
              </a:gs>
              <a:gs pos="40000">
                <a:srgbClr val="8B5CF6"/>
              </a:gs>
              <a:gs pos="60000">
                <a:srgbClr val="8B5CF6"/>
              </a:gs>
              <a:gs pos="85000">
                <a:srgbClr val="8B5CF6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8B5CF6">
                <a:alpha val="6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07446" y="1181398"/>
            <a:ext cx="3936504" cy="9525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07446" y="881807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5452" y="929813"/>
            <a:ext cx="132588" cy="1325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107037" y="935980"/>
            <a:ext cx="1780356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kern="0" spc="2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This Enables for AI Agents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4957167" y="1326654"/>
            <a:ext cx="3041913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Zero-guess interaction — AI clicks exactly the right element every time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4864596" y="1355824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957167" y="1560463"/>
            <a:ext cx="2732827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mobile and desktop pointer maps for responsive sites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4864596" y="1589633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957167" y="1794272"/>
            <a:ext cx="3852446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resolution — AI understands </a:t>
            </a: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</a:t>
            </a: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</a:t>
            </a: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one target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4864596" y="1823442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957167" y="2028081"/>
            <a:ext cx="340109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Broken, missing, duplicate, and ambiguous target detection before deployment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4864596" y="2057251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957167" y="2261890"/>
            <a:ext cx="1700466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Pointer-map refresh when site changes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4864596" y="2291060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4957167" y="2495699"/>
            <a:ext cx="3536647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 targeting — AI knows which pointer belongs to which workflow stage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4864596" y="2524869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blurRad="355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807446" y="3840510"/>
            <a:ext cx="1264741" cy="284857"/>
          </a:xfrm>
          <a:prstGeom prst="roundRect">
            <a:avLst>
              <a:gd name="adj" fmla="val 20063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4577" y="3916570"/>
            <a:ext cx="132588" cy="13258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035600" y="3921026"/>
            <a:ext cx="6000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ambiguity</a:t>
            </a:r>
            <a:endParaRPr lang="en-US" sz="650" dirty="0"/>
          </a:p>
        </p:txBody>
      </p:sp>
      <p:sp>
        <p:nvSpPr>
          <p:cNvPr id="54" name="Text 49"/>
          <p:cNvSpPr/>
          <p:nvPr/>
        </p:nvSpPr>
        <p:spPr>
          <a:xfrm>
            <a:off x="6143179" y="3840510"/>
            <a:ext cx="1264890" cy="284857"/>
          </a:xfrm>
          <a:prstGeom prst="roundRect">
            <a:avLst>
              <a:gd name="adj" fmla="val 20063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0309" y="3916570"/>
            <a:ext cx="132588" cy="13258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371332" y="3921026"/>
            <a:ext cx="59476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650" dirty="0"/>
          </a:p>
        </p:txBody>
      </p:sp>
      <p:sp>
        <p:nvSpPr>
          <p:cNvPr id="57" name="Text 51"/>
          <p:cNvSpPr/>
          <p:nvPr/>
        </p:nvSpPr>
        <p:spPr>
          <a:xfrm>
            <a:off x="7479060" y="3840510"/>
            <a:ext cx="1264890" cy="284857"/>
          </a:xfrm>
          <a:prstGeom prst="roundRect">
            <a:avLst>
              <a:gd name="adj" fmla="val 20063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6190" y="3916570"/>
            <a:ext cx="132588" cy="132588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7707213" y="3921026"/>
            <a:ext cx="51438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</a:t>
            </a:r>
            <a:endParaRPr lang="en-US" sz="650" dirty="0"/>
          </a:p>
        </p:txBody>
      </p:sp>
      <p:sp>
        <p:nvSpPr>
          <p:cNvPr id="60" name="Text 53"/>
          <p:cNvSpPr/>
          <p:nvPr/>
        </p:nvSpPr>
        <p:spPr>
          <a:xfrm>
            <a:off x="0" y="4757440"/>
            <a:ext cx="9144000" cy="38606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50000">
                <a:srgbClr val="8B5CF6">
                  <a:alpha val="10000"/>
                </a:srgbClr>
              </a:gs>
              <a:gs pos="100000">
                <a:srgbClr val="8B5CF6">
                  <a:alpha val="2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0" y="4757440"/>
            <a:ext cx="9144000" cy="9525"/>
          </a:xfrm>
          <a:prstGeom prst="rect">
            <a:avLst/>
          </a:prstGeom>
          <a:solidFill>
            <a:srgbClr val="8B5C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5524" y="4888938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1820027" y="4879925"/>
            <a:ext cx="550379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kern="0" spc="1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Pointer System is what separates </a:t>
            </a:r>
            <a:r>
              <a:rPr lang="en-US" sz="790" b="1" kern="0" spc="1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</a:t>
            </a:r>
            <a:r>
              <a:rPr lang="en-US" sz="790" kern="0" spc="1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from every web scraper and crawler on the market.</a:t>
            </a:r>
            <a:endParaRPr lang="en-US" sz="790" dirty="0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55740" y="488893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6482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142" y="22042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8811" y="171450"/>
            <a:ext cx="392079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kern="0" spc="-20" dirty="0">
                <a:solidFill>
                  <a:srgbClr val="1A1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Intelligence That </a:t>
            </a:r>
            <a:r>
              <a:rPr lang="en-US" sz="1580" b="1" kern="0" spc="-2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Goes Stale.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457200" y="431304"/>
            <a:ext cx="6129992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continuously monitors sites and delivers verified refresh packages the moment anything changes.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7200" y="633264"/>
            <a:ext cx="8229600" cy="10120"/>
          </a:xfrm>
          <a:prstGeom prst="roundRect">
            <a:avLst>
              <a:gd name="adj" fmla="val 138044"/>
            </a:avLst>
          </a:prstGeom>
          <a:gradFill rotWithShape="1">
            <a:gsLst>
              <a:gs pos="0">
                <a:srgbClr val="7C3AED">
                  <a:alpha val="40000"/>
                </a:srgbClr>
              </a:gs>
              <a:gs pos="100000">
                <a:srgbClr val="7C3AED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61210" y="772120"/>
            <a:ext cx="21580" cy="4227909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78BFA"/>
              </a:gs>
              <a:gs pos="100000">
                <a:srgbClr val="7C3AED"/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8B5CF6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0199" y="86141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blurRad="114300" dist="13970" dir="5400000" algn="bl" rotWithShape="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499" y="947737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514499" y="10959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05" y="1143976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7839" y="1137791"/>
            <a:ext cx="131721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1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Engine</a:t>
            </a:r>
            <a:endParaRPr lang="en-US" sz="760" dirty="0"/>
          </a:p>
        </p:txBody>
      </p:sp>
      <p:sp>
        <p:nvSpPr>
          <p:cNvPr id="16" name="Text 12"/>
          <p:cNvSpPr/>
          <p:nvPr/>
        </p:nvSpPr>
        <p:spPr>
          <a:xfrm>
            <a:off x="514499" y="135999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new pages, removed pages, and changed pages. Identifies new, removed, and changed controls, forms, navigation menus, and workflows. Every change is classified, logged, and surfaced.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5443091" y="194726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blurRad="114300" dist="13970" dir="5400000" algn="bl" rotWithShape="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557391" y="2033588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" dirty="0"/>
          </a:p>
        </p:txBody>
      </p:sp>
      <p:sp>
        <p:nvSpPr>
          <p:cNvPr id="19" name="Text 15"/>
          <p:cNvSpPr/>
          <p:nvPr/>
        </p:nvSpPr>
        <p:spPr>
          <a:xfrm>
            <a:off x="5557391" y="218182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5397" y="2229826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50731" y="2223641"/>
            <a:ext cx="128464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1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Rescan System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5557391" y="244584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rescans issue targeted-page, targeted-route, and targeted-workflow rescans rather than full re-crawls — fast, surgical, and efficient. Full-site rescan available on demand.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400199" y="303311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blurRad="114300" dist="13970" dir="5400000" algn="bl" rotWithShape="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14499" y="3119438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" dirty="0"/>
          </a:p>
        </p:txBody>
      </p:sp>
      <p:sp>
        <p:nvSpPr>
          <p:cNvPr id="25" name="Text 20"/>
          <p:cNvSpPr/>
          <p:nvPr/>
        </p:nvSpPr>
        <p:spPr>
          <a:xfrm>
            <a:off x="514499" y="32676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505" y="3315676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7839" y="3309491"/>
            <a:ext cx="1418719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1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Intelligence Detection</a:t>
            </a:r>
            <a:endParaRPr lang="en-US" sz="760" dirty="0"/>
          </a:p>
        </p:txBody>
      </p:sp>
      <p:sp>
        <p:nvSpPr>
          <p:cNvPr id="28" name="Text 22"/>
          <p:cNvSpPr/>
          <p:nvPr/>
        </p:nvSpPr>
        <p:spPr>
          <a:xfrm>
            <a:off x="514499" y="353169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Stale-content, stale-route, broken-target, missing-pointer-target, duplicate-target, and ambiguous-target detection automatically flag issues before they impact AI performance.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5443091" y="411896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blurRad="114300" dist="13970" dir="5400000" algn="bl" rotWithShape="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557391" y="4205288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6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" dirty="0"/>
          </a:p>
        </p:txBody>
      </p:sp>
      <p:sp>
        <p:nvSpPr>
          <p:cNvPr id="31" name="Text 25"/>
          <p:cNvSpPr/>
          <p:nvPr/>
        </p:nvSpPr>
        <p:spPr>
          <a:xfrm>
            <a:off x="5557391" y="435352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5397" y="4401526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50731" y="4395341"/>
            <a:ext cx="141020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1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Refresh Delivery</a:t>
            </a:r>
            <a:endParaRPr lang="en-US" sz="760" dirty="0"/>
          </a:p>
        </p:txBody>
      </p:sp>
      <p:sp>
        <p:nvSpPr>
          <p:cNvPr id="34" name="Text 27"/>
          <p:cNvSpPr/>
          <p:nvPr/>
        </p:nvSpPr>
        <p:spPr>
          <a:xfrm>
            <a:off x="5557391" y="461754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Site World, pointer-map refresh, and incremental ORB update-data delivered as a new versioned intelligence package. Scan provenance preserved across every version.</a:t>
            </a:r>
            <a:endParaRPr lang="en-US" sz="650" dirty="0"/>
          </a:p>
        </p:txBody>
      </p:sp>
      <p:sp>
        <p:nvSpPr>
          <p:cNvPr id="35" name="Text 28"/>
          <p:cNvSpPr/>
          <p:nvPr/>
        </p:nvSpPr>
        <p:spPr>
          <a:xfrm>
            <a:off x="4561210" y="772120"/>
            <a:ext cx="21580" cy="128141"/>
          </a:xfrm>
          <a:prstGeom prst="rect">
            <a:avLst/>
          </a:prstGeom>
          <a:gradFill rotWithShape="1">
            <a:gsLst>
              <a:gs pos="0">
                <a:srgbClr val="8B5CF6">
                  <a:alpha val="0"/>
                </a:srgbClr>
              </a:gs>
              <a:gs pos="100000">
                <a:srgbClr val="8B5CF6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4561210" y="4871889"/>
            <a:ext cx="21580" cy="128141"/>
          </a:xfrm>
          <a:prstGeom prst="rect">
            <a:avLst/>
          </a:prstGeom>
          <a:gradFill rotWithShape="1">
            <a:gsLst>
              <a:gs pos="0">
                <a:srgbClr val="8B5CF6">
                  <a:alpha val="0"/>
                </a:srgbClr>
              </a:gs>
              <a:gs pos="100000">
                <a:srgbClr val="8B5CF6"/>
              </a:gs>
            </a:gsLst>
            <a:lin ang="162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457200" y="4965799"/>
            <a:ext cx="198270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3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· SITE INTELLIGENCE PLATFORM</a:t>
            </a:r>
            <a:endParaRPr lang="en-US" sz="560" dirty="0"/>
          </a:p>
        </p:txBody>
      </p:sp>
      <p:sp>
        <p:nvSpPr>
          <p:cNvPr id="38" name="Text 31"/>
          <p:cNvSpPr/>
          <p:nvPr/>
        </p:nvSpPr>
        <p:spPr>
          <a:xfrm>
            <a:off x="7199858" y="4965799"/>
            <a:ext cx="16356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0" dirty="0">
                <a:solidFill>
                  <a:srgbClr val="7C3AE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INTELLIGENCE REFRESH</a:t>
            </a:r>
            <a:endParaRPr lang="en-US" sz="560" dirty="0"/>
          </a:p>
        </p:txBody>
      </p:sp>
      <p:sp>
        <p:nvSpPr>
          <p:cNvPr id="39" name="Text 32"/>
          <p:cNvSpPr/>
          <p:nvPr/>
        </p:nvSpPr>
        <p:spPr>
          <a:xfrm>
            <a:off x="3657596" y="127620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5371971" y="236205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657596" y="344790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371971" y="453375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507929" y="113660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507929" y="222245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507929" y="330830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507929" y="439415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43970" cy="3429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427559"/>
            <a:ext cx="3714750" cy="371594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470" y="143470"/>
            <a:ext cx="4857750" cy="4857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9575" y="784324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214539" y="784324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019502" y="784324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09575" y="1896070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214539" y="1896070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019502" y="1896070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00050" y="200620"/>
            <a:ext cx="892797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spcAft>
                <a:spcPts val="170"/>
              </a:spcAft>
              <a:buNone/>
            </a:pPr>
            <a:r>
              <a:rPr lang="en-US" sz="1460" kern="0" spc="15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ORB Intelligence Add-Ons: </a:t>
            </a:r>
            <a:r>
              <a:rPr lang="en-US" sz="1460" kern="0" spc="15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Extend. Specialize. Dominate.</a:t>
            </a:r>
            <a:endParaRPr lang="en-US" sz="1460" dirty="0"/>
          </a:p>
        </p:txBody>
      </p:sp>
      <p:sp>
        <p:nvSpPr>
          <p:cNvPr id="14" name="Text 9"/>
          <p:cNvSpPr/>
          <p:nvPr/>
        </p:nvSpPr>
        <p:spPr>
          <a:xfrm>
            <a:off x="400050" y="435322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15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Site World packages unlock a growing ecosystem of specialized intelligence modules — all software, all modular.</a:t>
            </a:r>
            <a:endParaRPr lang="en-US" sz="730" dirty="0"/>
          </a:p>
        </p:txBody>
      </p:sp>
      <p:sp>
        <p:nvSpPr>
          <p:cNvPr id="15" name="Text 10"/>
          <p:cNvSpPr/>
          <p:nvPr/>
        </p:nvSpPr>
        <p:spPr>
          <a:xfrm>
            <a:off x="400050" y="645319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blurRad="57150" dist="50800" dir="16200000" algn="bl" rotWithShape="0">
              <a:srgbClr val="8B5CF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29530" y="663029"/>
            <a:ext cx="8214420" cy="7590"/>
          </a:xfrm>
          <a:prstGeom prst="rect">
            <a:avLst/>
          </a:prstGeom>
          <a:gradFill rotWithShape="1">
            <a:gsLst>
              <a:gs pos="0">
                <a:srgbClr val="8B5CF6">
                  <a:alpha val="50000"/>
                </a:srgbClr>
              </a:gs>
              <a:gs pos="100000">
                <a:srgbClr val="8B5CF6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00050" y="774799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23875" y="892225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blurRad="10033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382" y="968731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935" y="884634"/>
            <a:ext cx="611773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BEHAVIOR</a:t>
            </a:r>
            <a:endParaRPr lang="en-US" sz="530" dirty="0"/>
          </a:p>
        </p:txBody>
      </p:sp>
      <p:sp>
        <p:nvSpPr>
          <p:cNvPr id="21" name="Text 15"/>
          <p:cNvSpPr/>
          <p:nvPr/>
        </p:nvSpPr>
        <p:spPr>
          <a:xfrm>
            <a:off x="909935" y="1055191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 Packs</a:t>
            </a:r>
            <a:endParaRPr lang="en-US" sz="790" dirty="0"/>
          </a:p>
        </p:txBody>
      </p:sp>
      <p:sp>
        <p:nvSpPr>
          <p:cNvPr id="22" name="Text 16"/>
          <p:cNvSpPr/>
          <p:nvPr/>
        </p:nvSpPr>
        <p:spPr>
          <a:xfrm>
            <a:off x="909935" y="1234827"/>
            <a:ext cx="2142268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behavior modules — e-commerce assistant, support navigator, lead qualifier, booking concierge. Plug-in ORB personality and decision layers for specific use cases.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3205014" y="774799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328839" y="892225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blurRad="10033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5345" y="968731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14899" y="884634"/>
            <a:ext cx="560159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530" dirty="0"/>
          </a:p>
        </p:txBody>
      </p:sp>
      <p:sp>
        <p:nvSpPr>
          <p:cNvPr id="27" name="Text 20"/>
          <p:cNvSpPr/>
          <p:nvPr/>
        </p:nvSpPr>
        <p:spPr>
          <a:xfrm>
            <a:off x="3714899" y="1055191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Intent Libraries</a:t>
            </a:r>
            <a:endParaRPr lang="en-US" sz="790" dirty="0"/>
          </a:p>
        </p:txBody>
      </p:sp>
      <p:sp>
        <p:nvSpPr>
          <p:cNvPr id="28" name="Text 21"/>
          <p:cNvSpPr/>
          <p:nvPr/>
        </p:nvSpPr>
        <p:spPr>
          <a:xfrm>
            <a:off x="3714899" y="1234827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visitor-language alias libraries by vertical — retail, healthcare, SaaS, hospitality, finance. Instant semantic coverage without manual alias authoring.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6009977" y="774799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133802" y="892225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blurRad="10033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309" y="968731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19863" y="884634"/>
            <a:ext cx="480765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530" dirty="0"/>
          </a:p>
        </p:txBody>
      </p:sp>
      <p:sp>
        <p:nvSpPr>
          <p:cNvPr id="33" name="Text 25"/>
          <p:cNvSpPr/>
          <p:nvPr/>
        </p:nvSpPr>
        <p:spPr>
          <a:xfrm>
            <a:off x="6519863" y="1055191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 Modules</a:t>
            </a:r>
            <a:endParaRPr lang="en-US" sz="790" dirty="0"/>
          </a:p>
        </p:txBody>
      </p:sp>
      <p:sp>
        <p:nvSpPr>
          <p:cNvPr id="34" name="Text 26"/>
          <p:cNvSpPr/>
          <p:nvPr/>
        </p:nvSpPr>
        <p:spPr>
          <a:xfrm>
            <a:off x="6519863" y="1234827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Pre-validated flow maps for checkout, onboarding, account management, and support escalation. Drop-in, validated, immediately deployable.</a:t>
            </a:r>
            <a:endParaRPr lang="en-US" sz="650" dirty="0"/>
          </a:p>
        </p:txBody>
      </p:sp>
      <p:sp>
        <p:nvSpPr>
          <p:cNvPr id="35" name="Text 27"/>
          <p:cNvSpPr/>
          <p:nvPr/>
        </p:nvSpPr>
        <p:spPr>
          <a:xfrm>
            <a:off x="400050" y="1886545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523875" y="2003971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blurRad="10033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382" y="2080477"/>
            <a:ext cx="132588" cy="1325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9935" y="1996380"/>
            <a:ext cx="677960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530" dirty="0"/>
          </a:p>
        </p:txBody>
      </p:sp>
      <p:sp>
        <p:nvSpPr>
          <p:cNvPr id="39" name="Text 30"/>
          <p:cNvSpPr/>
          <p:nvPr/>
        </p:nvSpPr>
        <p:spPr>
          <a:xfrm>
            <a:off x="909935" y="2166938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Multi-Language Packs</a:t>
            </a:r>
            <a:endParaRPr lang="en-US" sz="790" dirty="0"/>
          </a:p>
        </p:txBody>
      </p:sp>
      <p:sp>
        <p:nvSpPr>
          <p:cNvPr id="40" name="Text 31"/>
          <p:cNvSpPr/>
          <p:nvPr/>
        </p:nvSpPr>
        <p:spPr>
          <a:xfrm>
            <a:off x="909935" y="2346573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Visitor-language alias expansion for non-English sites. Intent mapping translated and localized per market and region for global reach.</a:t>
            </a:r>
            <a:endParaRPr lang="en-US" sz="650" dirty="0"/>
          </a:p>
        </p:txBody>
      </p:sp>
      <p:sp>
        <p:nvSpPr>
          <p:cNvPr id="41" name="Text 32"/>
          <p:cNvSpPr/>
          <p:nvPr/>
        </p:nvSpPr>
        <p:spPr>
          <a:xfrm>
            <a:off x="3205014" y="1886545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3328839" y="2003971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blurRad="10033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05345" y="2080477"/>
            <a:ext cx="132588" cy="132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714899" y="1996380"/>
            <a:ext cx="837810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COMPLIANCE</a:t>
            </a:r>
            <a:endParaRPr lang="en-US" sz="530" dirty="0"/>
          </a:p>
        </p:txBody>
      </p:sp>
      <p:sp>
        <p:nvSpPr>
          <p:cNvPr id="45" name="Text 35"/>
          <p:cNvSpPr/>
          <p:nvPr/>
        </p:nvSpPr>
        <p:spPr>
          <a:xfrm>
            <a:off x="3714899" y="2166938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&amp; QA Packs</a:t>
            </a:r>
            <a:endParaRPr lang="en-US" sz="790" dirty="0"/>
          </a:p>
        </p:txBody>
      </p:sp>
      <p:sp>
        <p:nvSpPr>
          <p:cNvPr id="46" name="Text 36"/>
          <p:cNvSpPr/>
          <p:nvPr/>
        </p:nvSpPr>
        <p:spPr>
          <a:xfrm>
            <a:off x="3714899" y="2346573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pointer, control, and route audits. Accessibility compliance reports and broken-element remediation guides for dev and QA teams.</a:t>
            </a:r>
            <a:endParaRPr lang="en-US" sz="650" dirty="0"/>
          </a:p>
        </p:txBody>
      </p:sp>
      <p:sp>
        <p:nvSpPr>
          <p:cNvPr id="47" name="Text 37"/>
          <p:cNvSpPr/>
          <p:nvPr/>
        </p:nvSpPr>
        <p:spPr>
          <a:xfrm>
            <a:off x="6009977" y="1886545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6133802" y="2003971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blurRad="100330" dist="50800" dir="16200000" algn="bl" rotWithShape="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0309" y="2080477"/>
            <a:ext cx="132588" cy="1325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519863" y="1996380"/>
            <a:ext cx="599932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marL="0" indent="0" algn="l">
              <a:buNone/>
            </a:pPr>
            <a:r>
              <a:rPr lang="en-US" sz="530" b="1" kern="0" spc="4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530" dirty="0"/>
          </a:p>
        </p:txBody>
      </p:sp>
      <p:sp>
        <p:nvSpPr>
          <p:cNvPr id="51" name="Text 40"/>
          <p:cNvSpPr/>
          <p:nvPr/>
        </p:nvSpPr>
        <p:spPr>
          <a:xfrm>
            <a:off x="6519863" y="2166938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8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Integration Packs</a:t>
            </a:r>
            <a:endParaRPr lang="en-US" sz="790" dirty="0"/>
          </a:p>
        </p:txBody>
      </p:sp>
      <p:sp>
        <p:nvSpPr>
          <p:cNvPr id="52" name="Text 41"/>
          <p:cNvSpPr/>
          <p:nvPr/>
        </p:nvSpPr>
        <p:spPr>
          <a:xfrm>
            <a:off x="6519863" y="2346573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Governor inputs, ORB capability snapshots, structured endpoint maps, and public API route inventories for enterprise AI orchestration layers.</a:t>
            </a:r>
            <a:endParaRPr lang="en-US" sz="650" dirty="0"/>
          </a:p>
        </p:txBody>
      </p:sp>
      <p:sp>
        <p:nvSpPr>
          <p:cNvPr id="53" name="Text 42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50000">
                <a:srgbClr val="6D28D9">
                  <a:alpha val="10000"/>
                </a:srgbClr>
              </a:gs>
              <a:gs pos="100000">
                <a:srgbClr val="8B5CF6">
                  <a:alpha val="2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0" y="4901059"/>
            <a:ext cx="9144000" cy="9525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1776561" y="4968032"/>
            <a:ext cx="19736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5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add-on marketplace opening Q3 2027</a:t>
            </a:r>
            <a:endParaRPr lang="en-US" sz="62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34737" y="4960748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3799433" y="5012382"/>
            <a:ext cx="29170" cy="2917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6"/>
          <p:cNvSpPr/>
          <p:nvPr/>
        </p:nvSpPr>
        <p:spPr>
          <a:xfrm>
            <a:off x="4165104" y="4968032"/>
            <a:ext cx="11903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5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SDK in development</a:t>
            </a:r>
            <a:endParaRPr lang="en-US" sz="62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23280" y="4960748"/>
            <a:ext cx="132588" cy="13258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5475833" y="5012382"/>
            <a:ext cx="29170" cy="2917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8"/>
          <p:cNvSpPr/>
          <p:nvPr/>
        </p:nvSpPr>
        <p:spPr>
          <a:xfrm>
            <a:off x="5841504" y="4968032"/>
            <a:ext cx="17970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5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platform fee on all third-party modules</a:t>
            </a:r>
            <a:endParaRPr lang="en-US" sz="620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99680" y="496074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1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261491"/>
            <a:ext cx="29170" cy="2286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232" y="257770"/>
            <a:ext cx="5537942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-34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Revenue Pillars. </a:t>
            </a:r>
            <a:r>
              <a:rPr lang="en-US" sz="1690" b="1" kern="0" spc="-34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Subscriptions. No Hardware.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472380" y="529233"/>
            <a:ext cx="9129504" cy="140345"/>
          </a:xfrm>
          <a:prstGeom prst="rect">
            <a:avLst/>
          </a:prstGeom>
          <a:noFill/>
          <a:ln/>
        </p:spPr>
        <p:txBody>
          <a:bodyPr wrap="none" lIns="10033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monetizes through licensing, packages, and ecosystem — not monthly billing, not physical product.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37207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blurRad="128270" dist="29210" dir="5400000" algn="bl" rotWithShape="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973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243" y="101189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9736" y="1284387"/>
            <a:ext cx="926616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– $2,499 / site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50973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kern="0" spc="-8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Intelligence Packages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50973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compiled </a:t>
            </a: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World</a:t>
            </a: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packages licensed by scale and complexity. Refresh packages sold separately. Volume tiers for agencies and resellers.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50973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812" y="3960623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637" y="3967907"/>
            <a:ext cx="81675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driver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250061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blurRad="128270" dist="29210" dir="5400000" algn="bl" rotWithShape="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3827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4783" y="1011891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38276" y="1284387"/>
            <a:ext cx="959861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carte + 30% fee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263827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kern="0" spc="-8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Add-On Ecosystem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263827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packs, intent libraries, workflow modules, audit packs, and enterprise integration packs. </a:t>
            </a: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platform fee</a:t>
            </a: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all third-party add-on sales.</a:t>
            </a:r>
            <a:endParaRPr lang="en-US" sz="680" dirty="0"/>
          </a:p>
        </p:txBody>
      </p:sp>
      <p:sp>
        <p:nvSpPr>
          <p:cNvPr id="21" name="Text 16"/>
          <p:cNvSpPr/>
          <p:nvPr/>
        </p:nvSpPr>
        <p:spPr>
          <a:xfrm>
            <a:off x="263827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04352" y="3960623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46177" y="3967907"/>
            <a:ext cx="86488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flywheel</a:t>
            </a:r>
            <a:endParaRPr lang="en-US" sz="620" dirty="0"/>
          </a:p>
        </p:txBody>
      </p:sp>
      <p:sp>
        <p:nvSpPr>
          <p:cNvPr id="24" name="Text 18"/>
          <p:cNvSpPr/>
          <p:nvPr/>
        </p:nvSpPr>
        <p:spPr>
          <a:xfrm>
            <a:off x="462915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blurRad="128270" dist="29210" dir="5400000" algn="bl" rotWithShape="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76681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3323" y="1011891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66816" y="1284387"/>
            <a:ext cx="755532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</a:t>
            </a:r>
            <a:endParaRPr lang="en-US" sz="620" dirty="0"/>
          </a:p>
        </p:txBody>
      </p:sp>
      <p:sp>
        <p:nvSpPr>
          <p:cNvPr id="28" name="Text 21"/>
          <p:cNvSpPr/>
          <p:nvPr/>
        </p:nvSpPr>
        <p:spPr>
          <a:xfrm>
            <a:off x="476681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kern="0" spc="-8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Engine License</a:t>
            </a:r>
            <a:endParaRPr lang="en-US" sz="840" dirty="0"/>
          </a:p>
        </p:txBody>
      </p:sp>
      <p:sp>
        <p:nvSpPr>
          <p:cNvPr id="29" name="Text 22"/>
          <p:cNvSpPr/>
          <p:nvPr/>
        </p:nvSpPr>
        <p:spPr>
          <a:xfrm>
            <a:off x="476681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teams running ORB Weaver at scale. Includes </a:t>
            </a: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scan credits, priority processing, SLA support</a:t>
            </a: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unlimited refresh packages.</a:t>
            </a:r>
            <a:endParaRPr lang="en-US" sz="680" dirty="0"/>
          </a:p>
        </p:txBody>
      </p:sp>
      <p:sp>
        <p:nvSpPr>
          <p:cNvPr id="30" name="Text 23"/>
          <p:cNvSpPr/>
          <p:nvPr/>
        </p:nvSpPr>
        <p:spPr>
          <a:xfrm>
            <a:off x="476681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2892" y="3960623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74716" y="3967907"/>
            <a:ext cx="7155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High-ACV anchor</a:t>
            </a:r>
            <a:endParaRPr lang="en-US" sz="620" dirty="0"/>
          </a:p>
        </p:txBody>
      </p:sp>
      <p:sp>
        <p:nvSpPr>
          <p:cNvPr id="33" name="Text 25"/>
          <p:cNvSpPr/>
          <p:nvPr/>
        </p:nvSpPr>
        <p:spPr>
          <a:xfrm>
            <a:off x="675769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blurRad="128270" dist="29210" dir="5400000" algn="bl" rotWithShape="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89535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71862" y="1011891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95356" y="1284387"/>
            <a:ext cx="738985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licensing</a:t>
            </a:r>
            <a:endParaRPr lang="en-US" sz="620" dirty="0"/>
          </a:p>
        </p:txBody>
      </p:sp>
      <p:sp>
        <p:nvSpPr>
          <p:cNvPr id="37" name="Text 28"/>
          <p:cNvSpPr/>
          <p:nvPr/>
        </p:nvSpPr>
        <p:spPr>
          <a:xfrm>
            <a:off x="689535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kern="0" spc="-8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White-Label Platform License</a:t>
            </a:r>
            <a:endParaRPr lang="en-US" sz="840" dirty="0"/>
          </a:p>
        </p:txBody>
      </p:sp>
      <p:sp>
        <p:nvSpPr>
          <p:cNvPr id="38" name="Text 29"/>
          <p:cNvSpPr/>
          <p:nvPr/>
        </p:nvSpPr>
        <p:spPr>
          <a:xfrm>
            <a:off x="689535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licensing of the scanning and compilation engine for </a:t>
            </a: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platforms, automation vendors</a:t>
            </a: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enterprise software embedding site intelligence natively.</a:t>
            </a:r>
            <a:endParaRPr lang="en-US" sz="680" dirty="0"/>
          </a:p>
        </p:txBody>
      </p:sp>
      <p:sp>
        <p:nvSpPr>
          <p:cNvPr id="39" name="Text 30"/>
          <p:cNvSpPr/>
          <p:nvPr/>
        </p:nvSpPr>
        <p:spPr>
          <a:xfrm>
            <a:off x="689535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61432" y="3960623"/>
            <a:ext cx="132588" cy="132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003256" y="3967907"/>
            <a:ext cx="10472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channel</a:t>
            </a:r>
            <a:endParaRPr lang="en-US" sz="620" dirty="0"/>
          </a:p>
        </p:txBody>
      </p:sp>
      <p:sp>
        <p:nvSpPr>
          <p:cNvPr id="42" name="Text 32"/>
          <p:cNvSpPr/>
          <p:nvPr/>
        </p:nvSpPr>
        <p:spPr>
          <a:xfrm>
            <a:off x="372070" y="4324052"/>
            <a:ext cx="8399859" cy="618827"/>
          </a:xfrm>
          <a:prstGeom prst="roundRect">
            <a:avLst>
              <a:gd name="adj" fmla="val 13955"/>
            </a:avLst>
          </a:prstGeom>
          <a:gradFill rotWithShape="1">
            <a:gsLst>
              <a:gs pos="0">
                <a:srgbClr val="1A1040"/>
              </a:gs>
              <a:gs pos="100000">
                <a:srgbClr val="13132B"/>
              </a:gs>
            </a:gsLst>
            <a:lin ang="0" scaled="1"/>
          </a:gradFill>
          <a:ln w="9525">
            <a:solidFill>
              <a:srgbClr val="8B5CF6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723" y="4567098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60809" y="4483001"/>
            <a:ext cx="537456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32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82%+</a:t>
            </a:r>
            <a:endParaRPr lang="en-US" sz="1580" dirty="0"/>
          </a:p>
        </p:txBody>
      </p:sp>
      <p:sp>
        <p:nvSpPr>
          <p:cNvPr id="45" name="Text 34"/>
          <p:cNvSpPr/>
          <p:nvPr/>
        </p:nvSpPr>
        <p:spPr>
          <a:xfrm>
            <a:off x="1334095" y="4568726"/>
            <a:ext cx="127039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</a:t>
            </a:r>
            <a:endParaRPr lang="en-US" sz="680" dirty="0"/>
          </a:p>
        </p:txBody>
      </p:sp>
      <p:sp>
        <p:nvSpPr>
          <p:cNvPr id="46" name="Text 35"/>
          <p:cNvSpPr/>
          <p:nvPr/>
        </p:nvSpPr>
        <p:spPr>
          <a:xfrm>
            <a:off x="2603302" y="4504581"/>
            <a:ext cx="7590" cy="257770"/>
          </a:xfrm>
          <a:prstGeom prst="rect">
            <a:avLst/>
          </a:prstGeom>
          <a:solidFill>
            <a:srgbClr val="8B5C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6"/>
          <p:cNvSpPr/>
          <p:nvPr/>
        </p:nvSpPr>
        <p:spPr>
          <a:xfrm>
            <a:off x="2725192" y="4611886"/>
            <a:ext cx="43160" cy="43160"/>
          </a:xfrm>
          <a:prstGeom prst="ellipse">
            <a:avLst/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2882652" y="4423321"/>
            <a:ext cx="4327496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C4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of goods. Pure software economics.</a:t>
            </a:r>
            <a:r>
              <a:rPr lang="en-US" sz="760" dirty="0">
                <a:solidFill>
                  <a:srgbClr val="C4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manufacturing. No infrastructure COGS. All four pillars operate at identical margin — every dollar of revenue drops nearly entirely to gross profit.</a:t>
            </a:r>
            <a:endParaRPr lang="en-US" sz="760" dirty="0"/>
          </a:p>
        </p:txBody>
      </p:sp>
      <p:sp>
        <p:nvSpPr>
          <p:cNvPr id="49" name="Text 38"/>
          <p:cNvSpPr/>
          <p:nvPr/>
        </p:nvSpPr>
        <p:spPr>
          <a:xfrm>
            <a:off x="7239595" y="4504581"/>
            <a:ext cx="7590" cy="257770"/>
          </a:xfrm>
          <a:prstGeom prst="rect">
            <a:avLst/>
          </a:prstGeom>
          <a:solidFill>
            <a:srgbClr val="8B5C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9"/>
          <p:cNvSpPr/>
          <p:nvPr/>
        </p:nvSpPr>
        <p:spPr>
          <a:xfrm>
            <a:off x="7361486" y="4611886"/>
            <a:ext cx="43160" cy="43160"/>
          </a:xfrm>
          <a:prstGeom prst="ellipse">
            <a:avLst/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85022" y="4407852"/>
            <a:ext cx="132588" cy="13258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626846" y="4412307"/>
            <a:ext cx="7159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manufacturing</a:t>
            </a:r>
            <a:endParaRPr lang="en-US" sz="650" dirty="0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5022" y="4567098"/>
            <a:ext cx="132588" cy="13258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626846" y="4571554"/>
            <a:ext cx="96278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COGS</a:t>
            </a:r>
            <a:endParaRPr lang="en-US" sz="650" dirty="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85022" y="4726344"/>
            <a:ext cx="132588" cy="13258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7626846" y="4730800"/>
            <a:ext cx="102843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 required</a:t>
            </a:r>
            <a:endParaRPr lang="en-US" sz="650" dirty="0"/>
          </a:p>
        </p:txBody>
      </p:sp>
      <p:sp>
        <p:nvSpPr>
          <p:cNvPr id="57" name="Text 43"/>
          <p:cNvSpPr/>
          <p:nvPr/>
        </p:nvSpPr>
        <p:spPr>
          <a:xfrm>
            <a:off x="38159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4"/>
          <p:cNvSpPr/>
          <p:nvPr/>
        </p:nvSpPr>
        <p:spPr>
          <a:xfrm>
            <a:off x="251013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463867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6"/>
          <p:cNvSpPr/>
          <p:nvPr/>
        </p:nvSpPr>
        <p:spPr>
          <a:xfrm>
            <a:off x="676721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57770"/>
            <a:ext cx="3271552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690" kern="0" spc="-30" dirty="0">
                <a:solidFill>
                  <a:srgbClr val="1A14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Projections: </a:t>
            </a:r>
            <a:r>
              <a:rPr lang="en-US" sz="1690" b="1" kern="0" spc="-3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2026–2032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400050" y="601266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package adoption. Ecosystem and white-label upside not fully modeled.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00050" y="822722"/>
            <a:ext cx="1765033" cy="228898"/>
          </a:xfrm>
          <a:prstGeom prst="roundRect">
            <a:avLst>
              <a:gd name="adj" fmla="val 3117603"/>
            </a:avLst>
          </a:prstGeom>
          <a:solidFill>
            <a:srgbClr val="EDE9FE"/>
          </a:solidFill>
          <a:ln w="9525">
            <a:solidFill>
              <a:srgbClr val="C4B5FD"/>
            </a:solidFill>
          </a:ln>
        </p:spPr>
        <p:txBody>
          <a:bodyPr wrap="none" lIns="213012" tIns="35560" rIns="100330" bIns="3556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$110M projected Year 7 revenue</a:t>
            </a:r>
            <a:endParaRPr lang="en-US" sz="73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343" y="870802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01466" y="822722"/>
            <a:ext cx="1207606" cy="228898"/>
          </a:xfrm>
          <a:prstGeom prst="roundRect">
            <a:avLst>
              <a:gd name="adj" fmla="val 3117603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</p:spPr>
        <p:txBody>
          <a:bodyPr wrap="none" lIns="213012" tIns="35560" rIns="100330" bIns="3556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82%+ gross margin</a:t>
            </a:r>
            <a:endParaRPr lang="en-US" sz="73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9758" y="870802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384" y="822722"/>
            <a:ext cx="2076992" cy="228898"/>
          </a:xfrm>
          <a:prstGeom prst="roundRect">
            <a:avLst>
              <a:gd name="adj" fmla="val 311760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213012" tIns="35560" rIns="100330" bIns="3556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1.1× ecosystem-to-package ratio by Y7</a:t>
            </a:r>
            <a:endParaRPr lang="en-US" sz="73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4677" y="870802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6780" y="894011"/>
            <a:ext cx="86320" cy="86320"/>
          </a:xfrm>
          <a:prstGeom prst="roundRect">
            <a:avLst>
              <a:gd name="adj" fmla="val 25012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802511" y="872430"/>
            <a:ext cx="15069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Packages &amp; Enterprise License</a:t>
            </a:r>
            <a:endParaRPr lang="en-US" sz="680" dirty="0"/>
          </a:p>
        </p:txBody>
      </p:sp>
      <p:sp>
        <p:nvSpPr>
          <p:cNvPr id="13" name="Text 8"/>
          <p:cNvSpPr/>
          <p:nvPr/>
        </p:nvSpPr>
        <p:spPr>
          <a:xfrm>
            <a:off x="7300615" y="894011"/>
            <a:ext cx="86320" cy="86320"/>
          </a:xfrm>
          <a:prstGeom prst="roundRect">
            <a:avLst>
              <a:gd name="adj" fmla="val 25012"/>
            </a:avLst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436346" y="872430"/>
            <a:ext cx="143836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Ecosystem &amp; White-Label</a:t>
            </a:r>
            <a:endParaRPr lang="en-US" sz="680" dirty="0"/>
          </a:p>
        </p:txBody>
      </p:sp>
      <p:sp>
        <p:nvSpPr>
          <p:cNvPr id="15" name="Text 10"/>
          <p:cNvSpPr/>
          <p:nvPr/>
        </p:nvSpPr>
        <p:spPr>
          <a:xfrm>
            <a:off x="429220" y="1151930"/>
            <a:ext cx="239244" cy="723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$110M
$82M
$55M
$27M
$0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9270" y="1151930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829270" y="2054870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29270" y="2957959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29270" y="3860899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29270" y="4763839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29270" y="4485829"/>
            <a:ext cx="7857530" cy="13841"/>
          </a:xfrm>
          <a:prstGeom prst="rect">
            <a:avLst/>
          </a:prstGeom>
          <a:solidFill>
            <a:srgbClr val="645AB4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1118094" y="3851374"/>
            <a:ext cx="27945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$700K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1000720" y="4067175"/>
            <a:ext cx="514350" cy="10031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1000720" y="4010025"/>
            <a:ext cx="514350" cy="5715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15490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30" dirty="0"/>
          </a:p>
        </p:txBody>
      </p:sp>
      <p:sp>
        <p:nvSpPr>
          <p:cNvPr id="26" name="Text 21"/>
          <p:cNvSpPr/>
          <p:nvPr/>
        </p:nvSpPr>
        <p:spPr>
          <a:xfrm>
            <a:off x="1214438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560" dirty="0"/>
          </a:p>
        </p:txBody>
      </p:sp>
      <p:sp>
        <p:nvSpPr>
          <p:cNvPr id="27" name="Text 22"/>
          <p:cNvSpPr/>
          <p:nvPr/>
        </p:nvSpPr>
        <p:spPr>
          <a:xfrm>
            <a:off x="1957001" y="3636764"/>
            <a:ext cx="3162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$2.68M</a:t>
            </a:r>
            <a:endParaRPr lang="en-US" sz="680" dirty="0"/>
          </a:p>
        </p:txBody>
      </p:sp>
      <p:sp>
        <p:nvSpPr>
          <p:cNvPr id="28" name="Text 23"/>
          <p:cNvSpPr/>
          <p:nvPr/>
        </p:nvSpPr>
        <p:spPr>
          <a:xfrm>
            <a:off x="1857970" y="3917305"/>
            <a:ext cx="514350" cy="275198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1857970" y="3795415"/>
            <a:ext cx="514350" cy="134079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$780K</a:t>
            </a:r>
            <a:endParaRPr lang="en-US" sz="510" dirty="0"/>
          </a:p>
        </p:txBody>
      </p:sp>
      <p:sp>
        <p:nvSpPr>
          <p:cNvPr id="30" name="Text 25"/>
          <p:cNvSpPr/>
          <p:nvPr/>
        </p:nvSpPr>
        <p:spPr>
          <a:xfrm>
            <a:off x="201215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730" dirty="0"/>
          </a:p>
        </p:txBody>
      </p:sp>
      <p:sp>
        <p:nvSpPr>
          <p:cNvPr id="31" name="Text 26"/>
          <p:cNvSpPr/>
          <p:nvPr/>
        </p:nvSpPr>
        <p:spPr>
          <a:xfrm>
            <a:off x="2071688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560" dirty="0"/>
          </a:p>
        </p:txBody>
      </p:sp>
      <p:sp>
        <p:nvSpPr>
          <p:cNvPr id="32" name="Text 27"/>
          <p:cNvSpPr/>
          <p:nvPr/>
        </p:nvSpPr>
        <p:spPr>
          <a:xfrm>
            <a:off x="2840608" y="2922984"/>
            <a:ext cx="26357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$8.7M</a:t>
            </a:r>
            <a:endParaRPr lang="en-US" sz="680" dirty="0"/>
          </a:p>
        </p:txBody>
      </p:sp>
      <p:sp>
        <p:nvSpPr>
          <p:cNvPr id="33" name="Text 28"/>
          <p:cNvSpPr/>
          <p:nvPr/>
        </p:nvSpPr>
        <p:spPr>
          <a:xfrm>
            <a:off x="2715220" y="3460105"/>
            <a:ext cx="514350" cy="778118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$5.8M</a:t>
            </a:r>
            <a:endParaRPr lang="en-US" sz="620" dirty="0"/>
          </a:p>
        </p:txBody>
      </p:sp>
      <p:sp>
        <p:nvSpPr>
          <p:cNvPr id="34" name="Text 29"/>
          <p:cNvSpPr/>
          <p:nvPr/>
        </p:nvSpPr>
        <p:spPr>
          <a:xfrm>
            <a:off x="2715220" y="3081784"/>
            <a:ext cx="514350" cy="416153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$2.9M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286940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730" dirty="0"/>
          </a:p>
        </p:txBody>
      </p:sp>
      <p:sp>
        <p:nvSpPr>
          <p:cNvPr id="36" name="Text 31"/>
          <p:cNvSpPr/>
          <p:nvPr/>
        </p:nvSpPr>
        <p:spPr>
          <a:xfrm>
            <a:off x="2928938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560" dirty="0"/>
          </a:p>
        </p:txBody>
      </p:sp>
      <p:sp>
        <p:nvSpPr>
          <p:cNvPr id="37" name="Text 32"/>
          <p:cNvSpPr/>
          <p:nvPr/>
        </p:nvSpPr>
        <p:spPr>
          <a:xfrm>
            <a:off x="5496602" y="2201763"/>
            <a:ext cx="2372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$32M</a:t>
            </a:r>
            <a:endParaRPr lang="en-US" sz="680" dirty="0"/>
          </a:p>
        </p:txBody>
      </p:sp>
      <p:sp>
        <p:nvSpPr>
          <p:cNvPr id="38" name="Text 33"/>
          <p:cNvSpPr/>
          <p:nvPr/>
        </p:nvSpPr>
        <p:spPr>
          <a:xfrm>
            <a:off x="5358110" y="3152775"/>
            <a:ext cx="514350" cy="1116181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5358110" y="2360414"/>
            <a:ext cx="514350" cy="871597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$14M</a:t>
            </a:r>
            <a:endParaRPr lang="en-US" sz="620" dirty="0"/>
          </a:p>
        </p:txBody>
      </p:sp>
      <p:sp>
        <p:nvSpPr>
          <p:cNvPr id="40" name="Text 35"/>
          <p:cNvSpPr/>
          <p:nvPr/>
        </p:nvSpPr>
        <p:spPr>
          <a:xfrm>
            <a:off x="551229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30" dirty="0"/>
          </a:p>
        </p:txBody>
      </p:sp>
      <p:sp>
        <p:nvSpPr>
          <p:cNvPr id="41" name="Text 36"/>
          <p:cNvSpPr/>
          <p:nvPr/>
        </p:nvSpPr>
        <p:spPr>
          <a:xfrm>
            <a:off x="5571827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560" dirty="0"/>
          </a:p>
        </p:txBody>
      </p:sp>
      <p:sp>
        <p:nvSpPr>
          <p:cNvPr id="42" name="Text 37"/>
          <p:cNvSpPr/>
          <p:nvPr/>
        </p:nvSpPr>
        <p:spPr>
          <a:xfrm>
            <a:off x="8092671" y="1772989"/>
            <a:ext cx="3308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$110M</a:t>
            </a:r>
            <a:endParaRPr lang="en-US" sz="790" dirty="0"/>
          </a:p>
        </p:txBody>
      </p:sp>
      <p:sp>
        <p:nvSpPr>
          <p:cNvPr id="43" name="Text 38"/>
          <p:cNvSpPr/>
          <p:nvPr/>
        </p:nvSpPr>
        <p:spPr>
          <a:xfrm>
            <a:off x="8001000" y="3131195"/>
            <a:ext cx="514350" cy="1036290"/>
          </a:xfrm>
          <a:custGeom>
            <a:avLst/>
            <a:gdLst/>
            <a:ahLst/>
            <a:cxnLst/>
            <a:rect l="l" t="t" r="r" b="b"/>
            <a:pathLst>
              <a:path w="514350" h="1036290">
                <a:moveTo>
                  <a:pt x="0" y="0"/>
                </a:moveTo>
                <a:lnTo>
                  <a:pt x="0" y="993110"/>
                </a:lnTo>
                <a:lnTo>
                  <a:pt x="830" y="1001534"/>
                </a:lnTo>
                <a:lnTo>
                  <a:pt x="3287" y="1009635"/>
                </a:lnTo>
                <a:lnTo>
                  <a:pt x="7277" y="1017100"/>
                </a:lnTo>
                <a:lnTo>
                  <a:pt x="12647" y="1023643"/>
                </a:lnTo>
                <a:lnTo>
                  <a:pt x="19190" y="1029013"/>
                </a:lnTo>
                <a:lnTo>
                  <a:pt x="26656" y="1033003"/>
                </a:lnTo>
                <a:lnTo>
                  <a:pt x="34756" y="1035461"/>
                </a:lnTo>
                <a:lnTo>
                  <a:pt x="43180" y="1036290"/>
                </a:lnTo>
                <a:lnTo>
                  <a:pt x="471170" y="1036290"/>
                </a:lnTo>
                <a:lnTo>
                  <a:pt x="479594" y="1035461"/>
                </a:lnTo>
                <a:lnTo>
                  <a:pt x="487694" y="1033003"/>
                </a:lnTo>
                <a:lnTo>
                  <a:pt x="495160" y="1029013"/>
                </a:lnTo>
                <a:lnTo>
                  <a:pt x="501703" y="1023643"/>
                </a:lnTo>
                <a:lnTo>
                  <a:pt x="507073" y="1017100"/>
                </a:lnTo>
                <a:lnTo>
                  <a:pt x="511063" y="1009635"/>
                </a:lnTo>
                <a:lnTo>
                  <a:pt x="513520" y="1001534"/>
                </a:lnTo>
                <a:lnTo>
                  <a:pt x="514350" y="993110"/>
                </a:lnTo>
                <a:lnTo>
                  <a:pt x="514350" y="0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8001000" y="3131195"/>
            <a:ext cx="514350" cy="1139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$52M</a:t>
            </a:r>
            <a:endParaRPr lang="en-US" sz="730" dirty="0"/>
          </a:p>
        </p:txBody>
      </p:sp>
      <p:sp>
        <p:nvSpPr>
          <p:cNvPr id="45" name="Text 40"/>
          <p:cNvSpPr/>
          <p:nvPr/>
        </p:nvSpPr>
        <p:spPr>
          <a:xfrm>
            <a:off x="8001000" y="1952774"/>
            <a:ext cx="514350" cy="1296263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$58M</a:t>
            </a:r>
            <a:endParaRPr lang="en-US" sz="730" dirty="0"/>
          </a:p>
        </p:txBody>
      </p:sp>
      <p:sp>
        <p:nvSpPr>
          <p:cNvPr id="46" name="Text 41"/>
          <p:cNvSpPr/>
          <p:nvPr/>
        </p:nvSpPr>
        <p:spPr>
          <a:xfrm>
            <a:off x="815518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730" dirty="0"/>
          </a:p>
        </p:txBody>
      </p:sp>
      <p:sp>
        <p:nvSpPr>
          <p:cNvPr id="47" name="Text 42"/>
          <p:cNvSpPr/>
          <p:nvPr/>
        </p:nvSpPr>
        <p:spPr>
          <a:xfrm>
            <a:off x="8214717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Y7</a:t>
            </a:r>
            <a:endParaRPr lang="en-US" sz="560" dirty="0"/>
          </a:p>
        </p:txBody>
      </p:sp>
      <p:sp>
        <p:nvSpPr>
          <p:cNvPr id="48" name="Text 43"/>
          <p:cNvSpPr/>
          <p:nvPr/>
        </p:nvSpPr>
        <p:spPr>
          <a:xfrm>
            <a:off x="400050" y="4814590"/>
            <a:ext cx="8510778" cy="157460"/>
          </a:xfrm>
          <a:prstGeom prst="rect">
            <a:avLst/>
          </a:prstGeom>
          <a:noFill/>
          <a:ln/>
        </p:spPr>
        <p:txBody>
          <a:bodyPr wrap="none" lIns="0" tIns="43180" rIns="0" bIns="0" rtlCol="0" anchor="t"/>
          <a:lstStyle/>
          <a:p>
            <a:pPr marL="0" indent="0" algn="l">
              <a:buNone/>
            </a:pPr>
            <a:r>
              <a:rPr lang="en-US" sz="59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based on 0.005% of live website TAM at scale. White-label OEM revenue not included in base case. Enterprise license assumed at 3% of total package volume.</a:t>
            </a:r>
            <a:endParaRPr lang="en-US" sz="590" dirty="0"/>
          </a:p>
        </p:txBody>
      </p:sp>
      <p:sp>
        <p:nvSpPr>
          <p:cNvPr id="49" name="Text 44"/>
          <p:cNvSpPr/>
          <p:nvPr/>
        </p:nvSpPr>
        <p:spPr>
          <a:xfrm>
            <a:off x="400050" y="4814590"/>
            <a:ext cx="8343900" cy="9525"/>
          </a:xfrm>
          <a:prstGeom prst="rect">
            <a:avLst/>
          </a:prstGeom>
          <a:solidFill>
            <a:srgbClr val="645AB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1656904"/>
            <a:ext cx="2638720" cy="13841"/>
          </a:xfrm>
          <a:custGeom>
            <a:avLst/>
            <a:gdLst/>
            <a:ahLst/>
            <a:cxnLst/>
            <a:rect l="l" t="t" r="r" b="b"/>
            <a:pathLst>
              <a:path w="2638720" h="13841">
                <a:moveTo>
                  <a:pt x="86360" y="0"/>
                </a:moveTo>
                <a:lnTo>
                  <a:pt x="2552360" y="0"/>
                </a:lnTo>
                <a:lnTo>
                  <a:pt x="2569560" y="1730"/>
                </a:lnTo>
                <a:lnTo>
                  <a:pt x="2576561" y="3460"/>
                </a:lnTo>
                <a:lnTo>
                  <a:pt x="2581848" y="5190"/>
                </a:lnTo>
                <a:lnTo>
                  <a:pt x="2586234" y="6920"/>
                </a:lnTo>
                <a:lnTo>
                  <a:pt x="2590034" y="8651"/>
                </a:lnTo>
                <a:lnTo>
                  <a:pt x="2593411" y="10381"/>
                </a:lnTo>
                <a:lnTo>
                  <a:pt x="2596464" y="12111"/>
                </a:lnTo>
                <a:lnTo>
                  <a:pt x="25992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52639" y="1656904"/>
            <a:ext cx="2638720" cy="13841"/>
          </a:xfrm>
          <a:custGeom>
            <a:avLst/>
            <a:gdLst/>
            <a:ahLst/>
            <a:cxnLst/>
            <a:rect l="l" t="t" r="r" b="b"/>
            <a:pathLst>
              <a:path w="2638720" h="13841">
                <a:moveTo>
                  <a:pt x="86360" y="0"/>
                </a:moveTo>
                <a:lnTo>
                  <a:pt x="2552360" y="0"/>
                </a:lnTo>
                <a:lnTo>
                  <a:pt x="2569560" y="1730"/>
                </a:lnTo>
                <a:lnTo>
                  <a:pt x="2576561" y="3460"/>
                </a:lnTo>
                <a:lnTo>
                  <a:pt x="2581848" y="5190"/>
                </a:lnTo>
                <a:lnTo>
                  <a:pt x="2586234" y="6920"/>
                </a:lnTo>
                <a:lnTo>
                  <a:pt x="2590034" y="8651"/>
                </a:lnTo>
                <a:lnTo>
                  <a:pt x="2593411" y="10381"/>
                </a:lnTo>
                <a:lnTo>
                  <a:pt x="2596464" y="12111"/>
                </a:lnTo>
                <a:lnTo>
                  <a:pt x="25992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38552" y="1656904"/>
            <a:ext cx="2638720" cy="13841"/>
          </a:xfrm>
          <a:custGeom>
            <a:avLst/>
            <a:gdLst/>
            <a:ahLst/>
            <a:cxnLst/>
            <a:rect l="l" t="t" r="r" b="b"/>
            <a:pathLst>
              <a:path w="2638720" h="13841">
                <a:moveTo>
                  <a:pt x="86360" y="0"/>
                </a:moveTo>
                <a:lnTo>
                  <a:pt x="2552360" y="0"/>
                </a:lnTo>
                <a:lnTo>
                  <a:pt x="2569560" y="1730"/>
                </a:lnTo>
                <a:lnTo>
                  <a:pt x="2576561" y="3460"/>
                </a:lnTo>
                <a:lnTo>
                  <a:pt x="2581848" y="5190"/>
                </a:lnTo>
                <a:lnTo>
                  <a:pt x="2586234" y="6920"/>
                </a:lnTo>
                <a:lnTo>
                  <a:pt x="2590034" y="8651"/>
                </a:lnTo>
                <a:lnTo>
                  <a:pt x="2593411" y="10381"/>
                </a:lnTo>
                <a:lnTo>
                  <a:pt x="2596464" y="12111"/>
                </a:lnTo>
                <a:lnTo>
                  <a:pt x="25992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8000" r="50000" b="42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2D3EE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58000" r="50000" b="42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0818">
                  <a:alpha val="55000"/>
                </a:srgbClr>
              </a:gs>
              <a:gs pos="60000">
                <a:srgbClr val="080818">
                  <a:alpha val="80000"/>
                </a:srgbClr>
              </a:gs>
              <a:gs pos="100000">
                <a:srgbClr val="080818">
                  <a:alpha val="98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90888" y="257770"/>
            <a:ext cx="2613318" cy="206871"/>
          </a:xfrm>
          <a:prstGeom prst="roundRect">
            <a:avLst>
              <a:gd name="adj" fmla="val 69372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>
                <a:alpha val="45000"/>
              </a:srgbClr>
            </a:solidFill>
          </a:ln>
        </p:spPr>
        <p:txBody>
          <a:bodyPr wrap="none" lIns="114300" tIns="29210" rIns="114300" bIns="2921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82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 · ORB WEAVER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438448" y="564952"/>
            <a:ext cx="6267105" cy="72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14"/>
              </a:lnSpc>
              <a:spcAft>
                <a:spcPts val="340"/>
              </a:spcAft>
              <a:buNone/>
            </a:pPr>
            <a:r>
              <a:rPr lang="en-US" sz="2360" kern="0" spc="-24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Are Building the </a:t>
            </a:r>
            <a:r>
              <a:rPr lang="en-US" sz="2360" kern="0" spc="-24" dirty="0">
                <a:gradFill rotWithShape="1">
                  <a:gsLst>
                    <a:gs pos="0">
                      <a:srgbClr val="C4B5FD"/>
                    </a:gs>
                    <a:gs pos="50000">
                      <a:srgbClr val="8B5CF6"/>
                    </a:gs>
                    <a:gs pos="100000">
                      <a:srgbClr val="22D3EE"/>
                    </a:gs>
                  </a:gsLst>
                  <a:lin ang="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Intelligence Layer</a:t>
            </a:r>
            <a:r>
              <a:rPr lang="en-US" sz="2360" kern="0" spc="-24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of the Agentic Web.</a:t>
            </a:r>
            <a:endParaRPr lang="en-US" sz="2360" dirty="0"/>
          </a:p>
        </p:txBody>
      </p:sp>
      <p:sp>
        <p:nvSpPr>
          <p:cNvPr id="11" name="Text 8"/>
          <p:cNvSpPr/>
          <p:nvPr/>
        </p:nvSpPr>
        <p:spPr>
          <a:xfrm>
            <a:off x="2994816" y="1297484"/>
            <a:ext cx="315421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5"/>
              </a:lnSpc>
              <a:spcAft>
                <a:spcPts val="1240"/>
              </a:spcAft>
              <a:buNone/>
            </a:pPr>
            <a:r>
              <a:rPr lang="en-US" sz="1010" i="1" kern="0" spc="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needs a map.  We build the map.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457200" y="1647379"/>
            <a:ext cx="2657773" cy="1834753"/>
          </a:xfrm>
          <a:prstGeom prst="roundRect">
            <a:avLst>
              <a:gd name="adj" fmla="val 4707"/>
            </a:avLst>
          </a:prstGeom>
          <a:solidFill>
            <a:srgbClr val="13132B">
              <a:alpha val="88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982" y="1845171"/>
            <a:ext cx="139005" cy="1390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4185" y="2099965"/>
            <a:ext cx="2370278" cy="395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240" b="1" dirty="0">
                <a:gradFill rotWithShape="1">
                  <a:gsLst>
                    <a:gs pos="0">
                      <a:srgbClr val="C4B5FD"/>
                    </a:gs>
                    <a:gs pos="100000">
                      <a:srgbClr val="22D3EE"/>
                    </a:gs>
                  </a:gsLst>
                  <a:lin ang="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$3.5M Pre-Seed Round</a:t>
            </a:r>
            <a:r>
              <a:rPr lang="en-US" sz="960" b="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Currently Open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624185" y="2547789"/>
            <a:ext cx="228600" cy="759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4185" y="2626370"/>
            <a:ext cx="2370278" cy="7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valuation:</a:t>
            </a: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$18M</a:t>
            </a:r>
            <a:br/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</a:t>
            </a:r>
            <a:br/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Join at the inflection point — before the agentic web demands the infrastructure we are already building.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3243114" y="1647379"/>
            <a:ext cx="2657773" cy="1834753"/>
          </a:xfrm>
          <a:prstGeom prst="roundRect">
            <a:avLst>
              <a:gd name="adj" fmla="val 4707"/>
            </a:avLst>
          </a:prstGeom>
          <a:solidFill>
            <a:srgbClr val="13132B">
              <a:alpha val="88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4896" y="1845171"/>
            <a:ext cx="139005" cy="1390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10099" y="2099965"/>
            <a:ext cx="25561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of Funds</a:t>
            </a:r>
            <a:endParaRPr lang="en-US" sz="960" dirty="0"/>
          </a:p>
        </p:txBody>
      </p:sp>
      <p:sp>
        <p:nvSpPr>
          <p:cNvPr id="20" name="Text 15"/>
          <p:cNvSpPr/>
          <p:nvPr/>
        </p:nvSpPr>
        <p:spPr>
          <a:xfrm>
            <a:off x="3410099" y="2329309"/>
            <a:ext cx="228600" cy="759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410099" y="2407890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680" dirty="0"/>
          </a:p>
        </p:txBody>
      </p:sp>
      <p:sp>
        <p:nvSpPr>
          <p:cNvPr id="22" name="Text 17"/>
          <p:cNvSpPr/>
          <p:nvPr/>
        </p:nvSpPr>
        <p:spPr>
          <a:xfrm>
            <a:off x="4395490" y="2458045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395490" y="2458045"/>
            <a:ext cx="540246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513219" y="2413546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3410099" y="2580531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4395490" y="2630686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395490" y="2630686"/>
            <a:ext cx="270123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22D3EE"/>
              </a:gs>
              <a:gs pos="100000">
                <a:srgbClr val="67E8F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513219" y="2586186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3410099" y="2753171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Dev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4395490" y="2803327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395490" y="2803327"/>
            <a:ext cx="162074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A78BFA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513219" y="2758827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3410099" y="2925812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80" dirty="0"/>
          </a:p>
        </p:txBody>
      </p:sp>
      <p:sp>
        <p:nvSpPr>
          <p:cNvPr id="34" name="Text 29"/>
          <p:cNvSpPr/>
          <p:nvPr/>
        </p:nvSpPr>
        <p:spPr>
          <a:xfrm>
            <a:off x="4395490" y="2975967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395490" y="2975967"/>
            <a:ext cx="108049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34D399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513219" y="2931468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20" dirty="0"/>
          </a:p>
        </p:txBody>
      </p:sp>
      <p:sp>
        <p:nvSpPr>
          <p:cNvPr id="37" name="Text 32"/>
          <p:cNvSpPr/>
          <p:nvPr/>
        </p:nvSpPr>
        <p:spPr>
          <a:xfrm>
            <a:off x="6029027" y="1647379"/>
            <a:ext cx="2657773" cy="1834753"/>
          </a:xfrm>
          <a:prstGeom prst="roundRect">
            <a:avLst>
              <a:gd name="adj" fmla="val 4707"/>
            </a:avLst>
          </a:prstGeom>
          <a:solidFill>
            <a:srgbClr val="13132B">
              <a:alpha val="88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0810" y="1845171"/>
            <a:ext cx="139005" cy="13900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196013" y="2099965"/>
            <a:ext cx="25561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Moat</a:t>
            </a:r>
            <a:endParaRPr lang="en-US" sz="960" dirty="0"/>
          </a:p>
        </p:txBody>
      </p:sp>
      <p:sp>
        <p:nvSpPr>
          <p:cNvPr id="40" name="Text 34"/>
          <p:cNvSpPr/>
          <p:nvPr/>
        </p:nvSpPr>
        <p:spPr>
          <a:xfrm>
            <a:off x="6196013" y="2329309"/>
            <a:ext cx="228600" cy="759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6296323" y="2407890"/>
            <a:ext cx="226796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pointer system for machine-readable site knowledge</a:t>
            </a:r>
            <a:endParaRPr lang="en-US" sz="730" dirty="0"/>
          </a:p>
        </p:txBody>
      </p:sp>
      <p:sp>
        <p:nvSpPr>
          <p:cNvPr id="42" name="Text 36"/>
          <p:cNvSpPr/>
          <p:nvPr/>
        </p:nvSpPr>
        <p:spPr>
          <a:xfrm>
            <a:off x="6196013" y="2437061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blurRad="43180" dist="50800" dir="16200000" algn="bl" rotWithShape="0">
              <a:srgbClr val="8B5CF6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296323" y="2716857"/>
            <a:ext cx="226796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World compilation IP — the only structured map of agentic surface area</a:t>
            </a:r>
            <a:endParaRPr lang="en-US" sz="730" dirty="0"/>
          </a:p>
        </p:txBody>
      </p:sp>
      <p:sp>
        <p:nvSpPr>
          <p:cNvPr id="44" name="Text 38"/>
          <p:cNvSpPr/>
          <p:nvPr/>
        </p:nvSpPr>
        <p:spPr>
          <a:xfrm>
            <a:off x="6196013" y="2746028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blurRad="43180" dist="50800" dir="16200000" algn="bl" rotWithShape="0">
              <a:srgbClr val="8B5CF6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96323" y="3025825"/>
            <a:ext cx="226796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position in agentic site intelligence at infrastructure layer</a:t>
            </a:r>
            <a:endParaRPr lang="en-US" sz="730" dirty="0"/>
          </a:p>
        </p:txBody>
      </p:sp>
      <p:sp>
        <p:nvSpPr>
          <p:cNvPr id="46" name="Text 40"/>
          <p:cNvSpPr/>
          <p:nvPr/>
        </p:nvSpPr>
        <p:spPr>
          <a:xfrm>
            <a:off x="6196013" y="3054995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blurRad="43180" dist="50800" dir="16200000" algn="bl" rotWithShape="0">
              <a:srgbClr val="8B5CF6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3747492" y="3625602"/>
            <a:ext cx="18135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34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the map with us?</a:t>
            </a:r>
            <a:endParaRPr lang="en-US" sz="840" dirty="0"/>
          </a:p>
        </p:txBody>
      </p:sp>
      <p:sp>
        <p:nvSpPr>
          <p:cNvPr id="48" name="Text 42"/>
          <p:cNvSpPr/>
          <p:nvPr/>
        </p:nvSpPr>
        <p:spPr>
          <a:xfrm>
            <a:off x="3068985" y="3828752"/>
            <a:ext cx="1576795" cy="304800"/>
          </a:xfrm>
          <a:prstGeom prst="roundRect">
            <a:avLst>
              <a:gd name="adj" fmla="val 70417"/>
            </a:avLst>
          </a:prstGeom>
          <a:gradFill rotWithShape="1">
            <a:gsLst>
              <a:gs pos="0">
                <a:srgbClr val="8B5CF6">
                  <a:alpha val="25000"/>
                </a:srgbClr>
              </a:gs>
              <a:gs pos="100000">
                <a:srgbClr val="22D3EE">
                  <a:alpha val="15000"/>
                </a:srgbClr>
              </a:gs>
            </a:gsLst>
            <a:lin ang="2700000" scaled="1"/>
          </a:gradFill>
          <a:ln w="9525">
            <a:solidFill>
              <a:srgbClr val="8B5CF6">
                <a:alpha val="50000"/>
              </a:srgbClr>
            </a:solidFill>
          </a:ln>
        </p:spPr>
        <p:txBody>
          <a:bodyPr wrap="none" lIns="308521" tIns="57150" rIns="171450" bIns="57150" rtlCol="0" anchor="ctr"/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hello@orbweaver.io</a:t>
            </a:r>
            <a:endParaRPr lang="en-US" sz="9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23626" y="3914784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4743004" y="3966567"/>
            <a:ext cx="29170" cy="29170"/>
          </a:xfrm>
          <a:prstGeom prst="ellipse">
            <a:avLst/>
          </a:prstGeom>
          <a:solidFill>
            <a:srgbClr val="8B5CF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4900315" y="3828752"/>
            <a:ext cx="1198043" cy="304800"/>
          </a:xfrm>
          <a:prstGeom prst="roundRect">
            <a:avLst>
              <a:gd name="adj" fmla="val 70417"/>
            </a:avLst>
          </a:prstGeom>
          <a:gradFill rotWithShape="1">
            <a:gsLst>
              <a:gs pos="0">
                <a:srgbClr val="8B5CF6">
                  <a:alpha val="25000"/>
                </a:srgbClr>
              </a:gs>
              <a:gs pos="100000">
                <a:srgbClr val="22D3EE">
                  <a:alpha val="15000"/>
                </a:srgbClr>
              </a:gs>
            </a:gsLst>
            <a:lin ang="2700000" scaled="1"/>
          </a:gradFill>
          <a:ln w="9525">
            <a:solidFill>
              <a:srgbClr val="8B5CF6">
                <a:alpha val="50000"/>
              </a:srgbClr>
            </a:solidFill>
          </a:ln>
        </p:spPr>
        <p:txBody>
          <a:bodyPr wrap="none" lIns="308521" tIns="57150" rIns="171450" bIns="57150" rtlCol="0" anchor="ctr"/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orbweaver.io</a:t>
            </a:r>
            <a:endParaRPr lang="en-US" sz="90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4956" y="3914784"/>
            <a:ext cx="132588" cy="132588"/>
          </a:xfrm>
          <a:prstGeom prst="rect">
            <a:avLst/>
          </a:prstGeom>
        </p:spPr>
      </p:pic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0240" y="4903821"/>
            <a:ext cx="132588" cy="132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2945271" y="4911179"/>
            <a:ext cx="339290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9090B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financials and technical documentation available under NDA.  ·  Jul 25, 2026.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2626</Words>
  <Application>Microsoft Office PowerPoint</Application>
  <PresentationFormat>On-screen Show (16:9)</PresentationFormat>
  <Paragraphs>294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Bryan Spruk</cp:lastModifiedBy>
  <cp:revision>2</cp:revision>
  <dcterms:created xsi:type="dcterms:W3CDTF">2026-08-20T20:21:23Z</dcterms:created>
  <dcterms:modified xsi:type="dcterms:W3CDTF">2026-08-20T20:38:47Z</dcterms:modified>
</cp:coreProperties>
</file>