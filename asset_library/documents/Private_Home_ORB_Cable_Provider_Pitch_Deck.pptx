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high_tech_night_time_scene_of_a_batch_3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814">
              <a:alpha val="7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7498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8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CABLE DID NOT LOSE THE HOME — IT LOST THE TV NARRATIVE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85800" y="1152144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Private Home ORB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713232" y="1901952"/>
            <a:ext cx="55778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8D3E0"/>
                </a:solidFill>
              </a:rPr>
              <a:t>A local-only household AI appliance each cable provider can install, service, and own as the next generation of home infrastructure.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13232" y="3063240"/>
            <a:ext cx="2240280" cy="402336"/>
          </a:xfrm>
          <a:prstGeom prst="roundRect">
            <a:avLst>
              <a:gd name="adj" fmla="val 27273"/>
            </a:avLst>
          </a:prstGeom>
          <a:solidFill>
            <a:srgbClr val="BD1F2D">
              <a:alpha val="95000"/>
            </a:srgbClr>
          </a:solidFill>
          <a:ln w="12700">
            <a:solidFill>
              <a:srgbClr val="68E8FF">
                <a:alpha val="7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3136392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NO FAANG AI DEPENDENCY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154680" y="3063240"/>
            <a:ext cx="1645920" cy="402336"/>
          </a:xfrm>
          <a:prstGeom prst="roundRect">
            <a:avLst>
              <a:gd name="adj" fmla="val 27273"/>
            </a:avLst>
          </a:prstGeom>
          <a:solidFill>
            <a:srgbClr val="1877F2">
              <a:alpha val="95000"/>
            </a:srgbClr>
          </a:solidFill>
          <a:ln w="12700">
            <a:solidFill>
              <a:srgbClr val="68E8FF">
                <a:alpha val="7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64408" y="313639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LOCAL MEMORY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983480" y="3063240"/>
            <a:ext cx="1508760" cy="402336"/>
          </a:xfrm>
          <a:prstGeom prst="roundRect">
            <a:avLst>
              <a:gd name="adj" fmla="val 27273"/>
            </a:avLst>
          </a:prstGeom>
          <a:solidFill>
            <a:srgbClr val="1877F2">
              <a:alpha val="95000"/>
            </a:srgbClr>
          </a:solidFill>
          <a:ln w="12700">
            <a:solidFill>
              <a:srgbClr val="68E8FF">
                <a:alpha val="7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93208" y="313639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FAMILY ORBS</a:t>
            </a:r>
            <a:endParaRPr lang="en-US" sz="1050" dirty="0"/>
          </a:p>
        </p:txBody>
      </p:sp>
      <p:pic>
        <p:nvPicPr>
          <p:cNvPr id="13" name="Image 1" descr="/mnt/data/orbframes/frame_003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646920" y="4315968"/>
            <a:ext cx="1627632" cy="162763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 rot="1080000">
            <a:off x="9592056" y="4261104"/>
            <a:ext cx="1737360" cy="1737360"/>
          </a:xfrm>
          <a:prstGeom prst="arc">
            <a:avLst/>
          </a:prstGeom>
          <a:noFill/>
          <a:ln w="13970">
            <a:solidFill>
              <a:srgbClr val="68E8FF">
                <a:alpha val="5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8DA5"/>
                </a:solidFill>
              </a:rPr>
              <a:t>Confidential concept pitch · Bryan Spruk / Spruked Systems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201400" cy="0"/>
          </a:xfrm>
          <a:prstGeom prst="line">
            <a:avLst/>
          </a:prstGeom>
          <a:noFill/>
          <a:ln w="12700">
            <a:solidFill>
              <a:srgbClr val="1E4E68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4008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8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005840"/>
            <a:ext cx="5623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Cable needs a new reason to be in the home.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13232" y="2267712"/>
            <a:ext cx="580644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C8D3E0"/>
                </a:solidFill>
              </a:rPr>
              <a:t>Cord-cutting and fixed wireless pressure are making the old bundle weaker. The strongest remaining asset is still physical presence: broadband, gateways, technicians, billing, and trust.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903720" y="1115568"/>
            <a:ext cx="2148840" cy="1325880"/>
          </a:xfrm>
          <a:prstGeom prst="roundRect">
            <a:avLst>
              <a:gd name="adj" fmla="val 11034"/>
            </a:avLst>
          </a:prstGeom>
          <a:solidFill>
            <a:srgbClr val="0D1324">
              <a:alpha val="96000"/>
            </a:srgbClr>
          </a:solidFill>
          <a:ln w="15240">
            <a:solidFill>
              <a:srgbClr val="68E8FF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68312" y="1261872"/>
            <a:ext cx="1819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8E8FF"/>
                </a:solidFill>
              </a:rPr>
              <a:t>Old battleground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068312" y="1645920"/>
            <a:ext cx="18196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TV bundles and streaming competition.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9281160" y="1115568"/>
            <a:ext cx="2148840" cy="1325880"/>
          </a:xfrm>
          <a:prstGeom prst="roundRect">
            <a:avLst>
              <a:gd name="adj" fmla="val 11034"/>
            </a:avLst>
          </a:prstGeom>
          <a:solidFill>
            <a:srgbClr val="0D1324">
              <a:alpha val="96000"/>
            </a:srgbClr>
          </a:solidFill>
          <a:ln w="15240">
            <a:solidFill>
              <a:srgbClr val="68E8FF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45752" y="1261872"/>
            <a:ext cx="1819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8E8FF"/>
                </a:solidFill>
              </a:rPr>
              <a:t>New battleground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445752" y="1645920"/>
            <a:ext cx="18196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Private intelligence inside the home.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6903720" y="2834640"/>
            <a:ext cx="2148840" cy="1325880"/>
          </a:xfrm>
          <a:prstGeom prst="roundRect">
            <a:avLst>
              <a:gd name="adj" fmla="val 11034"/>
            </a:avLst>
          </a:prstGeom>
          <a:solidFill>
            <a:srgbClr val="0D1324">
              <a:alpha val="96000"/>
            </a:srgbClr>
          </a:solidFill>
          <a:ln w="15240">
            <a:solidFill>
              <a:srgbClr val="68E8FF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68312" y="2980944"/>
            <a:ext cx="1819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8E8FF"/>
                </a:solidFill>
              </a:rPr>
              <a:t>Cable advantage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068312" y="3364992"/>
            <a:ext cx="18196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Installed hardware + field service + network relationship.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9281160" y="2834640"/>
            <a:ext cx="2148840" cy="1325880"/>
          </a:xfrm>
          <a:prstGeom prst="roundRect">
            <a:avLst>
              <a:gd name="adj" fmla="val 11034"/>
            </a:avLst>
          </a:prstGeom>
          <a:solidFill>
            <a:srgbClr val="0D1324">
              <a:alpha val="96000"/>
            </a:srgbClr>
          </a:solidFill>
          <a:ln w="15240">
            <a:solidFill>
              <a:srgbClr val="68E8FF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45752" y="2980944"/>
            <a:ext cx="1819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8E8FF"/>
                </a:solidFill>
              </a:rPr>
              <a:t>Strategic shift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445752" y="3364992"/>
            <a:ext cx="18196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From content distributor to household AI infrastructure provider.</a:t>
            </a:r>
            <a:endParaRPr lang="en-US" sz="1320" dirty="0"/>
          </a:p>
        </p:txBody>
      </p:sp>
      <p:pic>
        <p:nvPicPr>
          <p:cNvPr id="18" name="Image 0" descr="/mnt/data/orbframes/frame_00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4983480"/>
            <a:ext cx="1051560" cy="105156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 rot="1080000">
            <a:off x="813816" y="4928616"/>
            <a:ext cx="1161288" cy="1161288"/>
          </a:xfrm>
          <a:prstGeom prst="arc">
            <a:avLst/>
          </a:prstGeom>
          <a:noFill/>
          <a:ln w="13970">
            <a:solidFill>
              <a:srgbClr val="68E8FF">
                <a:alpha val="5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623620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73849A"/>
                </a:solidFill>
              </a:rPr>
              <a:t>Sources: Leichtman/Benton on broadband mix and fixed-wireless gains; Apprupt/Omdia on pay-TV shift; Reuters on Charter/Cox consolidation.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inematic_photoreal_futuristic_home_interior_s_batch_1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814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64008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8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OFFER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85800" y="987552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private AI server the cable provider can install.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713232" y="2331720"/>
            <a:ext cx="52578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C8D3E0"/>
                </a:solidFill>
              </a:rPr>
              <a:t>Local inference. Local memory. Local voice. Separate household personas. The provider owns installation, support, updates, replacement logistics, and recurring service packaging.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713232" y="3950208"/>
            <a:ext cx="2103120" cy="960120"/>
          </a:xfrm>
          <a:prstGeom prst="roundRect">
            <a:avLst>
              <a:gd name="adj" fmla="val 15238"/>
            </a:avLst>
          </a:prstGeom>
          <a:solidFill>
            <a:srgbClr val="0D1324">
              <a:alpha val="96000"/>
            </a:srgbClr>
          </a:solidFill>
          <a:ln w="15240">
            <a:solidFill>
              <a:srgbClr val="68E8FF">
                <a:alpha val="6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" y="4096512"/>
            <a:ext cx="1773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8E8FF"/>
                </a:solidFill>
              </a:rPr>
              <a:t>Not a smart speaker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77824" y="4480560"/>
            <a:ext cx="17739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A household compute appliance, not a cloud mic.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3035808" y="3950208"/>
            <a:ext cx="2103120" cy="960120"/>
          </a:xfrm>
          <a:prstGeom prst="roundRect">
            <a:avLst>
              <a:gd name="adj" fmla="val 15238"/>
            </a:avLst>
          </a:prstGeom>
          <a:solidFill>
            <a:srgbClr val="0D1324">
              <a:alpha val="96000"/>
            </a:srgbClr>
          </a:solidFill>
          <a:ln w="15240">
            <a:solidFill>
              <a:srgbClr val="68E8FF">
                <a:alpha val="6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0" y="4096512"/>
            <a:ext cx="1773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8E8FF"/>
                </a:solidFill>
              </a:rPr>
              <a:t>Not a cloud app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3200400" y="4480560"/>
            <a:ext cx="17739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Works under local authority first.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5358384" y="3950208"/>
            <a:ext cx="2103120" cy="960120"/>
          </a:xfrm>
          <a:prstGeom prst="roundRect">
            <a:avLst>
              <a:gd name="adj" fmla="val 15238"/>
            </a:avLst>
          </a:prstGeom>
          <a:solidFill>
            <a:srgbClr val="0D1324">
              <a:alpha val="96000"/>
            </a:srgbClr>
          </a:solidFill>
          <a:ln w="15240">
            <a:solidFill>
              <a:srgbClr val="68E8FF">
                <a:alpha val="6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22976" y="4096512"/>
            <a:ext cx="1773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8E8FF"/>
                </a:solidFill>
              </a:rPr>
              <a:t>Not another TV bundle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522976" y="4480560"/>
            <a:ext cx="17739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A new home infrastructure layer.</a:t>
            </a:r>
            <a:endParaRPr lang="en-US" sz="1320" dirty="0"/>
          </a:p>
        </p:txBody>
      </p:sp>
      <p:sp>
        <p:nvSpPr>
          <p:cNvPr id="16" name="Text 13"/>
          <p:cNvSpPr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8DA5"/>
                </a:solidFill>
              </a:rPr>
              <a:t>Spruked Systems · Private Home ORB · Cable Provider Concept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etailed_cinematic_interior_exterior_cutaway_sc_batch_2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814">
              <a:alpha val="7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64008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8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HOUSEHOLD BUYS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85800" y="896112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server. A separate ORB for each person.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713232" y="2331720"/>
            <a:ext cx="2331720" cy="1097280"/>
          </a:xfrm>
          <a:prstGeom prst="roundRect">
            <a:avLst>
              <a:gd name="adj" fmla="val 13333"/>
            </a:avLst>
          </a:prstGeom>
          <a:solidFill>
            <a:srgbClr val="0D1324">
              <a:alpha val="96000"/>
            </a:srgbClr>
          </a:solidFill>
          <a:ln w="15240">
            <a:solidFill>
              <a:srgbClr val="68E8FF">
                <a:alpha val="6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7824" y="2478024"/>
            <a:ext cx="2002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8E8FF"/>
                </a:solidFill>
              </a:rPr>
              <a:t>Jimmy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77824" y="2862072"/>
            <a:ext cx="2002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Tutor, homework helper, learning continuity.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3246120" y="2331720"/>
            <a:ext cx="2331720" cy="1097280"/>
          </a:xfrm>
          <a:prstGeom prst="roundRect">
            <a:avLst>
              <a:gd name="adj" fmla="val 13333"/>
            </a:avLst>
          </a:prstGeom>
          <a:solidFill>
            <a:srgbClr val="0D1324">
              <a:alpha val="96000"/>
            </a:srgbClr>
          </a:solidFill>
          <a:ln w="15240">
            <a:solidFill>
              <a:srgbClr val="68E8FF">
                <a:alpha val="6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10712" y="2478024"/>
            <a:ext cx="2002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8E8FF"/>
                </a:solidFill>
              </a:rPr>
              <a:t>Mom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3410712" y="2862072"/>
            <a:ext cx="2002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Recipes, household routines, meal planning, reminders.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713232" y="3749040"/>
            <a:ext cx="2331720" cy="1097280"/>
          </a:xfrm>
          <a:prstGeom prst="roundRect">
            <a:avLst>
              <a:gd name="adj" fmla="val 13333"/>
            </a:avLst>
          </a:prstGeom>
          <a:solidFill>
            <a:srgbClr val="0D1324">
              <a:alpha val="96000"/>
            </a:srgbClr>
          </a:solidFill>
          <a:ln w="15240">
            <a:solidFill>
              <a:srgbClr val="68E8FF">
                <a:alpha val="6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7824" y="3895344"/>
            <a:ext cx="2002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8E8FF"/>
                </a:solidFill>
              </a:rPr>
              <a:t>Dad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77824" y="4279392"/>
            <a:ext cx="2002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Vehicle records, repair manuals, diagnostics, project help.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3246120" y="3749040"/>
            <a:ext cx="2331720" cy="1097280"/>
          </a:xfrm>
          <a:prstGeom prst="roundRect">
            <a:avLst>
              <a:gd name="adj" fmla="val 13333"/>
            </a:avLst>
          </a:prstGeom>
          <a:solidFill>
            <a:srgbClr val="0D1324">
              <a:alpha val="96000"/>
            </a:srgbClr>
          </a:solidFill>
          <a:ln w="15240">
            <a:solidFill>
              <a:srgbClr val="68E8FF">
                <a:alpha val="6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10712" y="3895344"/>
            <a:ext cx="2002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8E8FF"/>
                </a:solidFill>
              </a:rPr>
              <a:t>Home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3410712" y="4279392"/>
            <a:ext cx="2002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Shared device control, schedules, support, local knowledge.</a:t>
            </a:r>
            <a:endParaRPr lang="en-US" sz="1320" dirty="0"/>
          </a:p>
        </p:txBody>
      </p:sp>
      <p:sp>
        <p:nvSpPr>
          <p:cNvPr id="18" name="Text 15"/>
          <p:cNvSpPr/>
          <p:nvPr/>
        </p:nvSpPr>
        <p:spPr>
          <a:xfrm>
            <a:off x="777240" y="5486400"/>
            <a:ext cx="5303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</a:rPr>
              <a:t>The household shares infrastructure. The people do not share one generic personality.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8DA5"/>
                </a:solidFill>
              </a:rPr>
              <a:t>Spruked Systems · Private Home ORB · Cable Provider Concept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201400" cy="0"/>
          </a:xfrm>
          <a:prstGeom prst="line">
            <a:avLst/>
          </a:prstGeom>
          <a:noFill/>
          <a:ln w="12700">
            <a:solidFill>
              <a:srgbClr val="1E4E68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4008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8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DURABLE ARCHITECTURE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93268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ORB travels with the person.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13232" y="1783080"/>
            <a:ext cx="57150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C8D3E0"/>
                </a:solidFill>
              </a:rPr>
              <a:t>The intelligence is not trapped in one surface. Desktop appliance, phone, earbud, browser, vehicle, and VR/metaverse are embodiment adapters around one local personal ORB.</a:t>
            </a:r>
            <a:endParaRPr lang="en-US" sz="1850" dirty="0"/>
          </a:p>
        </p:txBody>
      </p:sp>
      <p:pic>
        <p:nvPicPr>
          <p:cNvPr id="6" name="Image 0" descr="/mnt/data/orbframes/frame_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868680"/>
            <a:ext cx="1874520" cy="1874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3657600"/>
            <a:ext cx="1371600" cy="402336"/>
          </a:xfrm>
          <a:prstGeom prst="roundRect">
            <a:avLst>
              <a:gd name="adj" fmla="val 27273"/>
            </a:avLst>
          </a:prstGeom>
          <a:solidFill>
            <a:srgbClr val="68E8FF">
              <a:alpha val="95000"/>
            </a:srgbClr>
          </a:solidFill>
          <a:ln w="12700">
            <a:solidFill>
              <a:srgbClr val="68E8FF">
                <a:alpha val="7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3730752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Home Server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43200" y="3657600"/>
            <a:ext cx="1371600" cy="402336"/>
          </a:xfrm>
          <a:prstGeom prst="roundRect">
            <a:avLst>
              <a:gd name="adj" fmla="val 27273"/>
            </a:avLst>
          </a:prstGeom>
          <a:solidFill>
            <a:srgbClr val="1877F2">
              <a:alpha val="95000"/>
            </a:srgbClr>
          </a:solidFill>
          <a:ln w="12700">
            <a:solidFill>
              <a:srgbClr val="68E8FF">
                <a:alpha val="7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52928" y="3730752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Phone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0" y="3657600"/>
            <a:ext cx="1371600" cy="402336"/>
          </a:xfrm>
          <a:prstGeom prst="roundRect">
            <a:avLst>
              <a:gd name="adj" fmla="val 27273"/>
            </a:avLst>
          </a:prstGeom>
          <a:solidFill>
            <a:srgbClr val="67E8A5">
              <a:alpha val="95000"/>
            </a:srgbClr>
          </a:solidFill>
          <a:ln w="12700">
            <a:solidFill>
              <a:srgbClr val="68E8FF">
                <a:alpha val="7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81728" y="3730752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Earbud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0" y="3657600"/>
            <a:ext cx="1371600" cy="402336"/>
          </a:xfrm>
          <a:prstGeom prst="roundRect">
            <a:avLst>
              <a:gd name="adj" fmla="val 27273"/>
            </a:avLst>
          </a:prstGeom>
          <a:solidFill>
            <a:srgbClr val="F3C86E">
              <a:alpha val="95000"/>
            </a:srgbClr>
          </a:solidFill>
          <a:ln w="12700">
            <a:solidFill>
              <a:srgbClr val="68E8FF">
                <a:alpha val="7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10528" y="3730752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Vehicle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229600" y="3657600"/>
            <a:ext cx="1371600" cy="402336"/>
          </a:xfrm>
          <a:prstGeom prst="roundRect">
            <a:avLst>
              <a:gd name="adj" fmla="val 27273"/>
            </a:avLst>
          </a:prstGeom>
          <a:solidFill>
            <a:srgbClr val="B68CFF">
              <a:alpha val="95000"/>
            </a:srgbClr>
          </a:solidFill>
          <a:ln w="12700">
            <a:solidFill>
              <a:srgbClr val="68E8FF">
                <a:alpha val="7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39328" y="3730752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VR / Horizon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10058400" y="3657600"/>
            <a:ext cx="1371600" cy="402336"/>
          </a:xfrm>
          <a:prstGeom prst="roundRect">
            <a:avLst>
              <a:gd name="adj" fmla="val 27273"/>
            </a:avLst>
          </a:prstGeom>
          <a:solidFill>
            <a:srgbClr val="BD1F2D">
              <a:alpha val="95000"/>
            </a:srgbClr>
          </a:solidFill>
          <a:ln w="12700">
            <a:solidFill>
              <a:srgbClr val="68E8FF">
                <a:alpha val="7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168128" y="3730752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Website ORB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001000" y="4800600"/>
            <a:ext cx="3246120" cy="1097280"/>
          </a:xfrm>
          <a:prstGeom prst="roundRect">
            <a:avLst>
              <a:gd name="adj" fmla="val 13333"/>
            </a:avLst>
          </a:prstGeom>
          <a:solidFill>
            <a:srgbClr val="0D1324">
              <a:alpha val="96000"/>
            </a:srgbClr>
          </a:solidFill>
          <a:ln w="15240">
            <a:solidFill>
              <a:srgbClr val="68E8FF">
                <a:alpha val="6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65592" y="4946904"/>
            <a:ext cx="2916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8E8FF"/>
                </a:solidFill>
              </a:rPr>
              <a:t>Design rule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8165592" y="5330952"/>
            <a:ext cx="2916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Platforms provide worlds and interfaces. They do not own the companion.</a:t>
            </a:r>
            <a:endParaRPr lang="en-US" sz="1320" dirty="0"/>
          </a:p>
        </p:txBody>
      </p:sp>
      <p:sp>
        <p:nvSpPr>
          <p:cNvPr id="22" name="Text 19"/>
          <p:cNvSpPr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8DA5"/>
                </a:solidFill>
              </a:rPr>
              <a:t>Spruked Systems · Private Home ORB · Cable Provider Concept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201400" cy="0"/>
          </a:xfrm>
          <a:prstGeom prst="line">
            <a:avLst/>
          </a:prstGeom>
          <a:noFill/>
          <a:ln w="12700">
            <a:solidFill>
              <a:srgbClr val="1E4E68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4008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8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CABLE CAN WIN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00584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Privacy becomes the product category.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713232" y="1810512"/>
            <a:ext cx="562356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C8D3E0"/>
                </a:solidFill>
              </a:rPr>
              <a:t>Most AI assistants teach customers to send home life into distant platforms. Cable can sell the opposite: private local autonomy, installed and supported by the home-network provider.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6675120" y="1078992"/>
            <a:ext cx="2286000" cy="1207008"/>
          </a:xfrm>
          <a:prstGeom prst="roundRect">
            <a:avLst>
              <a:gd name="adj" fmla="val 12121"/>
            </a:avLst>
          </a:prstGeom>
          <a:solidFill>
            <a:srgbClr val="0D1324">
              <a:alpha val="96000"/>
            </a:srgbClr>
          </a:solidFill>
          <a:ln w="15240">
            <a:solidFill>
              <a:srgbClr val="68E8FF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39712" y="1225296"/>
            <a:ext cx="1956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8E8FF"/>
                </a:solidFill>
              </a:rPr>
              <a:t>Local inference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39712" y="1609344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Everyday assistance runs on the home appliance.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9189720" y="1078992"/>
            <a:ext cx="2286000" cy="1207008"/>
          </a:xfrm>
          <a:prstGeom prst="roundRect">
            <a:avLst>
              <a:gd name="adj" fmla="val 12121"/>
            </a:avLst>
          </a:prstGeom>
          <a:solidFill>
            <a:srgbClr val="0D1324">
              <a:alpha val="96000"/>
            </a:srgbClr>
          </a:solidFill>
          <a:ln w="15240">
            <a:solidFill>
              <a:srgbClr val="68E8FF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54312" y="1225296"/>
            <a:ext cx="1956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8E8FF"/>
                </a:solidFill>
              </a:rPr>
              <a:t>Local memory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354312" y="1609344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Family knowledge stays inside the household vault.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6675120" y="2578608"/>
            <a:ext cx="2286000" cy="1207008"/>
          </a:xfrm>
          <a:prstGeom prst="roundRect">
            <a:avLst>
              <a:gd name="adj" fmla="val 12121"/>
            </a:avLst>
          </a:prstGeom>
          <a:solidFill>
            <a:srgbClr val="0D1324">
              <a:alpha val="96000"/>
            </a:srgbClr>
          </a:solidFill>
          <a:ln w="15240">
            <a:solidFill>
              <a:srgbClr val="68E8FF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39712" y="2724912"/>
            <a:ext cx="1956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8E8FF"/>
                </a:solidFill>
              </a:rPr>
              <a:t>Separate personas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839712" y="3108960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Each family member gets a distinct ORB.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9189720" y="2578608"/>
            <a:ext cx="2286000" cy="1207008"/>
          </a:xfrm>
          <a:prstGeom prst="roundRect">
            <a:avLst>
              <a:gd name="adj" fmla="val 12121"/>
            </a:avLst>
          </a:prstGeom>
          <a:solidFill>
            <a:srgbClr val="0D1324">
              <a:alpha val="96000"/>
            </a:srgbClr>
          </a:solidFill>
          <a:ln w="15240">
            <a:solidFill>
              <a:srgbClr val="68E8FF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54312" y="2724912"/>
            <a:ext cx="1956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8E8FF"/>
                </a:solidFill>
              </a:rPr>
              <a:t>Provider service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354312" y="3108960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Installation, updates, support, replacement logistics.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6675120" y="4096512"/>
            <a:ext cx="4800600" cy="1051560"/>
          </a:xfrm>
          <a:prstGeom prst="roundRect">
            <a:avLst>
              <a:gd name="adj" fmla="val 13913"/>
            </a:avLst>
          </a:prstGeom>
          <a:solidFill>
            <a:srgbClr val="0D1324">
              <a:alpha val="96000"/>
            </a:srgbClr>
          </a:solidFill>
          <a:ln w="15240">
            <a:solidFill>
              <a:srgbClr val="68E8FF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9712" y="4242816"/>
            <a:ext cx="4471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8E8FF"/>
                </a:solidFill>
              </a:rPr>
              <a:t>Strategic wedge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839712" y="4626864"/>
            <a:ext cx="44714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Start with local household assistance; expand into service diagnostics, managed Wi‑Fi support, senior care, family learning, and small-business add-ons.</a:t>
            </a:r>
            <a:endParaRPr lang="en-US" sz="1320" dirty="0"/>
          </a:p>
        </p:txBody>
      </p:sp>
      <p:pic>
        <p:nvPicPr>
          <p:cNvPr id="21" name="Image 0" descr="/mnt/data/orbframes/frame_00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4901184"/>
            <a:ext cx="1143000" cy="11430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 rot="1080000">
            <a:off x="768096" y="4846320"/>
            <a:ext cx="1252728" cy="1252728"/>
          </a:xfrm>
          <a:prstGeom prst="arc">
            <a:avLst/>
          </a:prstGeom>
          <a:noFill/>
          <a:ln w="13970">
            <a:solidFill>
              <a:srgbClr val="68E8FF">
                <a:alpha val="5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8DA5"/>
                </a:solidFill>
              </a:rPr>
              <a:t>Spruked Systems · Private Home ORB · Cable Provider Concept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201400" cy="0"/>
          </a:xfrm>
          <a:prstGeom prst="line">
            <a:avLst/>
          </a:prstGeom>
          <a:noFill/>
          <a:ln w="12700">
            <a:solidFill>
              <a:srgbClr val="1E4E68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4008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8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STRUCTURE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 a limited, measurable home-ORB pilot.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13232" y="1847088"/>
            <a:ext cx="621792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C8D3E0"/>
                </a:solidFill>
              </a:rPr>
              <a:t>The ask is not a national rollout. It is a controlled field trial with one regional operator, a small number of homes, and proof gates before scale.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2148840" cy="1207008"/>
          </a:xfrm>
          <a:prstGeom prst="roundRect">
            <a:avLst>
              <a:gd name="adj" fmla="val 12121"/>
            </a:avLst>
          </a:prstGeom>
          <a:solidFill>
            <a:srgbClr val="0D1324">
              <a:alpha val="96000"/>
            </a:srgbClr>
          </a:solidFill>
          <a:ln w="15240">
            <a:solidFill>
              <a:srgbClr val="68E8FF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3026664"/>
            <a:ext cx="1819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8E8FF"/>
                </a:solidFill>
              </a:rPr>
              <a:t>Phase 1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3410712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Demo package + technical review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2–4 weeks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3127248" y="2880360"/>
            <a:ext cx="2148840" cy="1207008"/>
          </a:xfrm>
          <a:prstGeom prst="roundRect">
            <a:avLst>
              <a:gd name="adj" fmla="val 12121"/>
            </a:avLst>
          </a:prstGeom>
          <a:solidFill>
            <a:srgbClr val="0D1324">
              <a:alpha val="96000"/>
            </a:srgbClr>
          </a:solidFill>
          <a:ln w="15240">
            <a:solidFill>
              <a:srgbClr val="68E8FF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3026664"/>
            <a:ext cx="1819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8E8FF"/>
                </a:solidFill>
              </a:rPr>
              <a:t>Phase 2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291840" y="3410712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10–25 internal/staff homes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60 days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5522976" y="2880360"/>
            <a:ext cx="2148840" cy="1207008"/>
          </a:xfrm>
          <a:prstGeom prst="roundRect">
            <a:avLst>
              <a:gd name="adj" fmla="val 12121"/>
            </a:avLst>
          </a:prstGeom>
          <a:solidFill>
            <a:srgbClr val="0D1324">
              <a:alpha val="96000"/>
            </a:srgbClr>
          </a:solidFill>
          <a:ln w="15240">
            <a:solidFill>
              <a:srgbClr val="68E8FF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87568" y="3026664"/>
            <a:ext cx="1819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8E8FF"/>
                </a:solidFill>
              </a:rPr>
              <a:t>Phase 3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687568" y="3410712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100 customer homes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measured beta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7918704" y="2880360"/>
            <a:ext cx="2148840" cy="1207008"/>
          </a:xfrm>
          <a:prstGeom prst="roundRect">
            <a:avLst>
              <a:gd name="adj" fmla="val 12121"/>
            </a:avLst>
          </a:prstGeom>
          <a:solidFill>
            <a:srgbClr val="0D1324">
              <a:alpha val="96000"/>
            </a:srgbClr>
          </a:solidFill>
          <a:ln w="15240">
            <a:solidFill>
              <a:srgbClr val="68E8FF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83296" y="3026664"/>
            <a:ext cx="1819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8E8FF"/>
                </a:solidFill>
              </a:rPr>
              <a:t>Phase 4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083296" y="3410712"/>
            <a:ext cx="1819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Regional launch packaging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service tier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914400" y="4663440"/>
            <a:ext cx="3291840" cy="914400"/>
          </a:xfrm>
          <a:prstGeom prst="roundRect">
            <a:avLst>
              <a:gd name="adj" fmla="val 16000"/>
            </a:avLst>
          </a:prstGeom>
          <a:solidFill>
            <a:srgbClr val="0D1324">
              <a:alpha val="96000"/>
            </a:srgbClr>
          </a:solidFill>
          <a:ln w="15240">
            <a:solidFill>
              <a:srgbClr val="68E8FF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4809744"/>
            <a:ext cx="2962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8E8FF"/>
                </a:solidFill>
              </a:rPr>
              <a:t>Success metrics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078992" y="519379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Activation, retention signal, support load, household usage, service attach, owner trust.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4434840" y="4663440"/>
            <a:ext cx="3291840" cy="914400"/>
          </a:xfrm>
          <a:prstGeom prst="roundRect">
            <a:avLst>
              <a:gd name="adj" fmla="val 16000"/>
            </a:avLst>
          </a:prstGeom>
          <a:solidFill>
            <a:srgbClr val="0D1324">
              <a:alpha val="96000"/>
            </a:srgbClr>
          </a:solidFill>
          <a:ln w="15240">
            <a:solidFill>
              <a:srgbClr val="68E8FF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9432" y="4809744"/>
            <a:ext cx="2962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8E8FF"/>
                </a:solidFill>
              </a:rPr>
              <a:t>Provider economics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99432" y="519379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Hardware margin, monthly service add-on, support differentiation, churn reduction hypothesis.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7955280" y="4663440"/>
            <a:ext cx="2880360" cy="914400"/>
          </a:xfrm>
          <a:prstGeom prst="roundRect">
            <a:avLst>
              <a:gd name="adj" fmla="val 16000"/>
            </a:avLst>
          </a:prstGeom>
          <a:solidFill>
            <a:srgbClr val="0D1324">
              <a:alpha val="96000"/>
            </a:srgbClr>
          </a:solidFill>
          <a:ln w="15240">
            <a:solidFill>
              <a:srgbClr val="68E8FF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9872" y="4809744"/>
            <a:ext cx="2551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8E8FF"/>
                </a:solidFill>
              </a:rPr>
              <a:t>Risk control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119872" y="5193792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Local-only design; clear data boundary; no blind cloud dependency.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8DA5"/>
                </a:solidFill>
              </a:rPr>
              <a:t>Spruked Systems · Private Home ORB · Cable Provider Concept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201400" cy="0"/>
          </a:xfrm>
          <a:prstGeom prst="line">
            <a:avLst/>
          </a:prstGeom>
          <a:noFill/>
          <a:ln w="12700">
            <a:solidFill>
              <a:srgbClr val="1E4E68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4008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8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OUTREACH TARGET LOGIC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hungry regional operators.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13232" y="1755648"/>
            <a:ext cx="54864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C8D3E0"/>
                </a:solidFill>
              </a:rPr>
              <a:t>Exclude the biggest incumbents for first contact. The next tier is more likely to evaluate a field pilot.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635240" y="868680"/>
            <a:ext cx="3337560" cy="1078992"/>
          </a:xfrm>
          <a:prstGeom prst="roundRect">
            <a:avLst>
              <a:gd name="adj" fmla="val 13559"/>
            </a:avLst>
          </a:prstGeom>
          <a:solidFill>
            <a:srgbClr val="0D1324">
              <a:alpha val="96000"/>
            </a:srgbClr>
          </a:solidFill>
          <a:ln w="15240">
            <a:solidFill>
              <a:srgbClr val="68E8FF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99832" y="1014984"/>
            <a:ext cx="30083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8E8FF"/>
                </a:solidFill>
              </a:rPr>
              <a:t>Throw out first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99832" y="1399032"/>
            <a:ext cx="3008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Comcast/Xfinity, Charter/Spectrum, Cox, Altice/Optimum, Mediacom.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804672" y="264261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8E8FF"/>
                </a:solidFill>
              </a:rPr>
              <a:t>Provider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82112" y="2642616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8E8FF"/>
                </a:solidFill>
              </a:rPr>
              <a:t>Why target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022592" y="2642616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8E8FF"/>
                </a:solidFill>
              </a:rPr>
              <a:t>Public outreach route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4672" y="2880360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Cable One / Sparklight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3182112" y="2880360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8D3E0"/>
                </a:solidFill>
              </a:rPr>
              <a:t>Phoenix-based; &gt;1M customers across 24 states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7022592" y="2880360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8D3E0"/>
                </a:solidFill>
              </a:rPr>
              <a:t>investor_relations@cableone.biz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804672" y="3410712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Breezeline / Cogeco US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3182112" y="3410712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8D3E0"/>
                </a:solidFill>
              </a:rPr>
              <a:t>Top-10 / eighth-largest cable operator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7022592" y="3410712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8D3E0"/>
                </a:solidFill>
              </a:rPr>
              <a:t>awalton@breezeline.com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804672" y="3941064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Astound Broadband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3182112" y="3941064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8D3E0"/>
                </a:solidFill>
              </a:rPr>
              <a:t>Regional brands; reported sixth-largest operator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7022592" y="3941064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8D3E0"/>
                </a:solidFill>
              </a:rPr>
              <a:t>zcushman@matternow.com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804672" y="4471416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WOW!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3182112" y="447141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8D3E0"/>
                </a:solidFill>
              </a:rPr>
              <a:t>Midwest/Southeast broadband operator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7022592" y="447141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8D3E0"/>
                </a:solidFill>
              </a:rPr>
              <a:t>debra.havins@wowinc.com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804672" y="5001768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Midco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3182112" y="5001768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8D3E0"/>
                </a:solidFill>
              </a:rPr>
              <a:t>Regional provider; 1.2M homes/businesses passed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7022592" y="5001768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8D3E0"/>
                </a:solidFill>
              </a:rPr>
              <a:t>Paige.Pearson@Midco.com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594360" y="623620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73849A"/>
                </a:solidFill>
              </a:rPr>
              <a:t>Contact routes are public business/media/IR contacts; verify deliverability before outreach.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201400" cy="0"/>
          </a:xfrm>
          <a:prstGeom prst="line">
            <a:avLst/>
          </a:prstGeom>
          <a:noFill/>
          <a:ln w="12700">
            <a:solidFill>
              <a:srgbClr val="1E4E68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4008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8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COLD EMAIL POSITION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93268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Subject: A private local AI appliance for cable homes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5166360" cy="3337560"/>
          </a:xfrm>
          <a:prstGeom prst="roundRect">
            <a:avLst>
              <a:gd name="adj" fmla="val 4384"/>
            </a:avLst>
          </a:prstGeom>
          <a:solidFill>
            <a:srgbClr val="0D1324">
              <a:alpha val="96000"/>
            </a:srgbClr>
          </a:solidFill>
          <a:ln w="15240">
            <a:solidFill>
              <a:srgbClr val="68E8FF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020824"/>
            <a:ext cx="4837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8E8FF"/>
                </a:solidFill>
              </a:rPr>
              <a:t>Email spine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41832" y="2404872"/>
            <a:ext cx="4837176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Cable companies already have the home-network relationship, field technicians, equipment logistics, and customer billing.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Spruked Systems is developing a local-only household AI appliance that gives each family member a private ORB/persona without depending on FAANG cloud AI.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I would like to show a short demo and discuss a limited field pilot: staff homes first, then a controlled regional beta.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6446520" y="1874520"/>
            <a:ext cx="4343400" cy="3337560"/>
          </a:xfrm>
          <a:prstGeom prst="roundRect">
            <a:avLst>
              <a:gd name="adj" fmla="val 4384"/>
            </a:avLst>
          </a:prstGeom>
          <a:solidFill>
            <a:srgbClr val="0D1324">
              <a:alpha val="96000"/>
            </a:srgbClr>
          </a:solidFill>
          <a:ln w="15240">
            <a:solidFill>
              <a:srgbClr val="68E8FF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2020824"/>
            <a:ext cx="40142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8E8FF"/>
                </a:solidFill>
              </a:rPr>
              <a:t>Meeting ask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611112" y="2404872"/>
            <a:ext cx="4014216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Request a 20-minute technical/business review with innovation, product, broadband services, or CPE/home-network leadership.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Bring: demo deck, 1-page brief, device economics hypothesis, privacy/local-only claims boundary, and pilot plan.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8DA5"/>
                </a:solidFill>
              </a:rPr>
              <a:t>Spruked Systems · Private Home ORB · Cable Provider Concept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201400" cy="0"/>
          </a:xfrm>
          <a:prstGeom prst="line">
            <a:avLst/>
          </a:prstGeom>
          <a:noFill/>
          <a:ln w="12700">
            <a:solidFill>
              <a:srgbClr val="1E4E68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4008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8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DISCIPLINE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Boundary: concept pitch, not a rollout claim.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13232" y="1709928"/>
            <a:ext cx="640080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8D3E0"/>
                </a:solidFill>
              </a:rPr>
              <a:t>This deck intentionally pitches a field-pilot opportunity. It does not claim finished cable integration, universal compatibility, approved regulatory posture, final hardware BOM, or signed provider demand.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2743200"/>
            <a:ext cx="3291840" cy="1097280"/>
          </a:xfrm>
          <a:prstGeom prst="roundRect">
            <a:avLst>
              <a:gd name="adj" fmla="val 13333"/>
            </a:avLst>
          </a:prstGeom>
          <a:solidFill>
            <a:srgbClr val="0D1324">
              <a:alpha val="96000"/>
            </a:srgbClr>
          </a:solidFill>
          <a:ln w="15240">
            <a:solidFill>
              <a:srgbClr val="68E8FF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889504"/>
            <a:ext cx="2962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8E8FF"/>
                </a:solidFill>
              </a:rPr>
              <a:t>Use as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41832" y="3273552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Opening deck for cable innovation/product/business development.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434840" y="2743200"/>
            <a:ext cx="3291840" cy="1097280"/>
          </a:xfrm>
          <a:prstGeom prst="roundRect">
            <a:avLst>
              <a:gd name="adj" fmla="val 13333"/>
            </a:avLst>
          </a:prstGeom>
          <a:solidFill>
            <a:srgbClr val="0D1324">
              <a:alpha val="96000"/>
            </a:srgbClr>
          </a:solidFill>
          <a:ln w="15240">
            <a:solidFill>
              <a:srgbClr val="68E8FF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2889504"/>
            <a:ext cx="2962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8E8FF"/>
                </a:solidFill>
              </a:rPr>
              <a:t>Do not use as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99432" y="3273552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Final commercial contract, regulatory brief, or hardware certification claim.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8092440" y="2743200"/>
            <a:ext cx="2926080" cy="1097280"/>
          </a:xfrm>
          <a:prstGeom prst="roundRect">
            <a:avLst>
              <a:gd name="adj" fmla="val 13333"/>
            </a:avLst>
          </a:prstGeom>
          <a:solidFill>
            <a:srgbClr val="0D1324">
              <a:alpha val="96000"/>
            </a:srgbClr>
          </a:solidFill>
          <a:ln w="15240">
            <a:solidFill>
              <a:srgbClr val="68E8FF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7032" y="2889504"/>
            <a:ext cx="2596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8E8FF"/>
                </a:solidFill>
              </a:rPr>
              <a:t>Next artifact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57032" y="3273552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C8D3E0"/>
                </a:solidFill>
              </a:rPr>
              <a:t>One-page executive memo + pilot economics worksheet.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777240" y="46177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8EA1B6"/>
                </a:solidFill>
              </a:rPr>
              <a:t>Core sources: Leichtman/Benton broadband provider summaries; Reuters Charter/Cox acquisition coverage; Cable One IR profile; Breezeline corporate/press pages; Astound Business/PR; WOW!/DigitalBridge release; Midco press/contact pages; Spruked ORB metaverse/vessel concept.</a:t>
            </a:r>
            <a:endParaRPr lang="en-US" sz="1150" dirty="0"/>
          </a:p>
        </p:txBody>
      </p:sp>
      <p:pic>
        <p:nvPicPr>
          <p:cNvPr id="16" name="Image 0" descr="/mnt/data/orbframes/frame_00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87000" y="5230368"/>
            <a:ext cx="822960" cy="82296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 rot="1080000">
            <a:off x="10232136" y="5175504"/>
            <a:ext cx="932688" cy="932688"/>
          </a:xfrm>
          <a:prstGeom prst="arc">
            <a:avLst/>
          </a:prstGeom>
          <a:noFill/>
          <a:ln w="13970">
            <a:solidFill>
              <a:srgbClr val="68E8FF">
                <a:alpha val="5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6492240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8DA5"/>
                </a:solidFill>
              </a:rPr>
              <a:t>Source-backed where market/contact facts are used; all product future-state claims are framed as pilot/proposal.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Spruked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Private Home ORB for Cable Providers</dc:title>
  <dc:subject>Private local household AI infrastructure pitch for cable providers</dc:subject>
  <dc:creator>Spruked Systems</dc:creator>
  <cp:lastModifiedBy>Spruked Systems</cp:lastModifiedBy>
  <cp:revision>1</cp:revision>
  <dcterms:created xsi:type="dcterms:W3CDTF">2026-09-09T04:50:15Z</dcterms:created>
  <dcterms:modified xsi:type="dcterms:W3CDTF">2026-09-09T04:50:15Z</dcterms:modified>
</cp:coreProperties>
</file>